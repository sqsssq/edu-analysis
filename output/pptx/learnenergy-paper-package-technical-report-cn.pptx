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_rels/notesSlide3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6.xml"/>
</Relationships>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7.xml"/>
</Relationships>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8.xml"/>
</Relationships>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9.xml"/>
</Relationships>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0.xml"/>
</Relationships>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1.xml"/>
</Relationships>
</file>

<file path=ppt/notesSlides/_rels/notesSlide4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2.xml"/>
</Relationships>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本报告把论文理论、复现实验和软件实现放在同一条技术链中。页面采用固定的概念与代码配对，便于非本专业听众在理解公式后立刻看到计算如何落地。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内容按五个层次推进：理论基础、论文训练协议、验证证据、结构诊断和工程边界。除封面与结论外，每个概念或证据页后都安排一页真实代码。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本页说明“研究问题与方法定位”的定义、作用和解释边界。核心结论将在下一页由对应代码落地，避免把理论说明与工程实现割裂；涉及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本页说明“能量景观与状态评分”的定义、作用和解释边界。核心结论将在下一页由对应代码落地，避免把理论说明与工程实现割裂；涉及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本页说明“Pairwise Hopfield 能量函数”的定义、作用和解释边界。核心结论将在下一页由对应代码落地，避免把理论说明与工程实现割裂；涉及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本页说明“最大熵原则”的定义、作用和解释边界。核心结论将在下一页由对应代码落地，避免把理论说明与工程实现割裂；涉及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本页说明“自由能与 Boltzmann 联合分布”的定义、作用和解释边界。核心结论将在下一页由对应代码落地，避免把理论说明与工程实现割裂；涉及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本页说明“温度与临界响应”的定义、作用和解释边界。核心结论将在下一页由对应代码落地，避免把理论说明与工程实现割裂；涉及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本页说明“PISA 2018 trial model 范围”的定义、作用和解释边界。核心结论将在下一页由对应代码落地，避免把理论说明与工程实现割裂；涉及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本页说明“19 节点与 190 个参数”的定义、作用和解释边界。核心结论将在下一页由对应代码落地，避免把理论说明与工程实现割裂；涉及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本页说明“标准化、二值化与缺失处理”的定义、作用和解释边界。核心结论将在下一页由对应代码落地，避免把理论说明与工程实现割裂；涉及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本页说明“KL 散度与 moment-gap 梯度”的定义、作用和解释边界。核心结论将在下一页由对应代码落地，避免把理论说明与工程实现割裂；涉及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本页说明“15 个概念模型与 240 次训练”的定义、作用和解释边界。核心结论将在下一页由对应代码落地，避免把理论说明与工程实现割裂；涉及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本页说明“一阶与二阶 moments 验证”的定义、作用和解释边界。核心结论将在下一页由对应代码落地，避免把理论说明与工程实现割裂；涉及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本页说明“三阶与四阶 moments 外部检验”的定义、作用和解释边界。核心结论将在下一页由对应代码落地，避免把理论说明与工程实现割裂；涉及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本页说明“J 分布的长尾结构”的定义、作用和解释边界。核心结论将在下一页由对应代码落地，避免把理论说明与工程实现割裂；涉及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本页说明“Effective interaction 定义”的定义、作用和解释边界。核心结论将在下一页由对应代码落地，避免把理论说明与工程实现割裂；涉及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本页说明“五地区 effective interaction 证据”的定义、作用和解释边界。核心结论将在下一页由对应代码落地，避免把理论说明与工程实现割裂；涉及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本页说明“临界状态的温度响应证据”的定义、作用和解释边界。核心结论将在下一页由对应代码落地，避免把理论说明与工程实现割裂；涉及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本页说明“论文结果与复现结果对照”的定义、作用和解释边界。核心结论将在下一页由对应代码落地，避免把理论说明与工程实现割裂；涉及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本页说明“Artifact 与 diagnostics 契约”的定义、作用和解释边界。核心结论将在下一页由对应代码落地，避免把理论说明与工程实现割裂；涉及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本页说明“二值论文模型与连续扩展边界”的定义、作用和解释边界。核心结论将在下一页由对应代码落地，避免把理论说明与工程实现割裂；涉及 interaction 的内容只解释为模型内统计结构。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这一页把前一页内容映射到项目中的真实实现。请区分右上角标注的公开 API、内部实现或复现脚本；公开 API 供使用者调用，内部实现用于解释计算细节，diagnostics 和 artifact 用于审计。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整套方法可以沿公式、实现、证据和边界四个层次检查。论文模型、我们的复现和连续扩展保持分离，因此既能复现研究，也能让其他人用同一软件契约训练自己的模型。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arnenergy-foundations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arnenergy-foundations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 lang="zh-CN">
          <a:solidFill>
            <a:schemeClr val="tx1"/>
          </a:solidFill>
          <a:latin typeface="+mj-lt"/>
          <a:ea typeface="Arial Unicode MS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4572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914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371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18288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2860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7432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7fdc8132b94b13.png"/>
  <Relationship Id="rId3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8d3421f2a4ad2f7.png"/>
  <Relationship Id="rId3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0.xml"/>
</Relationships>
</file>

<file path=ppt/slides/_rels/slide3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1.xml"/>
</Relationships>
</file>

<file path=ppt/slides/_rels/slide3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2.xml"/>
</Relationships>
</file>

<file path=ppt/slides/_rels/slide3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9e9109d43d37be5.png"/>
  <Relationship Id="rId3" Type="http://schemas.openxmlformats.org/officeDocument/2006/relationships/notesSlide" Target="../notesSlides/notesSlide33.xml"/>
</Relationships>
</file>

<file path=ppt/slides/_rels/slide3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4.xml"/>
</Relationships>
</file>

<file path=ppt/slides/_rels/slide3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025ac01a04d5fe6.png"/>
  <Relationship Id="rId3" Type="http://schemas.openxmlformats.org/officeDocument/2006/relationships/notesSlide" Target="../notesSlides/notesSlide35.xml"/>
</Relationships>
</file>

<file path=ppt/slides/_rels/slide3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6.xml"/>
</Relationships>
</file>

<file path=ppt/slides/_rels/slide3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7.xml"/>
</Relationships>
</file>

<file path=ppt/slides/_rels/slide3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8.xml"/>
</Relationships>
</file>

<file path=ppt/slides/_rels/slide3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9.xml"/>
</Relationships>
</file>

<file path=ppt/slides/_rels/slide4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0.xml"/>
</Relationships>
</file>

<file path=ppt/slides/_rels/slide4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1.xml"/>
</Relationships>
</file>

<file path=ppt/slides/_rels/slide4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2.xml"/>
</Relationships>
</file>

<file path=ppt/slides/_rels/slide4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p01-cover"/>
          <p:cNvGrpSpPr/>
          <p:nvPr/>
        </p:nvGrpSpPr>
        <p:grpSpPr>
          <a:xfrm>
            <a:off x="590550" y="888206"/>
            <a:ext cx="10991850" cy="4217194"/>
            <a:chOff x="590550" y="888206"/>
            <a:chExt cx="10991850" cy="421719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888206"/>
              <a:ext cx="2369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TECHNICAL REPORT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277302"/>
              <a:ext cx="525746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A Neural Network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886902"/>
              <a:ext cx="568990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Model for Learning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0075" y="2674144"/>
              <a:ext cx="317907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理论、复现与 Package 实现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323850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1218" y="361283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每个概念之后，立即查看对应代码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3123" y="4034314"/>
              <a:ext cx="38491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CONCEPT → IMPLEMENTATION → EVIDENCE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267700" y="1104900"/>
              <a:ext cx="33147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50" y="1214438"/>
              <a:ext cx="1018807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chemeClr val="accent1"/>
                  </a:solidFill>
                  <a:latin typeface="Arial"/>
                  <a:ea typeface="Arial"/>
                  <a:cs typeface="Arial"/>
                </a:rPr>
                <a:t>E(s)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29650" y="1957388"/>
              <a:ext cx="963444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chemeClr val="accent2"/>
                  </a:solidFill>
                  <a:latin typeface="Arial"/>
                  <a:ea typeface="Arial"/>
                  <a:cs typeface="Arial"/>
                </a:rPr>
                <a:t>p(s)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33460" y="2781300"/>
              <a:ext cx="124609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fit()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35746" y="3515678"/>
              <a:ext cx="16791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345995"/>
                  </a:solidFill>
                  <a:latin typeface="Consolas"/>
                  <a:ea typeface="Consolas"/>
                  <a:cs typeface="Consolas"/>
                </a:rPr>
                <a:t>validate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37270" y="4252912"/>
              <a:ext cx="16639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save(.pt)</a:t>
              </a:r>
            </a:p>
          </p:txBody>
        </p:sp>
      </p:grpSp>
      <p:grpSp>
        <p:nvGrpSpPr>
          <p:cNvPr id="19" name="p01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16" name="Line 16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838" y="6322695"/>
              <a:ext cx="17420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论文模型 → 真实代码 → 复现证据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01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2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78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STRUCTURE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24612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技术覆盖顺序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31" name="p02-map"/>
          <p:cNvGrpSpPr/>
          <p:nvPr/>
        </p:nvGrpSpPr>
        <p:grpSpPr>
          <a:xfrm>
            <a:off x="710946" y="1612582"/>
            <a:ext cx="10457165" cy="3944875"/>
            <a:chOff x="710946" y="1612582"/>
            <a:chExt cx="10457165" cy="3944875"/>
          </a:xfrm>
        </p:grpSpPr>
        <p:sp>
          <p:nvSpPr>
            <p:cNvPr id="6" name="TextBox 6"/>
            <p:cNvSpPr txBox="1"/>
            <p:nvPr/>
          </p:nvSpPr>
          <p:spPr>
            <a:xfrm>
              <a:off x="710946" y="17059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01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352550" y="18478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887218" y="1612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理论基础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89504" y="1946910"/>
              <a:ext cx="24118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Energy · Entropy · Probability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81285" y="1821656"/>
              <a:ext cx="886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Consolas"/>
                  <a:ea typeface="Arial Unicode MS"/>
                  <a:cs typeface="Consolas"/>
                </a:rPr>
                <a:t>概念 → 代码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0946" y="25441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02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352550" y="26860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87218" y="2450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论文训练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89504" y="2785110"/>
              <a:ext cx="1861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PISA · Binarization · KL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81285" y="2659856"/>
              <a:ext cx="886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Consolas"/>
                  <a:ea typeface="Arial Unicode MS"/>
                  <a:cs typeface="Consolas"/>
                </a:rPr>
                <a:t>概念 → 代码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946" y="33823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03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352550" y="35242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87218" y="3288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验证证据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89504" y="3623310"/>
              <a:ext cx="1977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Moments · J distribution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81285" y="3498056"/>
              <a:ext cx="886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Consolas"/>
                  <a:ea typeface="Arial Unicode MS"/>
                  <a:cs typeface="Consolas"/>
                </a:rPr>
                <a:t>概念 → 代码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0946" y="42205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04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352550" y="43624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87218" y="4127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结构诊断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9504" y="4461510"/>
              <a:ext cx="27279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Effective interaction · Criticality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81285" y="4336256"/>
              <a:ext cx="886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Consolas"/>
                  <a:ea typeface="Arial Unicode MS"/>
                  <a:cs typeface="Consolas"/>
                </a:rPr>
                <a:t>概念 → 代码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0946" y="50587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05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352550" y="52006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887218" y="4965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工程边界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89504" y="5299710"/>
              <a:ext cx="2623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Artifacts · Continuous extension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81285" y="5174456"/>
              <a:ext cx="886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Consolas"/>
                  <a:ea typeface="Arial Unicode MS"/>
                  <a:cs typeface="Consolas"/>
                </a:rPr>
                <a:t>概念 → 代码</a:t>
              </a:r>
            </a:p>
          </p:txBody>
        </p:sp>
      </p:grpSp>
      <p:grpSp>
        <p:nvGrpSpPr>
          <p:cNvPr id="35" name="p02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32" name="Line 32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4838" y="6322695"/>
              <a:ext cx="2190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固定双页单元降低概念与实现之间的跳跃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02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3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2261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 · MODEL POSITIONING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研究问题与方法定位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03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1888245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 = (s₁, …, sₙ)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p(s₁, …, sₙ)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12623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公开 API 把数据契约、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模型、训练和保存连接起来。</a:t>
              </a:r>
            </a:p>
          </p:txBody>
        </p:sp>
      </p:grpSp>
      <p:grpSp>
        <p:nvGrpSpPr>
          <p:cNvPr id="20" name="p03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4140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目标是学习多变量的联合分布，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不是只预测一个 outcome。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559748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保留变量间依赖，并可计算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条件量、高阶 moments 与诊断。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288794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统计关系不自动等于因果关系；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模型结论依赖变量集合。</a:t>
              </a:r>
            </a:p>
          </p:txBody>
        </p:sp>
      </p:grpSp>
      <p:grpSp>
        <p:nvGrpSpPr>
          <p:cNvPr id="24" name="p03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03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4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390037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实现：公开 API 总览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04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944226" cy="2262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target_name="PV1MATH",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model.save("TAP-PV1MATH.pt")</a:t>
              </a:r>
            </a:p>
          </p:txBody>
        </p:sp>
      </p:grpSp>
      <p:grpSp>
        <p:nvGrpSpPr>
          <p:cNvPr id="19" name="p04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17800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X 与 y 共享样本顺序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DataConfig 固定变量语义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calculation 选择计算路径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9019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fit 结果与 diagnostics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结构分析结果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可重新加载的 .pt artifact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9619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公开 API；适合使用者直接调用。</a:t>
              </a:r>
            </a:p>
          </p:txBody>
        </p:sp>
      </p:grpSp>
      <p:grpSp>
        <p:nvGrpSpPr>
          <p:cNvPr id="23" name="p04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04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5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34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 · ENERGY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能量景观与状态评分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05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981722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E(s) ↓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⇒ p(s) ↑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180111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下一页直接查看状态矩阵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如何被 h 与 J 评分。</a:t>
              </a:r>
            </a:p>
          </p:txBody>
        </p:sp>
      </p:grpSp>
      <p:grpSp>
        <p:nvGrpSpPr>
          <p:cNvPr id="20" name="p05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1942528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每个 0/1 状态向量都对应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一个标量能量 E(s)。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0711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能量把大量离散状态排序，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再转成概率分布。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1801114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能量零点本身无意义；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关键是状态间相对差异。</a:t>
              </a:r>
            </a:p>
          </p:txBody>
        </p:sp>
      </p:grpSp>
      <p:grpSp>
        <p:nvGrpSpPr>
          <p:cNvPr id="24" name="p05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05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6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实现：状态能量计算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06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19728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Internal implementation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2258416" cy="1491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def _energies(self, states):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linear = states @ self.h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pairwise = 0.5 * 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(states @ self.J) * states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).sum(dim=1)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return linear + pairwise</a:t>
              </a:r>
            </a:p>
          </p:txBody>
        </p:sp>
      </p:grpSp>
      <p:grpSp>
        <p:nvGrpSpPr>
          <p:cNvPr id="19" name="p06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1991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states: [n_states, n_nodes]</a:t>
              </a:r>
              <a:br/>
              <a:r>
                <a:rPr lang="en-US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h: [n_nodes]</a:t>
              </a:r>
              <a:br/>
              <a:r>
                <a:rPr lang="en-US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J: [n_nodes, n_nodes]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70383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每个状态一个能量值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0.5 避免对称 J 重复计数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37896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内部实现；用户通常通过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fit/analyze 间接使用。</a:t>
              </a:r>
            </a:p>
          </p:txBody>
        </p:sp>
      </p:grpSp>
      <p:grpSp>
        <p:nvGrpSpPr>
          <p:cNvPr id="23" name="p06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06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7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2010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 · PAIRWISE MODEL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4091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Pairwise Hopfield 能量函数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07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1343634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E(s) = hᵀs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+ ½ sᵀJs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1662938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实现必须保持 J 对称，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并清除对角线自作用。</a:t>
              </a:r>
            </a:p>
          </p:txBody>
        </p:sp>
      </p:grpSp>
      <p:grpSp>
        <p:nvGrpSpPr>
          <p:cNvPr id="20" name="p07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01968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h 表示节点局部项；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J 表示成对 interaction。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33686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用 O(n²) 参数表达联合结构，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保持参数可检查。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101850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J 是模型耦合，不是现实中的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直接因果效应。</a:t>
              </a:r>
            </a:p>
          </p:txBody>
        </p:sp>
      </p:grpSp>
      <p:grpSp>
        <p:nvGrpSpPr>
          <p:cNvPr id="24" name="p07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07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8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0827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实现：参数结构与约束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08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19728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Internal implementation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382289" cy="17484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 = len(cfg.feature_names) + 1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 = model.h # shape: [n]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model.J # shape: [n, n]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0.5 * (J + J.T) # symmetric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J.fill_diagonal_(0.0) # no self-term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upper = torch.triu_indices(n, n, offset=1)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independent_J = J[upper[0], upper[1]]</a:t>
              </a:r>
            </a:p>
          </p:txBody>
        </p:sp>
      </p:grpSp>
      <p:grpSp>
        <p:nvGrpSpPr>
          <p:cNvPr id="19" name="p08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16657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n 个节点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J 的独立参数只在上三角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19 节点对应 171 个 J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8486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h: 19 个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J: 171 个独立 pairwise 项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总计 190 个参数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963928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这里展示参数语义；训练更新由 fit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管理。</a:t>
              </a:r>
            </a:p>
          </p:txBody>
        </p:sp>
      </p:grpSp>
      <p:grpSp>
        <p:nvGrpSpPr>
          <p:cNvPr id="23" name="p08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08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9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21669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 · MAXIMUM ENTROPY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205587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最大熵原则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09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3898692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l-GR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H(p) = −Σ p(s) log p(s)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max H(p) subject to moments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183130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离散小模型可枚举全部状态，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直接计算 p(s) 与 moments。</a:t>
              </a:r>
            </a:p>
          </p:txBody>
        </p:sp>
      </p:grpSp>
      <p:grpSp>
        <p:nvGrpSpPr>
          <p:cNvPr id="20" name="p09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508313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在满足已知一阶、二阶 moments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的分布中选择熵最大的分布。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2425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只编码数据明确约束的结构，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避免额外假设。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126234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最大熵不保证模型完全正确；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它仍受 moments 选择限制。</a:t>
              </a:r>
            </a:p>
          </p:txBody>
        </p:sp>
      </p:grpSp>
      <p:grpSp>
        <p:nvGrpSpPr>
          <p:cNvPr id="24" name="p09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09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10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601951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实现：精确枚举与模型 moments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10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19728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Internal implementation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302013" cy="17484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states = model._enumerate_states(n_nodes)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energies = model._energies(states)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probs = torch.softmax(-energies, dim=0)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means = probs @ states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pairwise = torch.einsum(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"s,si,sj-&gt;ij", probs, states, states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9" name="p10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18181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exact 路径枚举 2ⁿ 个状态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19 节点约 524,288 个状态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softmax(-E) 自动归一化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22448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模型一阶 moments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模型二阶 moments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精确的 partition normalization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817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规模增大时 2ⁿ 成本迅速上升。</a:t>
              </a:r>
            </a:p>
          </p:txBody>
        </p:sp>
      </p:grpSp>
      <p:grpSp>
        <p:nvGrpSpPr>
          <p:cNvPr id="23" name="p10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10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11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7278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 · PROBABILITY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6688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自由能与 Boltzmann 联合分布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11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2837155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p(s) = exp(−E(s)/T) / Z</a:t>
              </a:r>
              <a:br/>
              <a:r>
                <a:rPr lang="el-GR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Z = Σs exp(−E(s)/T)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1858010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代码可自动选择 exact 或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Monte Carlo 估计路径。</a:t>
              </a:r>
            </a:p>
          </p:txBody>
        </p:sp>
      </p:grpSp>
      <p:grpSp>
        <p:nvGrpSpPr>
          <p:cNvPr id="20" name="p11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01968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Z 是配分函数；T 控制分布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对能量差异的敏感程度。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2425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把能量模型转成完整、归一化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的联合概率分布。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1614170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T 是无量纲分析参数；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T=1 对应拟合模型。</a:t>
              </a:r>
            </a:p>
          </p:txBody>
        </p:sp>
      </p:grpSp>
      <p:grpSp>
        <p:nvGrpSpPr>
          <p:cNvPr id="24" name="p11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11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12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722290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实现：exact / Monte Carlo 计算路径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12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2740076" cy="2519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calculation="auto",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max_exact_nodes=20,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mc_samples=2000,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mc_chains=4,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seed=7,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fit.diagnostics["calculation"]</a:t>
              </a:r>
            </a:p>
          </p:txBody>
        </p:sp>
      </p:grpSp>
      <p:grpSp>
        <p:nvGrpSpPr>
          <p:cNvPr id="19" name="p12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2448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auto 根据节点数选择路径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≤ max_exact_nodes 使用 exact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否则使用 Monte Carlo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220675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实际计算路径写入 diagnostics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MC 样本数、链数和 seed 可审计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37896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论文尺寸 19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节点可使用精确统计量。</a:t>
              </a:r>
            </a:p>
          </p:txBody>
        </p:sp>
      </p:grpSp>
      <p:grpSp>
        <p:nvGrpSpPr>
          <p:cNvPr id="23" name="p12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12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13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220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 · CRITICAL RESPONSE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286664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温度与临界响应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13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2891254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pT(s) ∝ exp(−E(s)/T)</a:t>
              </a:r>
              <a:br/>
              <a:r>
                <a:rPr lang="zh-CN" sz="2180" b="1" dirty="0">
                  <a:solidFill>
                    <a:srgbClr val="FFFFFF"/>
                  </a:solidFill>
                  <a:latin typeface="Arial"/>
                  <a:ea typeface="Arial Unicode MS"/>
                  <a:cs typeface="Arial"/>
                </a:rPr>
                <a:t>response = d〈E〉/dT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00431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实现固定 h、J，只改变 T，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并返回可绘图的响应序列。</a:t>
              </a:r>
            </a:p>
          </p:txBody>
        </p:sp>
      </p:grpSp>
      <p:grpSp>
        <p:nvGrpSpPr>
          <p:cNvPr id="20" name="p13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195110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低 T 使概率集中；高 T 使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状态概率更平坦。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26828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扫描 T 可观察能量与节点均值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对温度变化的响应峰。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288794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峰值附近是统计敏感区域；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不表示现实系统必然发生相变。</a:t>
              </a:r>
            </a:p>
          </p:txBody>
        </p:sp>
      </p:grpSp>
      <p:grpSp>
        <p:nvGrpSpPr>
          <p:cNvPr id="24" name="p13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13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14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60124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实现：temperature_response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14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302013" cy="2005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temperatures = np.linspace(0.05, 4.0, 80)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temperatures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response["temperature"]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response["mean_energy"]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response["d_mean_energy_d_temperature"]</a:t>
              </a:r>
            </a:p>
          </p:txBody>
        </p:sp>
      </p:grpSp>
      <p:grpSp>
        <p:nvGrpSpPr>
          <p:cNvPr id="19" name="p14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17343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已训练的 h 与 J 保持不变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输入为正温度序列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区间覆盖论文图的 0–4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2313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能量轨迹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能量导数/响应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节点均值相关响应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扫描是模型诊断，不会重新训练参数。</a:t>
              </a:r>
            </a:p>
          </p:txBody>
        </p:sp>
      </p:grpSp>
      <p:grpSp>
        <p:nvGrpSpPr>
          <p:cNvPr id="23" name="p14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14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15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79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PAPER · DATA PROTOCOL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49237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PISA 2018 trial model 范围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15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3553447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 economies × 3 outcomes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× (18 factors + 1 outcome)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180111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字段映射把论文变量语义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与表格列名显式连接。</a:t>
              </a:r>
            </a:p>
          </p:txBody>
        </p:sp>
      </p:grpSp>
      <p:grpSp>
        <p:nvGrpSpPr>
          <p:cNvPr id="20" name="p15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354008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每个地区、每个 outcome 独立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形成一个 19 节点联合模型。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0711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同一数学口径支持跨地区、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跨学科结构比较。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150618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PISA 数据受使用条款约束；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原始数据不打包进 Package。</a:t>
              </a:r>
            </a:p>
          </p:txBody>
        </p:sp>
      </p:grpSp>
      <p:grpSp>
        <p:nvGrpSpPr>
          <p:cNvPr id="24" name="p15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15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16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24574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实现：PISA 映射与字段契约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16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2756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 / reproduction config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221736" cy="2262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PISAMapping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 = PISAMapping(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feature_names=FEATURES_18,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target_name="PV1MATH",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missing_values=MISSING_CODES,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metadata={"economy": "TAP"},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prepared = mapping.prepare(table)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mapping.save("TAP-PV1MATH-mapping.json")</a:t>
              </a:r>
            </a:p>
          </p:txBody>
        </p:sp>
      </p:grpSp>
      <p:grpSp>
        <p:nvGrpSpPr>
          <p:cNvPr id="19" name="p16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0543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一次映射对应一个 outcome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地区分组在调用前完成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缺失码须依据 OECD codebook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6885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稳定字段映射</a:t>
              </a:r>
              <a:br/>
              <a:r>
                <a:rPr lang="en-US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PreparedData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不含原始行的 JSON 契约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75234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映射不包含、也不重新分发原始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PISA 数据。</a:t>
              </a:r>
            </a:p>
          </p:txBody>
        </p:sp>
      </p:grpSp>
      <p:grpSp>
        <p:nvGrpSpPr>
          <p:cNvPr id="23" name="p16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16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17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4690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PAPER · MODEL SIZE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0148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19 节点与 190 个参数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17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2823201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n = 19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19 h + C(19,2) J = 190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08559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DataConfig 决定节点顺序；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模型 artifact 保存该契约。</a:t>
              </a:r>
            </a:p>
          </p:txBody>
        </p:sp>
      </p:grpSp>
      <p:grpSp>
        <p:nvGrpSpPr>
          <p:cNvPr id="20" name="p17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56832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18 个背景因素加 1 个 outcome；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J 只计算不重复的节点对。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2425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规模足够表达丰富结构，且能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使用精确枚举作为参考计算。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410714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换变量数量时参数数按 O(n²)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增长，exact 状态数按 2ⁿ 增长。</a:t>
              </a:r>
            </a:p>
          </p:txBody>
        </p:sp>
      </p:grpSp>
      <p:grpSp>
        <p:nvGrpSpPr>
          <p:cNvPr id="24" name="p17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17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18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8935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实现：论文尺寸的精确模型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18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2338692" cy="2519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feature_names=FEATURES_18,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target_name="PV1MATH",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normalization="zscore",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threshold_method="paper_std",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cfg, calculation="exact",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max_exact_nodes=19, seed=7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9" name="p18-contract"/>
          <p:cNvGrpSpPr/>
          <p:nvPr/>
        </p:nvGrpSpPr>
        <p:grpSpPr>
          <a:xfrm>
            <a:off x="8489061" y="1696402"/>
            <a:ext cx="3105099" cy="4266248"/>
            <a:chOff x="8489061" y="1696402"/>
            <a:chExt cx="310509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0314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18 features + 1 target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列顺序必须稳定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paper_std 复现论文二值语义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3152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19 节点模型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精确模型 moments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可保存完整配置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这是论文复现设置，不是所有数据集的默认选择。</a:t>
              </a:r>
            </a:p>
          </p:txBody>
        </p:sp>
      </p:grpSp>
      <p:grpSp>
        <p:nvGrpSpPr>
          <p:cNvPr id="23" name="p18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18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19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73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PAPER · PREPROCESSING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8935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标准化、二值化与缺失处理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19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1680434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l-GR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z = (x − μ) / σ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 = 1[z &gt; 1]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12623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fit_table 让表格预处理与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模型训练在同一配置下执行。</a:t>
              </a:r>
            </a:p>
          </p:txBody>
        </p:sp>
      </p:grpSp>
      <p:grpSp>
        <p:nvGrpSpPr>
          <p:cNvPr id="20" name="p19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56832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论文路径先在 repeat 内标准化，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再以一个标准差为阈值二值化。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0711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把不同量纲变量转成统一的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0/1 状态语义。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451354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阈值会损失连续信息；缺失处理、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μ、σ 与列顺序都必须记录。</a:t>
              </a:r>
            </a:p>
          </p:txBody>
        </p:sp>
      </p:grpSp>
      <p:grpSp>
        <p:nvGrpSpPr>
          <p:cNvPr id="24" name="p19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19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20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613596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实现：DataConfig 与 fit_table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20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783673" cy="3291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target_name=TARGET,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normalization="zscore",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threshold_method="paper_std",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table,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target_name=TARGET,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method="kl",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9" name="p20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0010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输入为 pandas 表格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显式指定 feature 与 target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配置固定预处理口径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2313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处理后的训练状态</a:t>
              </a:r>
              <a:br/>
              <a:r>
                <a:rPr lang="en-US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fit diagnostics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与配置绑定的模型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472311" cy="571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Package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支持不同变量数量；exact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能力受节点数限制。</a:t>
              </a:r>
            </a:p>
          </p:txBody>
        </p:sp>
      </p:grpSp>
      <p:grpSp>
        <p:nvGrpSpPr>
          <p:cNvPr id="23" name="p20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20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21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PAPER · TRAINING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54623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KL 散度与 moment-gap 梯度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21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3216979" cy="13016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DKL(Pdata || Pmodel)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∂L/∂h ∝ mdata − mmodel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∂L/∂J ∝ Cdata − Cmodel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418842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fit(method='kl') 运行该路径，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不会隐藏停止原因。</a:t>
              </a:r>
            </a:p>
          </p:txBody>
        </p:sp>
      </p:grpSp>
      <p:grpSp>
        <p:nvGrpSpPr>
          <p:cNvPr id="20" name="p21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679763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训练让模型的一阶与二阶 moments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接近数据 moments。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74834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moment gap 可直接解释梯度方向，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并作为收敛诊断。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752090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达到阈值、最大迭代或数值保护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都可能结束训练，需看 diagnostics。</a:t>
              </a:r>
            </a:p>
          </p:txBody>
        </p:sp>
      </p:grpSp>
      <p:grpSp>
        <p:nvGrpSpPr>
          <p:cNvPr id="24" name="p21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21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22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86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实现：fit(method='kl')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22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1696479" cy="3034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X, y,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method="kl",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fit.converged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fit.epochs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fit.objective_history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fit.mean_error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fit.correlation_error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model.h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model.J</a:t>
              </a:r>
            </a:p>
          </p:txBody>
        </p:sp>
      </p:grpSp>
      <p:grpSp>
        <p:nvGrpSpPr>
          <p:cNvPr id="19" name="p22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1915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X、y 已符合 DataConfig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method='kl' 选择论文训练目标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随机性由 seed 控制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8943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收敛标志与 epoch 数</a:t>
              </a:r>
              <a:br/>
              <a:r>
                <a:rPr lang="en-US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objective / moment error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最终 h 与 J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20020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只看“训练结束”不足以判断收敛。</a:t>
              </a:r>
            </a:p>
          </p:txBody>
        </p:sp>
      </p:grpSp>
      <p:grpSp>
        <p:nvGrpSpPr>
          <p:cNvPr id="23" name="p22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22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23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4769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PAPER · EXPERIMENT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231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15 个概念模型与 240 次训练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23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2315274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 × 3 = 15 models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15 × 16 = 240 fits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345690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复现 runner 固定样本量、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repeat 次数与 artifact 路径。</a:t>
              </a:r>
            </a:p>
          </p:txBody>
        </p:sp>
      </p:grpSp>
      <p:grpSp>
        <p:nvGrpSpPr>
          <p:cNvPr id="20" name="p23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3022663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15 是地区–学科分析单位；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16 repeats 是每个单位的重采样训练。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33686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重复拟合评估参数稳定性，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并为最终选择/汇总提供证据。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1955546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240 次训练不等于最终需要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交付 240 个概念模型。</a:t>
              </a:r>
            </a:p>
          </p:txBody>
        </p:sp>
      </p:grpSp>
      <p:grpSp>
        <p:nvGrpSpPr>
          <p:cNvPr id="24" name="p23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23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24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3989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实现：论文复现 runner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24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16325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Reproduction script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863950" cy="2777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examples.pisa_paper_reproduction import run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run(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table,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economy_column="CNT",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sample_size=1200,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repeats=16,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model_dir="artifacts/models",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len(report["results"]) # 240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report["protocol_diagnostics"]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report["repeat_parameter_correlations"]</a:t>
              </a:r>
            </a:p>
          </p:txBody>
        </p:sp>
      </p:grpSp>
      <p:grpSp>
        <p:nvGrpSpPr>
          <p:cNvPr id="19" name="p24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3362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每个地区–outcome 抽样 1,200 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每个组合重复 16 次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结果目录显式指定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6657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240 次 run 记录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15 个选定模型 artifact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协议与参数稳定性诊断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627886" cy="571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1,200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是复现数据处理参数，不进入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Package 默认值。</a:t>
              </a:r>
            </a:p>
          </p:txBody>
        </p:sp>
      </p:grpSp>
      <p:grpSp>
        <p:nvGrpSpPr>
          <p:cNvPr id="23" name="p24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24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25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2198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OUR REPRODUCTION · FIGURE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9310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一阶与二阶 moments 验证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8" name="p25-evidence"/>
          <p:cNvGrpSpPr/>
          <p:nvPr/>
        </p:nvGrpSpPr>
        <p:grpSpPr>
          <a:xfrm>
            <a:off x="609600" y="1504950"/>
            <a:ext cx="7810500" cy="4171950"/>
            <a:chOff x="609600" y="1504950"/>
            <a:chExt cx="7810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810500" cy="4171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9C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1867766"/>
              <a:ext cx="7581900" cy="3446318"/>
            </a:xfrm>
            <a:prstGeom prst="rect">
              <a:avLst/>
            </a:prstGeom>
          </p:spPr>
        </p:pic>
      </p:grpSp>
      <p:grpSp>
        <p:nvGrpSpPr>
          <p:cNvPr id="14" name="p25-reading"/>
          <p:cNvGrpSpPr/>
          <p:nvPr/>
        </p:nvGrpSpPr>
        <p:grpSpPr>
          <a:xfrm>
            <a:off x="8763000" y="1504950"/>
            <a:ext cx="2819400" cy="4171950"/>
            <a:chOff x="8763000" y="1504950"/>
            <a:chExt cx="2819400" cy="4171950"/>
          </a:xfrm>
        </p:grpSpPr>
        <p:sp>
          <p:nvSpPr>
            <p:cNvPr id="9" name="Rectangle 9"/>
            <p:cNvSpPr/>
            <p:nvPr/>
          </p:nvSpPr>
          <p:spPr>
            <a:xfrm>
              <a:off x="8763000" y="1504950"/>
              <a:ext cx="2819400" cy="417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24366" y="1772602"/>
              <a:ext cx="661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EVIDENCE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3223" y="2186464"/>
              <a:ext cx="1801114" cy="11637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一阶：节点均值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二阶：节点成对共现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二者进入训练目标，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用于确认优化是否到位。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029700" y="45910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24366" y="4858702"/>
              <a:ext cx="13441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图来自项目复现输出。</a:t>
              </a:r>
              <a:br/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高相关不意味着因果。</a:t>
              </a:r>
            </a:p>
          </p:txBody>
        </p:sp>
      </p:grpSp>
      <p:grpSp>
        <p:nvGrpSpPr>
          <p:cNvPr id="18" name="p25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15" name="Line 1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4838" y="6322695"/>
              <a:ext cx="19298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下一页：一二阶 moments 比较代码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25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26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3364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实现：一二阶 moments 比较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26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623119" cy="2262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compare_moment_orders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result = compare_moment_orders(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observed={1: data_m1, 2: data_m2},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modeled={1: model_m1, 2: model_m2},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tolerances={1: 1e-3, 2: 1e-3},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result.max_absolute_error[1]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result.mean_absolute_error[2]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result.passed</a:t>
              </a:r>
            </a:p>
          </p:txBody>
        </p:sp>
      </p:grpSp>
      <p:grpSp>
        <p:nvGrpSpPr>
          <p:cNvPr id="19" name="p26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6258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observed 与 modeled 使用相同 order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每个 order 的形状必须匹配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比较前保留同一节点顺序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5895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最大/平均绝对误差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按 order 的 tolerance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总体通过标志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590548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相关系数用于报告图；此 API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执行误差阈值验证。</a:t>
              </a:r>
            </a:p>
          </p:txBody>
        </p:sp>
      </p:grpSp>
      <p:grpSp>
        <p:nvGrpSpPr>
          <p:cNvPr id="23" name="p26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26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27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2198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OUR REPRODUCTION · FIGURE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7418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三阶与四阶 moments 外部检验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8" name="p27-evidence"/>
          <p:cNvGrpSpPr/>
          <p:nvPr/>
        </p:nvGrpSpPr>
        <p:grpSpPr>
          <a:xfrm>
            <a:off x="609600" y="1504950"/>
            <a:ext cx="7810500" cy="4171950"/>
            <a:chOff x="609600" y="1504950"/>
            <a:chExt cx="7810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810500" cy="4171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9C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1867766"/>
              <a:ext cx="7581900" cy="3446318"/>
            </a:xfrm>
            <a:prstGeom prst="rect">
              <a:avLst/>
            </a:prstGeom>
          </p:spPr>
        </p:pic>
      </p:grpSp>
      <p:grpSp>
        <p:nvGrpSpPr>
          <p:cNvPr id="14" name="p27-reading"/>
          <p:cNvGrpSpPr/>
          <p:nvPr/>
        </p:nvGrpSpPr>
        <p:grpSpPr>
          <a:xfrm>
            <a:off x="8763000" y="1504950"/>
            <a:ext cx="2819400" cy="4171950"/>
            <a:chOff x="8763000" y="1504950"/>
            <a:chExt cx="2819400" cy="4171950"/>
          </a:xfrm>
        </p:grpSpPr>
        <p:sp>
          <p:nvSpPr>
            <p:cNvPr id="9" name="Rectangle 9"/>
            <p:cNvSpPr/>
            <p:nvPr/>
          </p:nvSpPr>
          <p:spPr>
            <a:xfrm>
              <a:off x="8763000" y="1504950"/>
              <a:ext cx="2819400" cy="417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24366" y="1772602"/>
              <a:ext cx="661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EVIDENCE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3223" y="2186464"/>
              <a:ext cx="1914906" cy="11637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三阶、四阶没有直接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进入 pairwise 训练目标。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因此它们检验模型是否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保留隐含的高阶结构。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029700" y="45910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24366" y="4858702"/>
              <a:ext cx="1590866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论文：0.982 / 0.946</a:t>
              </a:r>
              <a:br/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复现：0.97978 / 0.93379</a:t>
              </a:r>
            </a:p>
          </p:txBody>
        </p:sp>
      </p:grpSp>
      <p:grpSp>
        <p:nvGrpSpPr>
          <p:cNvPr id="18" name="p27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15" name="Line 1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4838" y="6322695"/>
              <a:ext cx="18087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下一页：高阶 moments 比较代码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27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28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9310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实现：高阶 moments 比较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28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2499246" cy="3291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 = compare_moment_orders(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observed={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3: empirical_m3,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4: empirical_m4,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modeled={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3: modeled_m3,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4: modeled_m4,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tolerances={3: 0.05, 4: 0.05},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higher.max_absolute_error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higher.passed</a:t>
              </a:r>
            </a:p>
          </p:txBody>
        </p:sp>
      </p:grpSp>
      <p:grpSp>
        <p:nvGrpSpPr>
          <p:cNvPr id="19" name="p28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17724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orders 3/4 必须同时存在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组合键口径必须相同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不参与当前模型参数更新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6885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各阶最大/平均误差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外部结构验证标志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相关系数可另行用于图示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高阶一致性支持模型，但不证明模型唯一正确。</a:t>
              </a:r>
            </a:p>
          </p:txBody>
        </p:sp>
      </p:grpSp>
      <p:grpSp>
        <p:nvGrpSpPr>
          <p:cNvPr id="23" name="p28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28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29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9787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PAPER · FIGURE 5 / TABLE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330597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J 分布的长尾结构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29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2653542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{Jij | i &lt; j}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skewness · kurtosis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12623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只提取上三角，避免对称矩阵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重复计算同一 interaction。</a:t>
              </a:r>
            </a:p>
          </p:txBody>
        </p:sp>
      </p:grpSp>
      <p:grpSp>
        <p:nvGrpSpPr>
          <p:cNvPr id="20" name="p29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37115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每个模型有 171 个独立 J；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论文观察到非 Gaussian 长尾。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799778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长尾表示少数 pairwise interaction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明显强于大多数参数。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288794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分布形态受变量编码、正则化和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拟合稳定性影响。</a:t>
              </a:r>
            </a:p>
          </p:txBody>
        </p:sp>
      </p:grpSp>
      <p:grpSp>
        <p:nvGrpSpPr>
          <p:cNvPr id="24" name="p29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29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30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27180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实现：提取独立 J 参数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30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1377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Model inspection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2820352" cy="2519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model.J.detach().cpu().numpy()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np.triu_indices_from(J, k=1)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J[i, j]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summary = {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"mean": values.mean(),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"std": values.std(),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"min": values.min(),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"max": values.max(),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p30-contract"/>
          <p:cNvGrpSpPr/>
          <p:nvPr/>
        </p:nvGrpSpPr>
        <p:grpSpPr>
          <a:xfrm>
            <a:off x="8489061" y="1696402"/>
            <a:ext cx="3105099" cy="4266248"/>
            <a:chOff x="8489061" y="1696402"/>
            <a:chExt cx="310509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149047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J 已对称且对角线为 0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k=1 排除对角线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每个 pair 只出现一次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290017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171 个独立参数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可计算 histogram、skewness、kurtosis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统计分布是模型参数描述，不是变量重要性排名。</a:t>
              </a:r>
            </a:p>
          </p:txBody>
        </p:sp>
      </p:grpSp>
      <p:grpSp>
        <p:nvGrpSpPr>
          <p:cNvPr id="23" name="p30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30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31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23472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PAPER · STRUCTURAL DIAGNOSTIC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50754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Effective interaction 定义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31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3828175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freeze node k</a:t>
              </a:r>
              <a:br/>
              <a:r>
                <a:rPr lang="el-GR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εi(k) = fieldfrozen − fieldbase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459482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论文原始路径使用 Monte Carlo，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实现同时保存采样诊断。</a:t>
              </a:r>
            </a:p>
          </p:txBody>
        </p:sp>
      </p:grpSp>
      <p:grpSp>
        <p:nvGrpSpPr>
          <p:cNvPr id="20" name="p31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5854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固定一个节点后，让其余系统重新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分布，再比较 outcome 有效场。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43973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同时计入直接 J 与经网络传播的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累计统计变化。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1963674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ε 是模型内部结构诊断；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不是现实干预的因果效应。</a:t>
              </a:r>
            </a:p>
          </p:txBody>
        </p:sp>
      </p:grpSp>
      <p:grpSp>
        <p:nvGrpSpPr>
          <p:cNvPr id="24" name="p31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31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32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84118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实现：Monte Carlo effective interaction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32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542843" cy="2262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model.effective_interaction_report(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calculation="monte_carlo",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report["values"]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report["calculation"]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 = report["baseline_diagnostics"]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per_node = report["clamp_diagnostics"]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baseline["max_rhat"]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baseline["min_effective_sample_size"]</a:t>
              </a:r>
            </a:p>
          </p:txBody>
        </p:sp>
      </p:grpSp>
      <p:grpSp>
        <p:nvGrpSpPr>
          <p:cNvPr id="19" name="p32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4201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已训练的二值模型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明确指定 monte_carlo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采样数、链数和 seed 在模型中配置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24277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每个节点的 effective interaction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baseline 与逐节点采样诊断</a:t>
              </a:r>
              <a:br/>
              <a:r>
                <a:rPr lang="en-US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R-hat / ESS / MCSE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721231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这是论文原始计算路径；exact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仅是工程参考路径。</a:t>
              </a:r>
            </a:p>
          </p:txBody>
        </p:sp>
      </p:grpSp>
      <p:grpSp>
        <p:nvGrpSpPr>
          <p:cNvPr id="23" name="p32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32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33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24570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OUR REPRODUCTION · FIGURE 6–10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680190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五地区 effective interaction 证据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8" name="p33-evidence"/>
          <p:cNvGrpSpPr/>
          <p:nvPr/>
        </p:nvGrpSpPr>
        <p:grpSpPr>
          <a:xfrm>
            <a:off x="609600" y="1504950"/>
            <a:ext cx="7810500" cy="4171950"/>
            <a:chOff x="609600" y="1504950"/>
            <a:chExt cx="7810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810500" cy="4171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9C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264092"/>
              <a:ext cx="7581900" cy="2653665"/>
            </a:xfrm>
            <a:prstGeom prst="rect">
              <a:avLst/>
            </a:prstGeom>
          </p:spPr>
        </p:pic>
      </p:grpSp>
      <p:grpSp>
        <p:nvGrpSpPr>
          <p:cNvPr id="14" name="p33-reading"/>
          <p:cNvGrpSpPr/>
          <p:nvPr/>
        </p:nvGrpSpPr>
        <p:grpSpPr>
          <a:xfrm>
            <a:off x="8763000" y="1504950"/>
            <a:ext cx="2819400" cy="4171950"/>
            <a:chOff x="8763000" y="1504950"/>
            <a:chExt cx="2819400" cy="4171950"/>
          </a:xfrm>
        </p:grpSpPr>
        <p:sp>
          <p:nvSpPr>
            <p:cNvPr id="9" name="Rectangle 9"/>
            <p:cNvSpPr/>
            <p:nvPr/>
          </p:nvSpPr>
          <p:spPr>
            <a:xfrm>
              <a:off x="8763000" y="1504950"/>
              <a:ext cx="2819400" cy="417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24366" y="1772602"/>
              <a:ext cx="661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EVIDENCE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3223" y="2186464"/>
              <a:ext cx="2158746" cy="14685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同一 mean ± sd 口径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区分 facilitative / ordinary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/ inhibitory。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颜色区分地区，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便于读取共同与特异模式。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029700" y="45910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24366" y="4858702"/>
              <a:ext cx="13441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完整多面板复现图。</a:t>
              </a:r>
              <a:br/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分类不构成干预建议。</a:t>
              </a:r>
            </a:p>
          </p:txBody>
        </p:sp>
      </p:grpSp>
      <p:grpSp>
        <p:nvGrpSpPr>
          <p:cNvPr id="18" name="p33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15" name="Line 1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下一页：分类与可视化代码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33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34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实现：分类与可视化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34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944226" cy="2519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classify_effective_interactions,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plot_effective_interactions,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report["values"]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classes = classify_effective_interactions(values)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plot_effective_interactions(values)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"effective_interaction.png", dpi=200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9" name="p34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63347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输入为 effective interaction values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分类使用模型内 mean ± sd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变量顺序来自模型配置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7800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每个节点的类别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可复用 matplotlib figure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可导出的证据图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图形编码与统计分类分离，便于审计。</a:t>
              </a:r>
            </a:p>
          </p:txBody>
        </p:sp>
      </p:grpSp>
      <p:grpSp>
        <p:nvGrpSpPr>
          <p:cNvPr id="23" name="p34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34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35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2284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OUR REPRODUCTION · FIGURE 11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4881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临界状态的温度响应证据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8" name="p35-evidence"/>
          <p:cNvGrpSpPr/>
          <p:nvPr/>
        </p:nvGrpSpPr>
        <p:grpSpPr>
          <a:xfrm>
            <a:off x="609600" y="1504950"/>
            <a:ext cx="7810500" cy="4171950"/>
            <a:chOff x="609600" y="1504950"/>
            <a:chExt cx="7810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810500" cy="4171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8C9C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169319"/>
              <a:ext cx="7581900" cy="2843212"/>
            </a:xfrm>
            <a:prstGeom prst="rect">
              <a:avLst/>
            </a:prstGeom>
          </p:spPr>
        </p:pic>
      </p:grpSp>
      <p:grpSp>
        <p:nvGrpSpPr>
          <p:cNvPr id="14" name="p35-reading"/>
          <p:cNvGrpSpPr/>
          <p:nvPr/>
        </p:nvGrpSpPr>
        <p:grpSpPr>
          <a:xfrm>
            <a:off x="8763000" y="1504950"/>
            <a:ext cx="2819400" cy="4171950"/>
            <a:chOff x="8763000" y="1504950"/>
            <a:chExt cx="2819400" cy="4171950"/>
          </a:xfrm>
        </p:grpSpPr>
        <p:sp>
          <p:nvSpPr>
            <p:cNvPr id="9" name="Rectangle 9"/>
            <p:cNvSpPr/>
            <p:nvPr/>
          </p:nvSpPr>
          <p:spPr>
            <a:xfrm>
              <a:off x="8763000" y="1504950"/>
              <a:ext cx="2819400" cy="417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24366" y="1772602"/>
              <a:ext cx="661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EVIDENCE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3223" y="2186464"/>
              <a:ext cx="1516634" cy="11637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固定 h、J，扫描 T。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响应峰接近 T=1，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是论文临界性判断的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主要统计证据。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029700" y="45910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24366" y="4858702"/>
              <a:ext cx="13441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横轴完整显示 0–4。</a:t>
              </a:r>
              <a:br/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扫描不重新训练模型。</a:t>
              </a:r>
            </a:p>
          </p:txBody>
        </p:sp>
      </p:grpSp>
      <p:grpSp>
        <p:nvGrpSpPr>
          <p:cNvPr id="18" name="p35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15" name="Line 15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下一页：温度响应绘图代码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35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36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36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实现：温度响应绘图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36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4104780" cy="20055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plot_temperature_response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temperatures = np.linspace(0.05, 4.0, 80)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model.temperature_response(temperatures)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plot_temperature_response(response)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ax.set_xlim(0.0, 4.0)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"temperature_response.png", dpi=200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9" name="p36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194767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response 来自同一训练模型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温度范围覆盖 0–4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绘图不修改模型参数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93243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两条响应曲线共享坐标轴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显式 x 轴范围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可保存的 matplotlib figure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187680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T=1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是拟合点；峰位置用于统计解释。</a:t>
              </a:r>
            </a:p>
          </p:txBody>
        </p:sp>
      </p:grpSp>
      <p:grpSp>
        <p:nvGrpSpPr>
          <p:cNvPr id="23" name="p36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36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37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6807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PAPER ↔ REPRODUCTION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4881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论文结果与复现结果对照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32" name="p37-table"/>
          <p:cNvGrpSpPr/>
          <p:nvPr/>
        </p:nvGrpSpPr>
        <p:grpSpPr>
          <a:xfrm>
            <a:off x="603885" y="1593056"/>
            <a:ext cx="10978515" cy="4350544"/>
            <a:chOff x="603885" y="1593056"/>
            <a:chExt cx="10978515" cy="4350544"/>
          </a:xfrm>
        </p:grpSpPr>
        <p:sp>
          <p:nvSpPr>
            <p:cNvPr id="6" name="TextBox 6"/>
            <p:cNvSpPr txBox="1"/>
            <p:nvPr/>
          </p:nvSpPr>
          <p:spPr>
            <a:xfrm>
              <a:off x="603885" y="15930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统计量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71035" y="15930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论文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566535" y="15930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我们的复现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519285" y="15930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角色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2095500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011" y="2332196"/>
              <a:ext cx="1310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一阶 moments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8368" y="2307908"/>
              <a:ext cx="658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0.999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63868" y="2307908"/>
              <a:ext cx="8563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≈ 1.000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518904" y="23564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训练目标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2876550"/>
              <a:ext cx="10972800" cy="628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011" y="3113246"/>
              <a:ext cx="1310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二阶 moments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68368" y="3088958"/>
              <a:ext cx="658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0.982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3868" y="3088958"/>
              <a:ext cx="8563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≈ 0.999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18904" y="31375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训练目标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3657600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0011" y="3894296"/>
              <a:ext cx="1310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三阶 moments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8368" y="3870008"/>
              <a:ext cx="658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0.982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3868" y="3870008"/>
              <a:ext cx="9146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0.97978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18904" y="3918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外部检验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4438650"/>
              <a:ext cx="10972800" cy="628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0011" y="4675346"/>
              <a:ext cx="1310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四阶 moments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8368" y="4651058"/>
              <a:ext cx="6581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0.946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3868" y="4651058"/>
              <a:ext cx="9146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0.93379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8904" y="46996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外部检验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5391150"/>
              <a:ext cx="109728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9823" y="5596414"/>
              <a:ext cx="62889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接近不等于逐点一致：随机重采样、优化停止和 Monte Carlo 路径都会产生差异。</a:t>
              </a:r>
            </a:p>
          </p:txBody>
        </p:sp>
      </p:grpSp>
      <p:grpSp>
        <p:nvGrpSpPr>
          <p:cNvPr id="36" name="p37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33" name="Line 33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4838" y="6322695"/>
              <a:ext cx="16269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下一页：统一 validation 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37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38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1438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实现：统一 validation 入口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38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1462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Validation script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4987823" cy="2519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examples.validate_pisa_paper_reproduction import validate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 = validate(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report_path="artifacts/report.json",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model_dir="artifacts/models",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figure_dir="artifacts/figures",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validation["checks"]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validation["moment_checks"]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validation["monte_carlo_diagnostic_checks"]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validation["all_checks_passed"]</a:t>
              </a:r>
            </a:p>
          </p:txBody>
        </p:sp>
      </p:grpSp>
      <p:grpSp>
        <p:nvGrpSpPr>
          <p:cNvPr id="19" name="p38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19781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输入为完整复现报告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模型、图片目录与报告匹配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使用同一地区/outcome 口径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8867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moments 与 artifact 检查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采样 diagnostics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统一通过标志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统一验证应在全部训练完成后执行。</a:t>
              </a:r>
            </a:p>
          </p:txBody>
        </p:sp>
      </p:grpSp>
      <p:grpSp>
        <p:nvGrpSpPr>
          <p:cNvPr id="23" name="p38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38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39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2002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PACKAGE · REPRODUCIBILITY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80776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Artifact 与 diagnostics 契约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39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4291778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artifact = parameters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+ config + diagnostics + schema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28879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save/load 提供模型级持久化，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复现报告保存实验级上下文。</a:t>
              </a:r>
            </a:p>
          </p:txBody>
        </p:sp>
      </p:grpSp>
      <p:grpSp>
        <p:nvGrpSpPr>
          <p:cNvPr id="20" name="p39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25854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模型文件不仅是权重；还需要变量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顺序、预处理、训练和采样信息。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4140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让另一位使用者可以重新加载、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复查并继续分析。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849626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不保存原始受限数据；artifact 也不应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包含用户敏感样本。</a:t>
              </a:r>
            </a:p>
          </p:txBody>
        </p:sp>
      </p:grpSp>
      <p:grpSp>
        <p:nvGrpSpPr>
          <p:cNvPr id="24" name="p39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39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40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40827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实现：模型保存与加载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40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883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2980906" cy="22627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LearningModel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model.save("TAP-PV1SCIE.pt")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restored = LearningModel.load(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"TAP-PV1SCIE.pt"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restored.config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restored.h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restored.J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restored.analyze()</a:t>
              </a:r>
            </a:p>
          </p:txBody>
        </p:sp>
      </p:grpSp>
      <p:grpSp>
        <p:nvGrpSpPr>
          <p:cNvPr id="19" name="p40-contract"/>
          <p:cNvGrpSpPr/>
          <p:nvPr/>
        </p:nvGrpSpPr>
        <p:grpSpPr>
          <a:xfrm>
            <a:off x="8489061" y="1696402"/>
            <a:ext cx="3093339" cy="4266248"/>
            <a:chOff x="8489061" y="1696402"/>
            <a:chExt cx="309333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22829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路径以 .pt 为常用扩展名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artifact 由 PyTorch 序列化承载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加载后保留配置和参数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87147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可再次 analyze / diagnose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无需重新训练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可复制到受控环境复核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2268855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.pt 表示 Torch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artifact；不要提交含敏感数据的文件。</a:t>
              </a:r>
            </a:p>
          </p:txBody>
        </p:sp>
      </p:grpSp>
      <p:grpSp>
        <p:nvGrpSpPr>
          <p:cNvPr id="23" name="p40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40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41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9787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PACKAGE · MODEL FAMILIES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529894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二值论文模型与连续扩展边界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1" name="p41-concept"/>
          <p:cNvGrpSpPr/>
          <p:nvPr/>
        </p:nvGrpSpPr>
        <p:grpSpPr>
          <a:xfrm>
            <a:off x="609600" y="1562100"/>
            <a:ext cx="6191250" cy="4095750"/>
            <a:chOff x="609600" y="1562100"/>
            <a:chExt cx="61912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61912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9635" y="1859756"/>
              <a:ext cx="688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CONCEPT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301" y="2489359"/>
              <a:ext cx="2516357" cy="8635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Binary: s ∈ {0,1}ⁿ</a:t>
              </a:r>
              <a:br/>
              <a:r>
                <a:rPr lang="en-US" sz="218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Continuous: x ∈ ℝⁿ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95350" y="4095750"/>
              <a:ext cx="5619750" cy="9525"/>
            </a:xfrm>
            <a:custGeom>
              <a:avLst/>
              <a:gdLst/>
              <a:ahLst/>
              <a:cxnLst/>
              <a:rect l="l" t="t" r="r" b="b"/>
              <a:pathLst>
                <a:path w="5619750" h="9525">
                  <a:moveTo>
                    <a:pt x="0" y="0"/>
                  </a:moveTo>
                  <a:lnTo>
                    <a:pt x="5619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873" y="4377214"/>
              <a:ext cx="2540762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连续模型没有固定 target_name；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查询时指定 target_index。</a:t>
              </a:r>
            </a:p>
          </p:txBody>
        </p:sp>
      </p:grpSp>
      <p:grpSp>
        <p:nvGrpSpPr>
          <p:cNvPr id="20" name="p41-explain"/>
          <p:cNvGrpSpPr/>
          <p:nvPr/>
        </p:nvGrpSpPr>
        <p:grpSpPr>
          <a:xfrm>
            <a:off x="7232142" y="1691164"/>
            <a:ext cx="4350258" cy="3926014"/>
            <a:chOff x="7232142" y="1691164"/>
            <a:chExt cx="4350258" cy="3926014"/>
          </a:xfrm>
        </p:grpSpPr>
        <p:sp>
          <p:nvSpPr>
            <p:cNvPr id="12" name="TextBox 12"/>
            <p:cNvSpPr txBox="1"/>
            <p:nvPr/>
          </p:nvSpPr>
          <p:spPr>
            <a:xfrm>
              <a:off x="7232523" y="16911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006918"/>
              <a:ext cx="349415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LearningModel 复现论文二值模型；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ContinuousEnergyModel 是 Gaussian 扩展。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0" y="30289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2523" y="3234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549968"/>
              <a:ext cx="27569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连续模型保留原始数值尺度，并支持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条件均值与联合采样。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39000" y="45720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325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解释边界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523" y="5101114"/>
              <a:ext cx="2451354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连续扩展不属于原论文，不能用其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结果替代论文复现结论。</a:t>
              </a:r>
            </a:p>
          </p:txBody>
        </p:sp>
      </p:grpSp>
      <p:grpSp>
        <p:nvGrpSpPr>
          <p:cNvPr id="24" name="p41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4838" y="63226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下一页：对应实现代码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41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42-header"/>
          <p:cNvGrpSpPr/>
          <p:nvPr/>
        </p:nvGrpSpPr>
        <p:grpSpPr>
          <a:xfrm>
            <a:off x="595122" y="477202"/>
            <a:ext cx="10987278" cy="839343"/>
            <a:chOff x="595122" y="477202"/>
            <a:chExt cx="10987278" cy="839343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772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59142"/>
              <a:ext cx="61802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实现：ContinuousEnergyModel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57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70000"/>
                </a:srgbClr>
              </a:solidFill>
            </a:ln>
          </p:spPr>
        </p:sp>
      </p:grpSp>
      <p:grpSp>
        <p:nvGrpSpPr>
          <p:cNvPr id="10" name="p42-code"/>
          <p:cNvGrpSpPr/>
          <p:nvPr/>
        </p:nvGrpSpPr>
        <p:grpSpPr>
          <a:xfrm>
            <a:off x="609600" y="1504950"/>
            <a:ext cx="7524750" cy="4457700"/>
            <a:chOff x="609600" y="1504950"/>
            <a:chExt cx="7524750" cy="44577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7524750" cy="4457700"/>
            </a:xfrm>
            <a:prstGeom prst="rect">
              <a:avLst/>
            </a:prstGeom>
            <a:solidFill>
              <a:srgbClr val="0B241E"/>
            </a:solidFill>
            <a:ln w="9525">
              <a:solidFill>
                <a:srgbClr val="B8C9C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966" y="1734502"/>
              <a:ext cx="25865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Public API · package extension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76300" y="201930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0" y="0"/>
                  </a:moveTo>
                  <a:lnTo>
                    <a:pt x="6991350" y="0"/>
                  </a:lnTo>
                </a:path>
              </a:pathLst>
            </a:custGeom>
            <a:noFill/>
            <a:ln w="9525">
              <a:solidFill>
                <a:srgbClr val="5C6B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966" y="2248852"/>
              <a:ext cx="3623119" cy="3034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ContinuousEnergyModel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ContinuousEnergyModel(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feature_names=COLUMNS, seed=7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model.fit_table(table)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row.copy()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values[target_idx] = np.nan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prediction = model.conditional_mean(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values, target_index=target_idx</a:t>
              </a:r>
              <a:br/>
              <a:r>
                <a:rPr lang="zh-CN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samples = model.sample(500)</a:t>
              </a:r>
            </a:p>
          </p:txBody>
        </p:sp>
      </p:grpSp>
      <p:grpSp>
        <p:nvGrpSpPr>
          <p:cNvPr id="19" name="p42-contract"/>
          <p:cNvGrpSpPr/>
          <p:nvPr/>
        </p:nvGrpSpPr>
        <p:grpSpPr>
          <a:xfrm>
            <a:off x="8489061" y="1696402"/>
            <a:ext cx="3105099" cy="4266248"/>
            <a:chOff x="8489061" y="1696402"/>
            <a:chExt cx="3105099" cy="4266248"/>
          </a:xfrm>
        </p:grpSpPr>
        <p:sp>
          <p:nvSpPr>
            <p:cNvPr id="11" name="TextBox 11"/>
            <p:cNvSpPr txBox="1"/>
            <p:nvPr/>
          </p:nvSpPr>
          <p:spPr>
            <a:xfrm>
              <a:off x="8490966" y="1696402"/>
              <a:ext cx="1233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IMPLEMENTATION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9061" y="205597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输入 / 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0204" y="2404110"/>
              <a:ext cx="19933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所有列共同组成连续联合分布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values 含每个节点的值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目标位置可设为 NaN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496300" y="34671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9061" y="3675221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输出 / 可检查项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0204" y="4023360"/>
              <a:ext cx="192481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条件均值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联合分布样本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precision/covariance 分析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96300" y="5219700"/>
              <a:ext cx="30861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1847" y="53620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独立模型族；不需要二值化，但不等同论文模型。</a:t>
              </a:r>
            </a:p>
          </p:txBody>
        </p:sp>
      </p:grpSp>
      <p:grpSp>
        <p:nvGrpSpPr>
          <p:cNvPr id="23" name="p42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20" name="Line 20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838" y="6322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代码与前一页概念一一对应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42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p43-close"/>
          <p:cNvGrpSpPr/>
          <p:nvPr/>
        </p:nvGrpSpPr>
        <p:grpSpPr>
          <a:xfrm>
            <a:off x="595122" y="1767840"/>
            <a:ext cx="10987278" cy="3329083"/>
            <a:chOff x="595122" y="1767840"/>
            <a:chExt cx="10987278" cy="3329083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17678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一条可追溯的技术链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2397442"/>
              <a:ext cx="8397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公式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673096" y="242982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624072" y="2397442"/>
              <a:ext cx="8397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实现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02046" y="242982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53022" y="2397442"/>
              <a:ext cx="8397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证据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30996" y="242982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81972" y="2397442"/>
              <a:ext cx="8397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边界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3162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2361" y="3560921"/>
              <a:ext cx="5244338" cy="15360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论文模型：二值 pairwise maximum-entropy joint distribution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Package：训练、诊断、验证与 .pt artifact 的可复现接口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解释原则：interaction 是模型内统计结构，不自动构成因果结论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扩展边界：ContinuousEnergyModel 是独立 Gaussian 模型族</a:t>
              </a:r>
            </a:p>
          </p:txBody>
        </p:sp>
      </p:grpSp>
      <p:grpSp>
        <p:nvGrpSpPr>
          <p:cNvPr id="16" name="p43-footer"/>
          <p:cNvGrpSpPr/>
          <p:nvPr/>
        </p:nvGrpSpPr>
        <p:grpSpPr>
          <a:xfrm>
            <a:off x="604838" y="6191250"/>
            <a:ext cx="10982324" cy="307657"/>
            <a:chOff x="604838" y="6191250"/>
            <a:chExt cx="10982324" cy="307657"/>
          </a:xfrm>
        </p:grpSpPr>
        <p:sp>
          <p:nvSpPr>
            <p:cNvPr id="13" name="Line 13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4838" y="6322695"/>
              <a:ext cx="18652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LearnEnergy · technical report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71758" y="63226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43 / 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2026-09-22T12:26:46Z</dcterms:created>
  <dcterms:modified xsi:type="dcterms:W3CDTF">2026-09-22T12:26:46Z</dcterms:modified>
  <cp:category/>
  <cp:contentStatus/>
</cp:coreProperties>
</file>