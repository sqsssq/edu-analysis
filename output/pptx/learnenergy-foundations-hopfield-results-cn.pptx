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Slides/notesSlide1_tf1_tf1_tf1.xml" ContentType="application/vnd.openxmlformats-officedocument.presentationml.notesSlide+xml"/>
  <Override PartName="/ppt/notesSlides/notesSlide2_tf1_tf1_tf1.xml" ContentType="application/vnd.openxmlformats-officedocument.presentationml.notesSlide+xml"/>
  <Override PartName="/ppt/notesSlides/notesSlide3_tf1_tf1_tf1.xml" ContentType="application/vnd.openxmlformats-officedocument.presentationml.notesSlide+xml"/>
  <Override PartName="/ppt/notesSlides/notesSlide24_tf1_tf1_tf1.xml" ContentType="application/vnd.openxmlformats-officedocument.presentationml.notesSlide+xml"/>
  <Override PartName="/ppt/notesSlides/notesSlide11_tf1_tf1_tf1.xml" ContentType="application/vnd.openxmlformats-officedocument.presentationml.notesSlide+xml"/>
  <Override PartName="/ppt/notesSlides/notesSlide24_tf9_tf1_tf1.xml" ContentType="application/vnd.openxmlformats-officedocument.presentationml.notesSlide+xml"/>
  <Override PartName="/ppt/notesSlides/notesSlide3_tf1_tf2_tf1.xml" ContentType="application/vnd.openxmlformats-officedocument.presentationml.notesSlide+xml"/>
  <Override PartName="/ppt/notesSlides/notesSlide24_tf1_tf2_tf1.xml" ContentType="application/vnd.openxmlformats-officedocument.presentationml.notesSlide+xml"/>
  <Override PartName="/ppt/notesSlides/notesSlide4_tf1_tf1_tf1.xml" ContentType="application/vnd.openxmlformats-officedocument.presentationml.notesSlide+xml"/>
  <Override PartName="/ppt/notesSlides/notesSlide24_tf2_tf1_tf1.xml" ContentType="application/vnd.openxmlformats-officedocument.presentationml.notesSlide+xml"/>
  <Override PartName="/ppt/notesSlides/notesSlide5_tf1_tf1_tf1.xml" ContentType="application/vnd.openxmlformats-officedocument.presentationml.notesSlide+xml"/>
  <Override PartName="/ppt/notesSlides/notesSlide24_tf3_tf1_tf1.xml" ContentType="application/vnd.openxmlformats-officedocument.presentationml.notesSlide+xml"/>
  <Override PartName="/ppt/notesSlides/notesSlide6_tf1_tf1_tf1.xml" ContentType="application/vnd.openxmlformats-officedocument.presentationml.notesSlide+xml"/>
  <Override PartName="/ppt/notesSlides/notesSlide24_tf4_tf1_tf1.xml" ContentType="application/vnd.openxmlformats-officedocument.presentationml.notesSlide+xml"/>
  <Override PartName="/ppt/notesSlides/notesSlide7_tf1_tf1_tf1.xml" ContentType="application/vnd.openxmlformats-officedocument.presentationml.notesSlide+xml"/>
  <Override PartName="/ppt/notesSlides/notesSlide24_tf5_tf1_tf1.xml" ContentType="application/vnd.openxmlformats-officedocument.presentationml.notesSlide+xml"/>
  <Override PartName="/ppt/notesSlides/notesSlide8_tf1_tf1_tf1.xml" ContentType="application/vnd.openxmlformats-officedocument.presentationml.notesSlide+xml"/>
  <Override PartName="/ppt/notesSlides/notesSlide24_tf6_tf1_tf1.xml" ContentType="application/vnd.openxmlformats-officedocument.presentationml.notesSlide+xml"/>
  <Override PartName="/ppt/notesSlides/notesSlide9_tf1_tf1_tf1.xml" ContentType="application/vnd.openxmlformats-officedocument.presentationml.notesSlide+xml"/>
  <Override PartName="/ppt/notesSlides/notesSlide24_tf7_tf1_tf1.xml" ContentType="application/vnd.openxmlformats-officedocument.presentationml.notesSlide+xml"/>
  <Override PartName="/ppt/notesSlides/notesSlide10_tf1_tf1_tf1.xml" ContentType="application/vnd.openxmlformats-officedocument.presentationml.notesSlide+xml"/>
  <Override PartName="/ppt/notesSlides/notesSlide24_tf8_tf1_tf1.xml" ContentType="application/vnd.openxmlformats-officedocument.presentationml.notesSlide+xml"/>
  <Override PartName="/ppt/notesSlides/notesSlide12_tf1_tf1_tf1.xml" ContentType="application/vnd.openxmlformats-officedocument.presentationml.notesSlide+xml"/>
  <Override PartName="/ppt/notesSlides/notesSlide24_tf10_tf1_tf1.xml" ContentType="application/vnd.openxmlformats-officedocument.presentationml.notesSlide+xml"/>
  <Override PartName="/ppt/notesSlides/notesSlide13_tf1_tf1_tf1.xml" ContentType="application/vnd.openxmlformats-officedocument.presentationml.notesSlide+xml"/>
  <Override PartName="/ppt/notesSlides/notesSlide24_tf11_tf1_tf1.xml" ContentType="application/vnd.openxmlformats-officedocument.presentationml.notesSlide+xml"/>
  <Override PartName="/ppt/notesSlides/notesSlide14_tf1_tf1_tf1.xml" ContentType="application/vnd.openxmlformats-officedocument.presentationml.notesSlide+xml"/>
  <Override PartName="/ppt/notesSlides/notesSlide24_tf12_tf1_tf1.xml" ContentType="application/vnd.openxmlformats-officedocument.presentationml.notesSlide+xml"/>
  <Override PartName="/ppt/notesSlides/notesSlide15_tf1_tf1_tf1.xml" ContentType="application/vnd.openxmlformats-officedocument.presentationml.notesSlide+xml"/>
  <Override PartName="/ppt/notesSlides/notesSlide24_tf13_tf1_tf1.xml" ContentType="application/vnd.openxmlformats-officedocument.presentationml.notesSlide+xml"/>
  <Override PartName="/ppt/notesSlides/notesSlide16_tf1_tf1_tf1.xml" ContentType="application/vnd.openxmlformats-officedocument.presentationml.notesSlide+xml"/>
  <Override PartName="/ppt/notesSlides/notesSlide24_tf14_tf1_tf1.xml" ContentType="application/vnd.openxmlformats-officedocument.presentationml.notesSlide+xml"/>
  <Override PartName="/ppt/notesSlides/notesSlide17_tf1_tf1_tf1.xml" ContentType="application/vnd.openxmlformats-officedocument.presentationml.notesSlide+xml"/>
  <Override PartName="/ppt/notesSlides/notesSlide24_tf15_tf1_tf1.xml" ContentType="application/vnd.openxmlformats-officedocument.presentationml.notesSlide+xml"/>
  <Override PartName="/ppt/notesSlides/notesSlide18_tf1_tf1_tf1.xml" ContentType="application/vnd.openxmlformats-officedocument.presentationml.notesSlide+xml"/>
  <Override PartName="/ppt/notesSlides/notesSlide24_tf16_tf1_tf1.xml" ContentType="application/vnd.openxmlformats-officedocument.presentationml.notesSlide+xml"/>
  <Override PartName="/ppt/notesSlides/notesSlide19_tf1_tf1_tf1.xml" ContentType="application/vnd.openxmlformats-officedocument.presentationml.notesSlide+xml"/>
  <Override PartName="/ppt/notesSlides/notesSlide20_tf1_tf1_tf1.xml" ContentType="application/vnd.openxmlformats-officedocument.presentationml.notesSlide+xml"/>
  <Override PartName="/ppt/notesSlides/notesSlide24_tf17_tf1_tf1.xml" ContentType="application/vnd.openxmlformats-officedocument.presentationml.notesSlide+xml"/>
  <Override PartName="/ppt/notesSlides/notesSlide21_tf1_tf1_tf1.xml" ContentType="application/vnd.openxmlformats-officedocument.presentationml.notesSlide+xml"/>
  <Override PartName="/ppt/notesSlides/notesSlide22_tf1_tf1_tf1.xml" ContentType="application/vnd.openxmlformats-officedocument.presentationml.notesSlide+xml"/>
  <Override PartName="/ppt/notesSlides/notesSlide23_tf1_tf1_tf1.xml" ContentType="application/vnd.openxmlformats-officedocument.presentationml.notesSlide+xml"/>
  <Override PartName="/ppt/notesSlides/notesSlide24_tf18_tf1_tf1.xml" ContentType="application/vnd.openxmlformats-officedocument.presentationml.notesSlide+xml"/>
  <Override PartName="/ppt/notesSlides/notesSlide24_tf19_tf1_tf1.xml" ContentType="application/vnd.openxmlformats-officedocument.presentationml.notesSlide+xml"/>
  <Override PartName="/ppt/notesSlides/notesSlide25_tf1_tf1_tf1.xml" ContentType="application/vnd.openxmlformats-officedocument.presentationml.notesSlide+xml"/>
  <Override PartName="/ppt/notesSlides/notesSlide24_tf20_tf1_tf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32"/>
  </p:notesMasterIdLst>
  <p:sldIdLst>
    <p:sldId id="256" r:id="rId33"/>
    <p:sldId id="257" r:id="rId34"/>
    <p:sldId id="258" r:id="rId35"/>
    <p:sldId id="259" r:id="rId36"/>
    <p:sldId id="260" r:id="rId37"/>
    <p:sldId id="261" r:id="rId38"/>
    <p:sldId id="262" r:id="rId39"/>
    <p:sldId id="263" r:id="rId40"/>
    <p:sldId id="264" r:id="rId41"/>
    <p:sldId id="265" r:id="rId42"/>
    <p:sldId id="266" r:id="rId43"/>
    <p:sldId id="267" r:id="rId44"/>
    <p:sldId id="268" r:id="rId45"/>
    <p:sldId id="269" r:id="rId46"/>
    <p:sldId id="270" r:id="rId47"/>
    <p:sldId id="271" r:id="rId48"/>
    <p:sldId id="272" r:id="rId49"/>
    <p:sldId id="273" r:id="rId50"/>
    <p:sldId id="274" r:id="rId51"/>
    <p:sldId id="275" r:id="rId52"/>
    <p:sldId id="276" r:id="rId53"/>
    <p:sldId id="277" r:id="rId54"/>
    <p:sldId id="278" r:id="rId55"/>
    <p:sldId id="279" r:id="rId56"/>
    <p:sldId id="280" r:id="rId57"/>
    <p:sldId id="281" r:id="rId58"/>
    <p:sldId id="282" r:id="rId59"/>
    <p:sldId id="283" r:id="rId60"/>
    <p:sldId id="284" r:id="rId61"/>
    <p:sldId id="285" r:id="rId62"/>
    <p:sldId id="286" r:id="rId63"/>
    <p:sldId id="287" r:id="rId64"/>
    <p:sldId id="288" r:id="rId65"/>
    <p:sldId id="289" r:id="rId66"/>
    <p:sldId id="290" r:id="rId67"/>
    <p:sldId id="291" r:id="rId68"/>
    <p:sldId id="292" r:id="rId69"/>
    <p:sldId id="293" r:id="rId70"/>
    <p:sldId id="294" r:id="rId71"/>
    <p:sldId id="295" r:id="rId72"/>
    <p:sldId id="296" r:id="rId73"/>
    <p:sldId id="297" r:id="rId74"/>
    <p:sldId id="298" r:id="rId75"/>
    <p:sldId id="299" r:id="rId76"/>
    <p:sldId id="300" r:id="rId77"/>
    <p:sldId id="301" r:id="rId7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32" Type="http://schemas.openxmlformats.org/officeDocument/2006/relationships/notesMaster" Target="notesMasters/notesMaster1.xml" />
<Relationship Id="rId33" Type="http://schemas.openxmlformats.org/officeDocument/2006/relationships/slide" Target="slides/slide1.xml" /><Relationship Id="rId34" Type="http://schemas.openxmlformats.org/officeDocument/2006/relationships/slide" Target="slides/slide2.xml" /><Relationship Id="rId35" Type="http://schemas.openxmlformats.org/officeDocument/2006/relationships/slide" Target="slides/slide3.xml" /><Relationship Id="rId36" Type="http://schemas.openxmlformats.org/officeDocument/2006/relationships/slide" Target="slides/slide4.xml" /><Relationship Id="rId37" Type="http://schemas.openxmlformats.org/officeDocument/2006/relationships/slide" Target="slides/slide5.xml" /><Relationship Id="rId38" Type="http://schemas.openxmlformats.org/officeDocument/2006/relationships/slide" Target="slides/slide6.xml" /><Relationship Id="rId39" Type="http://schemas.openxmlformats.org/officeDocument/2006/relationships/slide" Target="slides/slide7.xml" /><Relationship Id="rId40" Type="http://schemas.openxmlformats.org/officeDocument/2006/relationships/slide" Target="slides/slide8.xml" /><Relationship Id="rId41" Type="http://schemas.openxmlformats.org/officeDocument/2006/relationships/slide" Target="slides/slide9.xml" /><Relationship Id="rId42" Type="http://schemas.openxmlformats.org/officeDocument/2006/relationships/slide" Target="slides/slide10.xml" /><Relationship Id="rId43" Type="http://schemas.openxmlformats.org/officeDocument/2006/relationships/slide" Target="slides/slide11.xml" /><Relationship Id="rId44" Type="http://schemas.openxmlformats.org/officeDocument/2006/relationships/slide" Target="slides/slide12.xml" /><Relationship Id="rId45" Type="http://schemas.openxmlformats.org/officeDocument/2006/relationships/slide" Target="slides/slide13.xml" /><Relationship Id="rId46" Type="http://schemas.openxmlformats.org/officeDocument/2006/relationships/slide" Target="slides/slide14.xml" /><Relationship Id="rId47" Type="http://schemas.openxmlformats.org/officeDocument/2006/relationships/slide" Target="slides/slide15.xml" /><Relationship Id="rId48" Type="http://schemas.openxmlformats.org/officeDocument/2006/relationships/slide" Target="slides/slide16.xml" /><Relationship Id="rId49" Type="http://schemas.openxmlformats.org/officeDocument/2006/relationships/slide" Target="slides/slide17.xml" /><Relationship Id="rId50" Type="http://schemas.openxmlformats.org/officeDocument/2006/relationships/slide" Target="slides/slide18.xml" /><Relationship Id="rId51" Type="http://schemas.openxmlformats.org/officeDocument/2006/relationships/slide" Target="slides/slide19.xml" /><Relationship Id="rId52" Type="http://schemas.openxmlformats.org/officeDocument/2006/relationships/slide" Target="slides/slide20.xml" /><Relationship Id="rId53" Type="http://schemas.openxmlformats.org/officeDocument/2006/relationships/slide" Target="slides/slide21.xml" /><Relationship Id="rId54" Type="http://schemas.openxmlformats.org/officeDocument/2006/relationships/slide" Target="slides/slide22.xml" /><Relationship Id="rId55" Type="http://schemas.openxmlformats.org/officeDocument/2006/relationships/slide" Target="slides/slide23.xml" /><Relationship Id="rId56" Type="http://schemas.openxmlformats.org/officeDocument/2006/relationships/slide" Target="slides/slide24.xml" /><Relationship Id="rId57" Type="http://schemas.openxmlformats.org/officeDocument/2006/relationships/slide" Target="slides/slide25.xml" /><Relationship Id="rId58" Type="http://schemas.openxmlformats.org/officeDocument/2006/relationships/slide" Target="slides/slide26.xml" /><Relationship Id="rId59" Type="http://schemas.openxmlformats.org/officeDocument/2006/relationships/slide" Target="slides/slide27.xml" /><Relationship Id="rId60" Type="http://schemas.openxmlformats.org/officeDocument/2006/relationships/slide" Target="slides/slide28.xml" /><Relationship Id="rId61" Type="http://schemas.openxmlformats.org/officeDocument/2006/relationships/slide" Target="slides/slide29.xml" /><Relationship Id="rId62" Type="http://schemas.openxmlformats.org/officeDocument/2006/relationships/slide" Target="slides/slide30.xml" /><Relationship Id="rId63" Type="http://schemas.openxmlformats.org/officeDocument/2006/relationships/slide" Target="slides/slide31.xml" /><Relationship Id="rId64" Type="http://schemas.openxmlformats.org/officeDocument/2006/relationships/slide" Target="slides/slide32.xml" /><Relationship Id="rId65" Type="http://schemas.openxmlformats.org/officeDocument/2006/relationships/slide" Target="slides/slide33.xml" /><Relationship Id="rId66" Type="http://schemas.openxmlformats.org/officeDocument/2006/relationships/slide" Target="slides/slide34.xml" /><Relationship Id="rId67" Type="http://schemas.openxmlformats.org/officeDocument/2006/relationships/slide" Target="slides/slide35.xml" /><Relationship Id="rId68" Type="http://schemas.openxmlformats.org/officeDocument/2006/relationships/slide" Target="slides/slide36.xml" /><Relationship Id="rId69" Type="http://schemas.openxmlformats.org/officeDocument/2006/relationships/slide" Target="slides/slide37.xml" /><Relationship Id="rId70" Type="http://schemas.openxmlformats.org/officeDocument/2006/relationships/slide" Target="slides/slide38.xml" /><Relationship Id="rId71" Type="http://schemas.openxmlformats.org/officeDocument/2006/relationships/slide" Target="slides/slide39.xml" /><Relationship Id="rId72" Type="http://schemas.openxmlformats.org/officeDocument/2006/relationships/slide" Target="slides/slide40.xml" /><Relationship Id="rId73" Type="http://schemas.openxmlformats.org/officeDocument/2006/relationships/slide" Target="slides/slide41.xml" /><Relationship Id="rId74" Type="http://schemas.openxmlformats.org/officeDocument/2006/relationships/slide" Target="slides/slide42.xml" /><Relationship Id="rId75" Type="http://schemas.openxmlformats.org/officeDocument/2006/relationships/slide" Target="slides/slide43.xml" /><Relationship Id="rId76" Type="http://schemas.openxmlformats.org/officeDocument/2006/relationships/slide" Target="slides/slide44.xml" /><Relationship Id="rId77" Type="http://schemas.openxmlformats.org/officeDocument/2006/relationships/slide" Target="slides/slide45.xml" /><Relationship Id="rId78" Type="http://schemas.openxmlformats.org/officeDocument/2006/relationships/slide" Target="slides/slide46.xml" />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.xml" />
</Relationships>
</file>

<file path=ppt/notesSlides/_rels/notesSlide2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.xml" />
</Relationships>
</file>

<file path=ppt/notesSlides/_rels/notesSlide3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.xml" />
</Relationships>
</file>

<file path=ppt/notesSlides/_rels/notesSlide3_tf1_tf2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7.xml" />
</Relationships>
</file>

<file path=ppt/notesSlides/_rels/notesSlide4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9.xml" />
</Relationships>
</file>

<file path=ppt/notesSlides/_rels/notesSlide5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1.xml" />
</Relationships>
</file>

<file path=ppt/notesSlides/_rels/notesSlide6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3.xml" />
</Relationships>
</file>

<file path=ppt/notesSlides/_rels/notesSlide7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5.xml" />
</Relationships>
</file>

<file path=ppt/notesSlides/_rels/notesSlide8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7.xml" />
</Relationships>
</file>

<file path=ppt/notesSlides/_rels/notesSlide9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9.xml" />
</Relationships>
</file>

<file path=ppt/notesSlides/_rels/notesSlide10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1.xml" />
</Relationships>
</file>

<file path=ppt/notesSlides/_rels/notesSlide11_tf1_tf1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12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3.xml" />
</Relationships>
</file>

<file path=ppt/notesSlides/_rels/notesSlide13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5.xml" />
</Relationships>
</file>

<file path=ppt/notesSlides/_rels/notesSlide14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7.xml" />
</Relationships>
</file>

<file path=ppt/notesSlides/_rels/notesSlide15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9.xml" />
</Relationships>
</file>

<file path=ppt/notesSlides/_rels/notesSlide16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1.xml" />
</Relationships>
</file>

<file path=ppt/notesSlides/_rels/notesSlide17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3.xml" />
</Relationships>
</file>

<file path=ppt/notesSlides/_rels/notesSlide18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5.xml" />
</Relationships>
</file>

<file path=ppt/notesSlides/_rels/notesSlide19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7.xml" />
</Relationships>
</file>

<file path=ppt/notesSlides/_rels/notesSlide20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8.xml" />
</Relationships>
</file>

<file path=ppt/notesSlides/_rels/notesSlide21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0.xml" />
</Relationships>
</file>

<file path=ppt/notesSlides/_rels/notesSlide22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1.xml" />
</Relationships>
</file>

<file path=ppt/notesSlides/_rels/notesSlide23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2.xml" />
</Relationships>
</file>

<file path=ppt/notesSlides/_rels/notesSlide24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.xml" />
</Relationships>
</file>

<file path=ppt/notesSlides/_rels/notesSlide24_tf1_tf2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8.xml" />
</Relationships>
</file>

<file path=ppt/notesSlides/_rels/notesSlide24_tf2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0.xml" />
</Relationships>
</file>

<file path=ppt/notesSlides/_rels/notesSlide24_tf3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2.xml" />
</Relationships>
</file>

<file path=ppt/notesSlides/_rels/notesSlide24_tf4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4.xml" />
</Relationships>
</file>

<file path=ppt/notesSlides/_rels/notesSlide24_tf5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6.xml" />
</Relationships>
</file>

<file path=ppt/notesSlides/_rels/notesSlide24_tf6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8.xml" />
</Relationships>
</file>

<file path=ppt/notesSlides/_rels/notesSlide24_tf7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0.xml" />
</Relationships>
</file>

<file path=ppt/notesSlides/_rels/notesSlide24_tf8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2.xml" />
</Relationships>
</file>

<file path=ppt/notesSlides/_rels/notesSlide24_tf9_tf1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24_tf10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4.xml" />
</Relationships>
</file>

<file path=ppt/notesSlides/_rels/notesSlide24_tf1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6.xml" />
</Relationships>
</file>

<file path=ppt/notesSlides/_rels/notesSlide24_tf12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8.xml" />
</Relationships>
</file>

<file path=ppt/notesSlides/_rels/notesSlide24_tf13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0.xml" />
</Relationships>
</file>

<file path=ppt/notesSlides/_rels/notesSlide24_tf14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2.xml" />
</Relationships>
</file>

<file path=ppt/notesSlides/_rels/notesSlide24_tf15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4.xml" />
</Relationships>
</file>

<file path=ppt/notesSlides/_rels/notesSlide24_tf16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6.xml" />
</Relationships>
</file>

<file path=ppt/notesSlides/_rels/notesSlide24_tf17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9.xml" />
</Relationships>
</file>

<file path=ppt/notesSlides/_rels/notesSlide24_tf18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3.xml" />
</Relationships>
</file>

<file path=ppt/notesSlides/_rels/notesSlide24_tf19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4.xml" />
</Relationships>
</file>

<file path=ppt/notesSlides/_rels/notesSlide24_tf20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6.xml" />
</Relationships>
</file>

<file path=ppt/notesSlides/_rels/notesSlide25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5.xml" />
</Relationships>
</file>

<file path=ppt/notesSlides/notesSlide1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本次汇报首先按原论文的论证顺序介绍能量模型、PISA 应用和实证结果，然后再单独说明我们的复现与 learnenergy Package。主线是从能量函数得到联合概率，再用数据学习参数并检验证据。</a:t>
            </a:r>
          </a:p>
        </p:txBody>
      </p:sp>
    </p:spTree>
  </p:cSld>
  <p:clrMapOvr>
    <a:masterClrMapping/>
  </p:clrMapOvr>
</p:notes>
</file>

<file path=ppt/notesSlides/notesSlide2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论文关心多个教育变量相互依赖时，如何不把它们简化成彼此独立的单变量关系。它的三项主要贡献是建立联合概率模型、定义经网络传播的 effective interaction，以及用温度响应讨论临界性。</a:t>
            </a:r>
          </a:p>
        </p:txBody>
      </p:sp>
    </p:spTree>
  </p:cSld>
  <p:clrMapOvr>
    <a:masterClrMapping/>
  </p:clrMapOvr>
</p:notes>
</file>

<file path=ppt/notesSlides/notesSlide3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回归与结构方程模型通常以目标变量或事先指定的路径为中心。本文模型则先学习所有二值节点的联合分布，再从该分布计算相关、高阶统计和条件变化。这些量描述统计结构，不自动等于因果效应。</a:t>
            </a:r>
          </a:p>
        </p:txBody>
      </p:sp>
    </p:spTree>
  </p:cSld>
  <p:clrMapOvr>
    <a:masterClrMapping/>
  </p:clrMapOvr>
</p:notes>
</file>

<file path=ppt/notesSlides/notesSlide3_tf1_tf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Hopfield 网络在本文中不是一个普通的前馈预测器，而是联合状态模型的结构基础。它用节点项 h、成对相互作用 J 和能量函数 E 描述所有二值变量共同形成的状态。Maximum Entropy 与 Boltzmann 分布随后把能量转换为联合概率，因此模型既能描述变量关系，也能计算高阶统计和条件诊断。J 表示模型中的条件统计相互作用，不应直接解释为因果效应。</a:t>
            </a:r>
          </a:p>
        </p:txBody>
      </p:sp>
    </p:spTree>
  </p:cSld>
  <p:clrMapOvr>
    <a:masterClrMapping/>
  </p:clrMapOvr>
</p:notes>
</file>

<file path=ppt/notesSlides/notesSlide4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论文先用能量景观描述学习：每个状态对应一个能量，系统倾向进入更低能量的稳定区域。多个局部低谷表示不同的稳定状态，这为后面的 Hopfield 能量函数提供直观背景。</a:t>
            </a:r>
          </a:p>
        </p:txBody>
      </p:sp>
    </p:spTree>
  </p:cSld>
  <p:clrMapOvr>
    <a:masterClrMapping/>
  </p:clrMapOvr>
</p:notes>
</file>

<file path=ppt/notesSlides/notesSlide5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Hopfield 形式用局部场 h 和成对 interaction J 定义每个二值状态的能量。h 描述节点单独偏向于零或一的程度，J 描述节点对在其他条件不变时的相容或抵消结构。能量越低的状态在后续概率模型中越容易出现。</a:t>
            </a:r>
          </a:p>
        </p:txBody>
      </p:sp>
    </p:spTree>
  </p:cSld>
  <p:clrMapOvr>
    <a:masterClrMapping/>
  </p:clrMapOvr>
</p:notes>
</file>

<file path=ppt/notesSlides/notesSlide6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真实教育数据存在个体差异和测量噪声，因此不能只选一个最低能量状态。最大熵原理要求在满足已知一阶和二阶统计约束的前提下，保留尽可能多的其他不确定性。这导出对数概率由一次项和成对项组成的最小假设模型。</a:t>
            </a:r>
          </a:p>
        </p:txBody>
      </p:sp>
    </p:spTree>
  </p:cSld>
  <p:clrMapOvr>
    <a:masterClrMapping/>
  </p:clrMapOvr>
</p:notes>
</file>

<file path=ppt/notesSlides/notesSlide7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将能量与熵结合得到自由能，Boltzmann 分布则把每个状态的能量映射为概率。配分函数 Z 负责归一化，温度 T 控制能量差异对概率的影响强度。因此，h和 J 不只给出一张网络图，而是定义了所有状态的完整联合分布。</a:t>
            </a:r>
          </a:p>
        </p:txBody>
      </p:sp>
    </p:spTree>
  </p:cSld>
  <p:clrMapOvr>
    <a:masterClrMapping/>
  </p:clrMapOvr>
</p:notes>
</file>

<file path=ppt/notesSlides/notesSlide8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低温时能量占主导，概率集中在少数状态；高温时熵占主导，状态更分散。临界区域位于两者之间，对参数或温度扰动的响应最大。论文后面会以 T 等于一的拟合点与响应峰值的位置进行比较。</a:t>
            </a:r>
          </a:p>
        </p:txBody>
      </p:sp>
    </p:spTree>
  </p:cSld>
  <p:clrMapOvr>
    <a:masterClrMapping/>
  </p:clrMapOvr>
</p:notes>
</file>

<file path=ppt/notesSlides/notesSlide9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论文使用 PISA 二零一八数据，覆盖五个教育系统和数学、科学、阅读三个 outcome。每个模型使用十八个背景因素加一个 outcome，形成十九节点系统。五地区乘三 outcome，所以论文最终比较十五个地区与学科模型。</a:t>
            </a:r>
          </a:p>
        </p:txBody>
      </p:sp>
    </p:spTree>
  </p:cSld>
  <p:clrMapOvr>
    <a:masterClrMapping/>
  </p:clrMapOvr>
</p:notes>
</file>

<file path=ppt/notesSlides/notesSlide10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十九个节点产生十九个局部场 h，以及十九选二、即一百七十一个对称 interaction J。每个地区和 outcome 组合都学习一套独立参数。这个结构是后面训练、moment 验证和 effective interaction 计算的共同起点。</a:t>
            </a:r>
          </a:p>
        </p:txBody>
      </p:sp>
    </p:spTree>
  </p:cSld>
  <p:clrMapOvr>
    <a:masterClrMapping/>
  </p:clrMapOvr>
</p:notes>
</file>

<file path=ppt/notesSlides/notesSlide11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在介绍 Hopfield 状态和能量函数之前，必须先说明节点的零和一从哪里来。论文先处理缺失值，在每次 repeat 内计算 z-score，再按 Appendix A 的阈值转换为二值状态。这个步骤定义了后续状态空间、能量参数和 moments 的语义，因此二值化属于模型前提，而不只是一般的数据清洗。它也会损失连续信息，所以阈值规则必须随模型保存。</a:t>
            </a:r>
          </a:p>
        </p:txBody>
      </p:sp>
    </p:spTree>
  </p:cSld>
  <p:clrMapOvr>
    <a:masterClrMapping/>
  </p:clrMapOvr>
</p:notes>
</file>

<file path=ppt/notesSlides/notesSlide12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训练目标是最小化数据分布与模型分布之间的 KL divergence。对 h 和 J 求导后，梯度等于数据 moment 与模型 moment 之差，因而迭代本质上是不断使一阶和二阶统计对齐。十九节点时可以精确枚举全部状态，更大规模则需要 Monte Carlo 估计模型期望。</a:t>
            </a:r>
          </a:p>
        </p:txBody>
      </p:sp>
    </p:spTree>
  </p:cSld>
  <p:clrMapOvr>
    <a:masterClrMapping/>
  </p:clrMapOvr>
</p:notes>
</file>

<file path=ppt/notesSlides/notesSlide13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论文有十五个概念上的最终模型，分别对应五个地区与三个 outcome。每个组合又重复十六次、每次抽样一千二百人，所以产生二百四十次训练运行。重复训练用于评估参数与结论的稳定性，并不意味着最终要向用户交付二百四十个不同任务模型。</a:t>
            </a:r>
          </a:p>
        </p:txBody>
      </p:sp>
    </p:spTree>
  </p:cSld>
  <p:clrMapOvr>
    <a:masterClrMapping/>
  </p:clrMapOvr>
</p:notes>
</file>

<file path=ppt/notesSlides/notesSlide14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Figure 3 检查模型重建的一阶和二阶 moments 是否与数据一致。论文报告一阶 magnetization 相关系数为零点九九九，二阶 correlation 为零点九八二。因为这两类统计直接参与梯度训练，它们主要证明优化过程已将目标 moment 对齐。</a:t>
            </a:r>
          </a:p>
        </p:txBody>
      </p:sp>
    </p:spTree>
  </p:cSld>
  <p:clrMapOvr>
    <a:masterClrMapping/>
  </p:clrMapOvr>
</p:notes>
</file>

<file path=ppt/notesSlides/notesSlide15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三阶和四阶 moments 没有直接出现在 pairwise 训练约束中，因此是更严格的外部结构检验。论文 Figure 4 报告三阶相关系数为零点九八二，四阶为零点九四六。这表明仅拟合 pairwise 结构也能保留相当一部分更高阶的联合模式。</a:t>
            </a:r>
          </a:p>
        </p:txBody>
      </p:sp>
    </p:spTree>
  </p:cSld>
  <p:clrMapOvr>
    <a:masterClrMapping/>
  </p:clrMapOvr>
</p:notes>
</file>

<file path=ppt/notesSlides/notesSlide16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每个模型的一百七十一个 J 并不近似对称 Gaussian 分布。论文的 Figure 5 和 Table 3 给出偏度大于二点八、峰度大于十一，表明多数关系较弱而少数关系形成长尾。这是 interaction 存在内部结构的统计信号，但不直接给出这些关系的因果来源。</a:t>
            </a:r>
          </a:p>
        </p:txBody>
      </p:sp>
    </p:spTree>
  </p:cSld>
  <p:clrMapOvr>
    <a:masterClrMapping/>
  </p:clrMapOvr>
</p:notes>
</file>

<file path=ppt/notesSlides/notesSlide17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Effective interaction 不只读取目标与某个节点之间的单条 J。它将一个节点固定为零，让其他节点在新条件下重新分布，再比较 outcome 的有效场变化。原论文用 Monte Carlo 估计这个经整个网络传播的累计变化。</a:t>
            </a:r>
          </a:p>
        </p:txBody>
      </p:sp>
    </p:spTree>
  </p:cSld>
  <p:clrMapOvr>
    <a:masterClrMapping/>
  </p:clrMapOvr>
</p:notes>
</file>

<file path=ppt/notesSlides/notesSlide18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论文用每个模型内 effective interaction 的均值加减一个标准差来摘要 facilitative 与 inhibitory 侧的强 interaction。页面中的多面板图是我们按论文 Monte Carlo 路径得到的复现结果。Home possessions 和 Cultural possessions 呈现较共通的模式，而教学方式、动机、欺凌与 ICT 使用在地区或学科间有差异。这些结果是统计诊断，不是直接的现实干预效果。</a:t>
            </a:r>
          </a:p>
        </p:txBody>
      </p:sp>
    </p:spTree>
  </p:cSld>
  <p:clrMapOvr>
    <a:masterClrMapping/>
  </p:clrMapOvr>
</p:notes>
</file>

<file path=ppt/notesSlides/notesSlide19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论文将跨地区和多个 outcome 中较稳定的因素与地区特异因素分开解读。Home possessions 与 Cultural possessions 较稳定地出现在 facilitative 一侧，纪律氛围、教师主导教学、动机、欺凌和 ICT 使用则更依赖语境。模型能发现模式，但文化、制度或测量误差等原因需要额外理论与数据判断。</a:t>
            </a:r>
          </a:p>
        </p:txBody>
      </p:sp>
    </p:spTree>
  </p:cSld>
  <p:clrMapOvr>
    <a:masterClrMapping/>
  </p:clrMapOvr>
</p:notes>
</file>

<file path=ppt/notesSlides/notesSlide20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临界性分析固定学习到的 h 和 J，只改变无量纲温度 T，并观察平均能量和 magnetization 的导数。页面中的曲线是我们的温度扫描复现。论文的核心观察是五个地区的响应峰值都靠近 T 等于一，其中 Hong Kong 与 Chinese Taipei 略微更接近峰值。</a:t>
            </a:r>
          </a:p>
        </p:txBody>
      </p:sp>
    </p:spTree>
  </p:cSld>
  <p:clrMapOvr>
    <a:masterClrMapping/>
  </p:clrMapOvr>
</p:notes>
</file>

<file path=ppt/notesSlides/notesSlide21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论文进一步把参数不确定性与自由能变化联系起来。当 h 或 J 有估计误差时，局部响应系数 chi 决定这些扰动如何改变自由能，而临界附近的响应最大。这是论文对系统为何可能接近临界区域的理论解释，而不是对学习者的个体因果结论。</a:t>
            </a:r>
          </a:p>
        </p:txBody>
      </p:sp>
    </p:spTree>
  </p:cSld>
  <p:clrMapOvr>
    <a:masterClrMapping/>
  </p:clrMapOvr>
</p:notes>
</file>

<file path=ppt/notesSlides/notesSlide22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论文的方法优势是同时处理多个依赖变量、构造完整联合分布，并由此计算高阶统计、冻结节点和温度响应。其局限包括只选择十八个背景变量、二值化造成信息损失，以及 h 和 J 仍需要理论解释。因此，这是一个 trial model 和统计分析框架，不等于完整学习机制或因果模型。</a:t>
            </a:r>
          </a:p>
        </p:txBody>
      </p:sp>
    </p:spTree>
  </p:cSld>
  <p:clrMapOvr>
    <a:masterClrMapping/>
  </p:clrMapOvr>
</p:notes>
</file>

<file path=ppt/notesSlides/notesSlide23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这一页开始不再是论文原始结果，而是我们在 PISA 二零一八数据上的复现。一阶和二阶 moments 与论文一样非常接近完全对齐，三阶和四阶相关系数分别为约零点九七九八和零点九三三八。它们与论文的零点九八二和零点九四六相近，但不宣称逐点完全一致。</a:t>
            </a:r>
          </a:p>
        </p:txBody>
      </p:sp>
    </p:spTree>
  </p:cSld>
  <p:clrMapOvr>
    <a:masterClrMapping/>
  </p:clrMapOvr>
</p:notes>
</file>

<file path=ppt/notesSlides/notesSlide24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_tf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实现中首先生成或采样联合状态，再由 Hopfield 能量函数为每个状态计算 E。对负能量应用 softmax 后得到归一化联合概率，模型矩和后续诊断都从这个分布计算。这里展示的是 Package 内部实现映射，普通使用者通常只需要调用 fit 和 analyze。</a:t>
            </a:r>
          </a:p>
        </p:txBody>
      </p:sp>
    </p:spTree>
  </p:cSld>
  <p:clrMapOvr>
    <a:masterClrMapping/>
  </p:clrMapOvr>
</p:notes>
</file>

<file path=ppt/notesSlides/notesSlide24_tf2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3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4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5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6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7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8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9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代码中，DataConfig 同时记录标准化方法和二值化阈值，fit_table 按相同口径处理表格再进入训练。这样模型保存后可以复用完全一致的节点定义，不会在预测或复现时改变零和一的含义。下一页在这个状态定义基础上介绍 Hopfield 网络如何计算能量。</a:t>
            </a:r>
          </a:p>
        </p:txBody>
      </p:sp>
    </p:spTree>
  </p:cSld>
  <p:clrMapOvr>
    <a:masterClrMapping/>
  </p:clrMapOvr>
</p:notes>
</file>

<file path=ppt/notesSlides/notesSlide24_tf10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2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3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4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5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6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7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8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9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20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5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需要最后明确三层边界。原论文是二值节点的 pairwise maximum-entropy 模型，learnenergy 将其数据契约、训练、诊断和保存工程化，而 ContinuousEnergyModel 与 conditional_mean 是 Package 的新增扩展。这样既能严格复现论文，也能在不混淆来源的前提下支持非二值数据。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arnenergy-foundations-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arnenergy-foundations-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Arial Unicode MS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Arial Unicode MS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 lang="zh-CN">
          <a:solidFill>
            <a:schemeClr val="tx1"/>
          </a:solidFill>
          <a:latin typeface="+mn-lt"/>
          <a:ea typeface="Arial Unicode MS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Arial Unicode MS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 lang="zh-CN">
          <a:solidFill>
            <a:schemeClr val="tx1"/>
          </a:solidFill>
          <a:latin typeface="+mn-lt"/>
          <a:ea typeface="Arial Unicode MS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 lang="zh-CN">
          <a:solidFill>
            <a:schemeClr val="tx1"/>
          </a:solidFill>
          <a:latin typeface="+mn-lt"/>
          <a:ea typeface="Arial Unicode MS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Arial Unicode MS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Arial Unicode MS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Arial Unicode MS"/>
          <a:cs typeface="+mn-cs"/>
        </a:defRPr>
      </a:lvl1pPr>
      <a:lvl2pPr marL="4572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Arial Unicode MS"/>
          <a:cs typeface="+mn-cs"/>
        </a:defRPr>
      </a:lvl2pPr>
      <a:lvl3pPr marL="914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Arial Unicode MS"/>
          <a:cs typeface="+mn-cs"/>
        </a:defRPr>
      </a:lvl3pPr>
      <a:lvl4pPr marL="13716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Arial Unicode MS"/>
          <a:cs typeface="+mn-cs"/>
        </a:defRPr>
      </a:lvl4pPr>
      <a:lvl5pPr marL="18288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Arial Unicode MS"/>
          <a:cs typeface="+mn-cs"/>
        </a:defRPr>
      </a:lvl5pPr>
      <a:lvl6pPr marL="22860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Arial Unicode MS"/>
          <a:cs typeface="+mn-cs"/>
        </a:defRPr>
      </a:lvl6pPr>
      <a:lvl7pPr marL="27432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Arial Unicode MS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_tf1_tf1_tf1.xml" />
</Relationships>
</file>

<file path=ppt/slides/_rels/slide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_tf1_tf1_tf1.xml" />
</Relationships>
</file>

<file path=ppt/slides/_rels/slide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3_tf1_tf1_tf1.xml" />
</Relationships>
</file>

<file path=ppt/slides/_rels/slide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_tf1_tf1.xml" />
</Relationships>
</file>

<file path=ppt/slides/_rels/slide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11_tf1_tf1_tf1.xml"/>
</Relationships>
</file>

<file path=ppt/slides/_rels/slide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24_tf9_tf1_tf1.xml"/>
</Relationships>
</file>

<file path=ppt/slides/_rels/slide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3_tf1_tf2_tf1.xml" />
</Relationships>
</file>

<file path=ppt/slides/_rels/slide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24_tf1_tf2_tf1.xml" />
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4_tf1_tf1_tf1.xml" />
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2_tf1_tf1.xml" />
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5_tf1_tf1_tf1.xml" />
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3_tf1_tf1.xml" />
</Relationships>
</file>

<file path=ppt/slides/_rels/slide1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6_tf1_tf1_tf1.xml" />
</Relationships>
</file>

<file path=ppt/slides/_rels/slide1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4_tf1_tf1.xml" />
</Relationships>
</file>

<file path=ppt/slides/_rels/slide1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_tf1_tf1_tf1.xml" />
</Relationships>
</file>

<file path=ppt/slides/_rels/slide1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5_tf1_tf1.xml" />
</Relationships>
</file>

<file path=ppt/slides/_rels/slide1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8_tf1_tf1_tf1.xml" />
</Relationships>
</file>

<file path=ppt/slides/_rels/slide1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6_tf1_tf1.xml" />
</Relationships>
</file>

<file path=ppt/slides/_rels/slide1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9_tf1_tf1_tf1.xml" />
</Relationships>
</file>

<file path=ppt/slides/_rels/slide2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7_tf1_tf1.xml" />
</Relationships>
</file>

<file path=ppt/slides/_rels/slide2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0_tf1_tf1_tf1.xml" />
</Relationships>
</file>

<file path=ppt/slides/_rels/slide2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8_tf1_tf1.xml" />
</Relationships>
</file>

<file path=ppt/slides/_rels/slide2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2_tf1_tf1_tf1.xml" />
</Relationships>
</file>

<file path=ppt/slides/_rels/slide2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0_tf1_tf1.xml" />
</Relationships>
</file>

<file path=ppt/slides/_rels/slide2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3_tf1_tf1_tf1.xml" />
</Relationships>
</file>

<file path=ppt/slides/_rels/slide2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1_tf1_tf1.xml" />
</Relationships>
</file>

<file path=ppt/slides/_rels/slide2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4_tf1_tf1_tf1.xml" />
<Relationship Id="rId3" Type="http://schemas.openxmlformats.org/officeDocument/2006/relationships/image" Target="../media/image_247fdc8132b94b13.png" /></Relationships>
</file>

<file path=ppt/slides/_rels/slide2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2_tf1_tf1.xml" />
</Relationships>
</file>

<file path=ppt/slides/_rels/slide2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5_tf1_tf1_tf1.xml" />
<Relationship Id="rId3" Type="http://schemas.openxmlformats.org/officeDocument/2006/relationships/image" Target="../media/image_e8d3421f2a4ad2f7.png" /></Relationships>
</file>

<file path=ppt/slides/_rels/slide3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3_tf1_tf1.xml" />
</Relationships>
</file>

<file path=ppt/slides/_rels/slide3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6_tf1_tf1_tf1.xml" />
<Relationship Id="rId3" Type="http://schemas.openxmlformats.org/officeDocument/2006/relationships/image" Target="../media/image_6da2e745b974bc0e.png" /></Relationships>
</file>

<file path=ppt/slides/_rels/slide3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4_tf1_tf1.xml" />
</Relationships>
</file>

<file path=ppt/slides/_rels/slide3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7_tf1_tf1_tf1.xml" />
</Relationships>
</file>

<file path=ppt/slides/_rels/slide3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5_tf1_tf1.xml" />
</Relationships>
</file>

<file path=ppt/slides/_rels/slide3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29e9109d43d37be5.png" />
  <Relationship Id="rId3" Type="http://schemas.openxmlformats.org/officeDocument/2006/relationships/notesSlide" Target="../notesSlides/notesSlide18_tf1_tf1_tf1.xml" />
</Relationships>
</file>

<file path=ppt/slides/_rels/slide3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6_tf1_tf1.xml" />
</Relationships>
</file>

<file path=ppt/slides/_rels/slide3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9_tf1_tf1_tf1.xml" />
<Relationship Id="rId3" Type="http://schemas.openxmlformats.org/officeDocument/2006/relationships/image" Target="../media/image_68e3cc4ce54eb3f0.png" /></Relationships>
</file>

<file path=ppt/slides/_rels/slide3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7025ac01a04d5fe6.png" />
  <Relationship Id="rId3" Type="http://schemas.openxmlformats.org/officeDocument/2006/relationships/notesSlide" Target="../notesSlides/notesSlide20_tf1_tf1_tf1.xml" />
</Relationships>
</file>

<file path=ppt/slides/_rels/slide3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7_tf1_tf1.xml" />
</Relationships>
</file>

<file path=ppt/slides/_rels/slide4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1_tf1_tf1_tf1.xml" />
</Relationships>
</file>

<file path=ppt/slides/_rels/slide4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2_tf1_tf1_tf1.xml" />
</Relationships>
</file>

<file path=ppt/slides/_rels/slide4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247fdc8132b94b13.png" />
  <Relationship Id="rId3" Type="http://schemas.openxmlformats.org/officeDocument/2006/relationships/image" Target="../media/image_e8d3421f2a4ad2f7.png" />
  <Relationship Id="rId4" Type="http://schemas.openxmlformats.org/officeDocument/2006/relationships/notesSlide" Target="../notesSlides/notesSlide23_tf1_tf1_tf1.xml" />
</Relationships>
</file>

<file path=ppt/slides/_rels/slide4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8_tf1_tf1.xml" />
</Relationships>
</file>

<file path=ppt/slides/_rels/slide4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9_tf1_tf1.xml" />
</Relationships>
</file>

<file path=ppt/slides/_rels/slide4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5_tf1_tf1_tf1.xml" />
</Relationships>
</file>

<file path=ppt/slides/_rels/slide4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20_tf1_tf1.xml" 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01-title"/>
          <p:cNvGrpSpPr/>
          <p:nvPr/>
        </p:nvGrpSpPr>
        <p:grpSpPr>
          <a:xfrm>
            <a:off x="590550" y="831056"/>
            <a:ext cx="6648450" cy="2207419"/>
            <a:chOff x="590550" y="831056"/>
            <a:chExt cx="6648450" cy="22074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831056"/>
              <a:ext cx="23699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TECHNICAL REPORT · PISA 2018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1029652"/>
              <a:ext cx="525746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FFFFFF"/>
                  </a:solidFill>
                  <a:latin typeface="+mj-lt"/>
                  <a:ea typeface="Arial Unicode MS"/>
                  <a:cs typeface="+mj-cs"/>
                </a:rPr>
                <a:t>A Neural Network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1620202"/>
              <a:ext cx="568990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FFFFFF"/>
                  </a:solidFill>
                  <a:latin typeface="+mj-lt"/>
                  <a:ea typeface="Arial Unicode MS"/>
                  <a:cs typeface="+mj-cs"/>
                </a:rPr>
                <a:t>Model for Learning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0075" y="2426494"/>
              <a:ext cx="393833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原论文逻辑、复现与 Package 实现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3028950"/>
              <a:ext cx="6629400" cy="9525"/>
            </a:xfrm>
            <a:custGeom>
              <a:avLst/>
              <a:gdLst/>
              <a:ahLst/>
              <a:cxnLst/>
              <a:rect l="l" t="t" r="r" b="b"/>
              <a:pathLst>
                <a:path w="6629400" h="9525">
                  <a:moveTo>
                    <a:pt x="0" y="0"/>
                  </a:moveTo>
                  <a:lnTo>
                    <a:pt x="66294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8" name="p01-track"/>
          <p:cNvGrpSpPr/>
          <p:nvPr/>
        </p:nvGrpSpPr>
        <p:grpSpPr>
          <a:xfrm>
            <a:off x="1352550" y="4076700"/>
            <a:ext cx="9124950" cy="1274445"/>
            <a:chOff x="1352550" y="4076700"/>
            <a:chExt cx="9124950" cy="1274445"/>
          </a:xfrm>
        </p:grpSpPr>
        <p:sp>
          <p:nvSpPr>
            <p:cNvPr id="8" name="Line 8"/>
            <p:cNvSpPr/>
            <p:nvPr/>
          </p:nvSpPr>
          <p:spPr>
            <a:xfrm>
              <a:off x="1352550" y="4476750"/>
              <a:ext cx="9124950" cy="9525"/>
            </a:xfrm>
            <a:custGeom>
              <a:avLst/>
              <a:gdLst/>
              <a:ahLst/>
              <a:cxnLst/>
              <a:rect l="l" t="t" r="r" b="b"/>
              <a:pathLst>
                <a:path w="9124950" h="9525">
                  <a:moveTo>
                    <a:pt x="0" y="0"/>
                  </a:moveTo>
                  <a:lnTo>
                    <a:pt x="9124950" y="0"/>
                  </a:lnTo>
                </a:path>
              </a:pathLst>
            </a:custGeom>
            <a:noFill/>
            <a:ln w="28575">
              <a:solidFill>
                <a:srgbClr val="5C6B66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790700" y="4076700"/>
              <a:ext cx="800100" cy="80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505450" y="4076700"/>
              <a:ext cx="800100" cy="80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220200" y="4076700"/>
              <a:ext cx="800100" cy="80010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080464" y="4326255"/>
              <a:ext cx="2205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08495" y="4326255"/>
              <a:ext cx="194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72527" y="4342448"/>
              <a:ext cx="2954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46802" y="5057775"/>
              <a:ext cx="687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Energy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60012" y="5057775"/>
              <a:ext cx="10909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Probability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90661" y="5057775"/>
              <a:ext cx="8591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Evidence</a:t>
              </a:r>
            </a:p>
          </p:txBody>
        </p:sp>
      </p:grpSp>
      <p:grpSp>
        <p:nvGrpSpPr>
          <p:cNvPr id="21" name="p01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9" name="Line 1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4647" y="6333649"/>
              <a:ext cx="23582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01 / 25 · 论文模型 → 复现 → 可复用软件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2-header"/>
          <p:cNvGrpSpPr/>
          <p:nvPr/>
        </p:nvGrpSpPr>
        <p:grpSpPr>
          <a:xfrm>
            <a:off x="594360" y="507206"/>
            <a:ext cx="5151120" cy="860584"/>
            <a:chOff x="594360" y="507206"/>
            <a:chExt cx="515112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46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Introduction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1511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论文的研究问题与三项贡献</a:t>
              </a:r>
            </a:p>
          </p:txBody>
        </p:sp>
      </p:grpSp>
      <p:grpSp>
        <p:nvGrpSpPr>
          <p:cNvPr id="8" name="p02-problem"/>
          <p:cNvGrpSpPr/>
          <p:nvPr/>
        </p:nvGrpSpPr>
        <p:grpSpPr>
          <a:xfrm>
            <a:off x="609600" y="1581150"/>
            <a:ext cx="3333750" cy="4095750"/>
            <a:chOff x="609600" y="1581150"/>
            <a:chExt cx="3333750" cy="409575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33337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22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研究问题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352675"/>
              <a:ext cx="2491740" cy="1588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教育结果由许多相互关联的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家庭、课堂、动机与技术因素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共同形成。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单变量均值或孤立回归项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难以表达完整联合结构。</a:t>
              </a:r>
            </a:p>
          </p:txBody>
        </p:sp>
      </p:grpSp>
      <p:grpSp>
        <p:nvGrpSpPr>
          <p:cNvPr id="23" name="p02-contrib"/>
          <p:cNvGrpSpPr/>
          <p:nvPr/>
        </p:nvGrpSpPr>
        <p:grpSpPr>
          <a:xfrm>
            <a:off x="4353306" y="1672590"/>
            <a:ext cx="7229094" cy="3468338"/>
            <a:chOff x="4353306" y="1672590"/>
            <a:chExt cx="7229094" cy="3468338"/>
          </a:xfrm>
        </p:grpSpPr>
        <p:sp>
          <p:nvSpPr>
            <p:cNvPr id="9" name="TextBox 9"/>
            <p:cNvSpPr txBox="1"/>
            <p:nvPr/>
          </p:nvSpPr>
          <p:spPr>
            <a:xfrm>
              <a:off x="4353306" y="16725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论文的三项贡献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4362450" y="2038350"/>
              <a:ext cx="7219950" cy="9525"/>
            </a:xfrm>
            <a:custGeom>
              <a:avLst/>
              <a:gdLst/>
              <a:ahLst/>
              <a:cxnLst/>
              <a:rect l="l" t="t" r="r" b="b"/>
              <a:pathLst>
                <a:path w="7219950" h="9525">
                  <a:moveTo>
                    <a:pt x="0" y="0"/>
                  </a:moveTo>
                  <a:lnTo>
                    <a:pt x="721995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4495800" y="2381250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96573" y="25622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49799" y="24017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理论模型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51323" y="27579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把学习写成优化与不确定性的平衡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4958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96573" y="36290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49799" y="34685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联合分布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51323" y="3824764"/>
              <a:ext cx="3011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同时描述 19 个节点及其 pairwise 结构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4495800" y="4514850"/>
              <a:ext cx="533400" cy="53340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96573" y="4695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49799" y="45353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模型诊断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51323" y="4891564"/>
              <a:ext cx="3140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计算 effective interaction 与温度响应</a:t>
              </a:r>
            </a:p>
          </p:txBody>
        </p:sp>
      </p:grpSp>
      <p:grpSp>
        <p:nvGrpSpPr>
          <p:cNvPr id="26" name="p02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4" name="Line 24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4647" y="6333649"/>
              <a:ext cx="21867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02 / 25 · 研究缺口决定后续模型形式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3-header"/>
          <p:cNvGrpSpPr/>
          <p:nvPr/>
        </p:nvGrpSpPr>
        <p:grpSpPr>
          <a:xfrm>
            <a:off x="594360" y="507206"/>
            <a:ext cx="3870960" cy="860584"/>
            <a:chOff x="594360" y="507206"/>
            <a:chExt cx="387096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46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Introduction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870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现有方法与论文定位</a:t>
              </a:r>
            </a:p>
          </p:txBody>
        </p:sp>
      </p:grpSp>
      <p:grpSp>
        <p:nvGrpSpPr>
          <p:cNvPr id="8" name="p03-col-0"/>
          <p:cNvGrpSpPr/>
          <p:nvPr/>
        </p:nvGrpSpPr>
        <p:grpSpPr>
          <a:xfrm>
            <a:off x="609600" y="1695450"/>
            <a:ext cx="3333750" cy="3505200"/>
            <a:chOff x="609600" y="1695450"/>
            <a:chExt cx="3333750" cy="3505200"/>
          </a:xfrm>
        </p:grpSpPr>
        <p:sp>
          <p:nvSpPr>
            <p:cNvPr id="5" name="Rectangle 5"/>
            <p:cNvSpPr/>
            <p:nvPr/>
          </p:nvSpPr>
          <p:spPr>
            <a:xfrm>
              <a:off x="609600" y="1695450"/>
              <a:ext cx="3333750" cy="35052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156" y="1939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传统统计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578418"/>
              <a:ext cx="2388298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回归 / ANOVA / SEM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常依赖线性、正态或独立假设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优势：参数解释成熟</a:t>
              </a:r>
            </a:p>
          </p:txBody>
        </p:sp>
      </p:grpSp>
      <p:grpSp>
        <p:nvGrpSpPr>
          <p:cNvPr id="12" name="p03-col-1"/>
          <p:cNvGrpSpPr/>
          <p:nvPr/>
        </p:nvGrpSpPr>
        <p:grpSpPr>
          <a:xfrm>
            <a:off x="4324350" y="1695450"/>
            <a:ext cx="3333750" cy="3505200"/>
            <a:chOff x="4324350" y="1695450"/>
            <a:chExt cx="3333750" cy="3505200"/>
          </a:xfrm>
        </p:grpSpPr>
        <p:sp>
          <p:nvSpPr>
            <p:cNvPr id="9" name="Rectangle 9"/>
            <p:cNvSpPr/>
            <p:nvPr/>
          </p:nvSpPr>
          <p:spPr>
            <a:xfrm>
              <a:off x="4324350" y="1695450"/>
              <a:ext cx="3333750" cy="3505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1906" y="1939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预测型机器学习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4192" y="2578418"/>
              <a:ext cx="2045398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树模型 / SVM / ANN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可捕捉复杂模式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局限：理论机制常不明确</a:t>
              </a:r>
            </a:p>
          </p:txBody>
        </p:sp>
      </p:grpSp>
      <p:grpSp>
        <p:nvGrpSpPr>
          <p:cNvPr id="16" name="p03-col-2"/>
          <p:cNvGrpSpPr/>
          <p:nvPr/>
        </p:nvGrpSpPr>
        <p:grpSpPr>
          <a:xfrm>
            <a:off x="8039100" y="1695450"/>
            <a:ext cx="3333750" cy="3505200"/>
            <a:chOff x="8039100" y="1695450"/>
            <a:chExt cx="3333750" cy="3505200"/>
          </a:xfrm>
        </p:grpSpPr>
        <p:sp>
          <p:nvSpPr>
            <p:cNvPr id="13" name="Rectangle 13"/>
            <p:cNvSpPr/>
            <p:nvPr/>
          </p:nvSpPr>
          <p:spPr>
            <a:xfrm>
              <a:off x="8039100" y="1695450"/>
              <a:ext cx="3333750" cy="350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6656" y="1939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本文模型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942" y="2578418"/>
              <a:ext cx="2456878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600"/>
                </a:lnSpc>
                <a:buClr>
                  <a:srgbClr val="B8C9C3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Hopfield + Maximum Entropy</a:t>
              </a:r>
            </a:p>
            <a:p>
              <a:pPr algn="l" marL="145732" indent="-145732">
                <a:lnSpc>
                  <a:spcPts val="3600"/>
                </a:lnSpc>
                <a:buClr>
                  <a:srgbClr val="B8C9C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输出完整联合概率分布</a:t>
              </a:r>
            </a:p>
            <a:p>
              <a:pPr algn="l" marL="145732" indent="-145732">
                <a:lnSpc>
                  <a:spcPts val="3600"/>
                </a:lnSpc>
                <a:buClr>
                  <a:srgbClr val="B8C9C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允许计算高阶统计与冻结诊断</a:t>
              </a:r>
            </a:p>
          </p:txBody>
        </p:sp>
      </p:grpSp>
      <p:grpSp>
        <p:nvGrpSpPr>
          <p:cNvPr id="19" name="p03-takeaway"/>
          <p:cNvGrpSpPr/>
          <p:nvPr/>
        </p:nvGrpSpPr>
        <p:grpSpPr>
          <a:xfrm>
            <a:off x="609600" y="5429250"/>
            <a:ext cx="10972800" cy="552450"/>
            <a:chOff x="609600" y="5429250"/>
            <a:chExt cx="10972800" cy="552450"/>
          </a:xfrm>
        </p:grpSpPr>
        <p:sp>
          <p:nvSpPr>
            <p:cNvPr id="17" name="Rectangle 17"/>
            <p:cNvSpPr/>
            <p:nvPr/>
          </p:nvSpPr>
          <p:spPr>
            <a:xfrm>
              <a:off x="609600" y="5429250"/>
              <a:ext cx="1097280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56535" y="56197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论文定位：不是只提高预测准确率，而是建立带理论假设的联合结构模型。</a:t>
              </a:r>
            </a:p>
          </p:txBody>
        </p:sp>
      </p:grpSp>
      <p:grpSp>
        <p:nvGrpSpPr>
          <p:cNvPr id="22" name="p03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0" name="Line 20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647" y="6333649"/>
              <a:ext cx="20547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03 / 25 · 从方法缺口进入模型假设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实现：公开 API 与训练入口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DataConfig, LearningModel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target_name="PV1MATH",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LearningModel(cfg, calculation="exact")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analysis = model.analyze()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model.save("model.pt")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联合分布模型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LearningModel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变量与目标语义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DataConfig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训练与分析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fit() / analyze()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模型定位对应公开 API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1-header"/>
          <p:cNvGrpSpPr/>
          <p:nvPr/>
        </p:nvGrpSpPr>
        <p:grpSpPr>
          <a:xfrm>
            <a:off x="594360" y="507206"/>
            <a:ext cx="5151120" cy="860584"/>
            <a:chOff x="594360" y="507206"/>
            <a:chExt cx="5151120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544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E85D3F"/>
                  </a:solidFill>
                  <a:latin typeface="Arial Unicode MS"/>
                  <a:ea typeface="Microsoft YaHei"/>
                  <a:cs typeface="Arial Unicode MS"/>
                </a:rPr>
                <a:t>模型前提 · State definition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51511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从连续变量到 0/1 状态</a:t>
              </a:r>
            </a:p>
          </p:txBody>
        </p:sp>
      </p:grpSp>
      <p:grpSp>
        <p:nvGrpSpPr>
          <p:cNvPr id="9" name="p11-stage-0"/>
          <p:cNvGrpSpPr/>
          <p:nvPr/>
        </p:nvGrpSpPr>
        <p:grpSpPr>
          <a:xfrm>
            <a:off x="609600" y="1962150"/>
            <a:ext cx="3048000" cy="2800350"/>
            <a:chOff x="609600" y="1962150"/>
            <a:chExt cx="3048000" cy="2800350"/>
          </a:xfrm>
        </p:grpSpPr>
        <p:sp>
          <p:nvSpPr>
            <p:cNvPr id="5" name="Rectangle 5"/>
            <p:cNvSpPr/>
            <p:nvPr/>
          </p:nvSpPr>
          <p:spPr>
            <a:xfrm>
              <a:off x="609600" y="1962150"/>
              <a:ext cx="3048000" cy="2800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59536" y="20440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77137" y="215693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原始变量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442" y="2997518"/>
              <a:ext cx="1042416" cy="645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不同量纲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缺失值先处理</a:t>
              </a:r>
            </a:p>
          </p:txBody>
        </p:sp>
      </p:grpSp>
      <p:grpSp>
        <p:nvGrpSpPr>
          <p:cNvPr id="12" name="p11-arrow-0"/>
          <p:cNvGrpSpPr/>
          <p:nvPr/>
        </p:nvGrpSpPr>
        <p:grpSpPr>
          <a:xfrm>
            <a:off x="3752850" y="3124200"/>
            <a:ext cx="476250" cy="190500"/>
            <a:chOff x="3752850" y="3124200"/>
            <a:chExt cx="476250" cy="190500"/>
          </a:xfrm>
        </p:grpSpPr>
        <p:sp>
          <p:nvSpPr>
            <p:cNvPr id="10" name="Line 10"/>
            <p:cNvSpPr/>
            <p:nvPr/>
          </p:nvSpPr>
          <p:spPr>
            <a:xfrm>
              <a:off x="3752850" y="32194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095750" y="3124200"/>
              <a:ext cx="133350" cy="190500"/>
            </a:xfrm>
            <a:custGeom>
              <a:avLst/>
              <a:gdLst/>
              <a:ahLst/>
              <a:cxnLst/>
              <a:rect l="l" t="t" r="r" b="b"/>
              <a:pathLst>
                <a:path w="133350" h="190500">
                  <a:moveTo>
                    <a:pt x="0" y="0"/>
                  </a:moveTo>
                  <a:lnTo>
                    <a:pt x="133350" y="95250"/>
                  </a:lnTo>
                  <a:lnTo>
                    <a:pt x="0" y="1905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7" name="p11-stage-1"/>
          <p:cNvGrpSpPr/>
          <p:nvPr/>
        </p:nvGrpSpPr>
        <p:grpSpPr>
          <a:xfrm>
            <a:off x="4286250" y="1962150"/>
            <a:ext cx="3048000" cy="2800350"/>
            <a:chOff x="4286250" y="1962150"/>
            <a:chExt cx="3048000" cy="2800350"/>
          </a:xfrm>
        </p:grpSpPr>
        <p:sp>
          <p:nvSpPr>
            <p:cNvPr id="13" name="Rectangle 13"/>
            <p:cNvSpPr/>
            <p:nvPr/>
          </p:nvSpPr>
          <p:spPr>
            <a:xfrm>
              <a:off x="4286250" y="1962150"/>
              <a:ext cx="3048000" cy="2800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36186" y="20440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53787" y="2156936"/>
              <a:ext cx="95355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z-score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46092" y="2997518"/>
              <a:ext cx="1539621" cy="645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按每次 repeat 计算</a:t>
              </a:r>
              <a:br/>
              <a:r>
                <a:rPr lang="el-GR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z=(x−μ)/σ</a:t>
              </a:r>
            </a:p>
          </p:txBody>
        </p:sp>
      </p:grpSp>
      <p:grpSp>
        <p:nvGrpSpPr>
          <p:cNvPr id="20" name="p11-arrow-1"/>
          <p:cNvGrpSpPr/>
          <p:nvPr/>
        </p:nvGrpSpPr>
        <p:grpSpPr>
          <a:xfrm>
            <a:off x="7429500" y="3124200"/>
            <a:ext cx="476250" cy="190500"/>
            <a:chOff x="7429500" y="3124200"/>
            <a:chExt cx="476250" cy="190500"/>
          </a:xfrm>
        </p:grpSpPr>
        <p:sp>
          <p:nvSpPr>
            <p:cNvPr id="18" name="Line 18"/>
            <p:cNvSpPr/>
            <p:nvPr/>
          </p:nvSpPr>
          <p:spPr>
            <a:xfrm>
              <a:off x="7429500" y="32194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7772400" y="3124200"/>
              <a:ext cx="133350" cy="190500"/>
            </a:xfrm>
            <a:custGeom>
              <a:avLst/>
              <a:gdLst/>
              <a:ahLst/>
              <a:cxnLst/>
              <a:rect l="l" t="t" r="r" b="b"/>
              <a:pathLst>
                <a:path w="133350" h="190500">
                  <a:moveTo>
                    <a:pt x="0" y="0"/>
                  </a:moveTo>
                  <a:lnTo>
                    <a:pt x="133350" y="95250"/>
                  </a:lnTo>
                  <a:lnTo>
                    <a:pt x="0" y="1905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25" name="p11-stage-2"/>
          <p:cNvGrpSpPr/>
          <p:nvPr/>
        </p:nvGrpSpPr>
        <p:grpSpPr>
          <a:xfrm>
            <a:off x="7962900" y="1962150"/>
            <a:ext cx="3048000" cy="2800350"/>
            <a:chOff x="7962900" y="1962150"/>
            <a:chExt cx="3048000" cy="2800350"/>
          </a:xfrm>
        </p:grpSpPr>
        <p:sp>
          <p:nvSpPr>
            <p:cNvPr id="21" name="Rectangle 21"/>
            <p:cNvSpPr/>
            <p:nvPr/>
          </p:nvSpPr>
          <p:spPr>
            <a:xfrm>
              <a:off x="7962900" y="1962150"/>
              <a:ext cx="3048000" cy="2800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12836" y="20440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30437" y="2156936"/>
              <a:ext cx="122098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paper_std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22742" y="2997518"/>
              <a:ext cx="1059561" cy="645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状态 1：z &gt; 1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否则状态 0</a:t>
              </a:r>
            </a:p>
          </p:txBody>
        </p:sp>
      </p:grpSp>
      <p:grpSp>
        <p:nvGrpSpPr>
          <p:cNvPr id="28" name="p11-note"/>
          <p:cNvGrpSpPr/>
          <p:nvPr/>
        </p:nvGrpSpPr>
        <p:grpSpPr>
          <a:xfrm>
            <a:off x="609600" y="5067300"/>
            <a:ext cx="10972800" cy="685800"/>
            <a:chOff x="609600" y="5067300"/>
            <a:chExt cx="10972800" cy="685800"/>
          </a:xfrm>
        </p:grpSpPr>
        <p:sp>
          <p:nvSpPr>
            <p:cNvPr id="26" name="Rectangle 26"/>
            <p:cNvSpPr/>
            <p:nvPr/>
          </p:nvSpPr>
          <p:spPr>
            <a:xfrm>
              <a:off x="609600" y="5067300"/>
              <a:ext cx="109728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9442" y="5331142"/>
              <a:ext cx="72946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Appendix A：二值化改变了节点语义，因此阈值范围、样本范围与列顺序必须随模型保存。</a:t>
              </a:r>
            </a:p>
          </p:txBody>
        </p:sp>
      </p:grpSp>
      <p:grpSp>
        <p:nvGrpSpPr>
          <p:cNvPr id="31" name="p11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9" name="Line 2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0" name="TextBox 30"/>
            <p:cNvSpPr/>
            <p:nvPr/>
          </p:nvSpPr>
          <p:spPr>
            <a:xfrm>
              <a:off x="604647" y="6333649"/>
              <a:ext cx="25759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Model assumption · 先定义 0/1 状态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实现：标准化、二值化与 fit_table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target_name=TARGET,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normalization="zscore",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threshold_method="paper_std",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LearningModel(cfg, calculation="exact")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model.fit_table(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table, feature_names=FEATURES,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target_name=TARGET, method="kl",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标准化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normalization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二值化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threshold_method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表格训练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fit_table()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预处理口径绑定模型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4360" y="602456"/>
            <a:ext cx="5404832" cy="917734"/>
            <a:chOff x="594360" y="602456"/>
            <a:chExt cx="5404832" cy="91773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17083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85D3F"/>
                  </a:solidFill>
                  <a:latin typeface="Arial"/>
                  <a:ea typeface="Microsoft YaHei"/>
                  <a:cs typeface="Arial"/>
                </a:rPr>
                <a:t>论文 · Model foundation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933450"/>
              <a:ext cx="540483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"/>
                  <a:ea typeface="Microsoft YaHei"/>
                  <a:cs typeface="Arial"/>
                </a:rPr>
                <a:t>Hopfield 网络在本文中的作用</a:t>
              </a:r>
            </a:p>
          </p:txBody>
        </p:sp>
      </p:grpSp>
      <p:grpSp>
        <p:nvGrpSpPr>
          <p:cNvPr id="16" name="model-role"/>
          <p:cNvGrpSpPr/>
          <p:nvPr/>
        </p:nvGrpSpPr>
        <p:grpSpPr>
          <a:xfrm>
            <a:off x="609600" y="1676400"/>
            <a:ext cx="10972800" cy="2381250"/>
            <a:chOff x="609600" y="1676400"/>
            <a:chExt cx="10972800" cy="23812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3276600" cy="2381250"/>
            </a:xfrm>
            <a:prstGeom prst="rect">
              <a:avLst/>
            </a:prstGeom>
            <a:solidFill>
              <a:srgbClr val="E5F0EC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5256" y="1901190"/>
              <a:ext cx="13376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2372E"/>
                  </a:solidFill>
                  <a:latin typeface="Arial"/>
                  <a:ea typeface="Microsoft YaHei"/>
                  <a:cs typeface="Arial"/>
                </a:rPr>
                <a:t>1 · 状态表示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7161" y="2360771"/>
              <a:ext cx="2368925" cy="888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42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每个节点对应一个二值变量</a:t>
              </a:r>
              <a:br/>
              <a:r>
                <a:rPr lang="zh-CN" sz="142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状态向量 s 表示一个完整样本</a:t>
              </a:r>
              <a:br/>
              <a:r>
                <a:rPr lang="zh-CN" sz="142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网络同时观察全部变量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4000500" y="2743200"/>
              <a:ext cx="342900" cy="30480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76200"/>
                  </a:moveTo>
                  <a:lnTo>
                    <a:pt x="209550" y="76200"/>
                  </a:lnTo>
                  <a:lnTo>
                    <a:pt x="209550" y="0"/>
                  </a:lnTo>
                  <a:lnTo>
                    <a:pt x="342900" y="152400"/>
                  </a:lnTo>
                  <a:lnTo>
                    <a:pt x="209550" y="304800"/>
                  </a:lnTo>
                  <a:lnTo>
                    <a:pt x="2095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85D3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457700" y="1676400"/>
              <a:ext cx="3276600" cy="23812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753356" y="1901190"/>
              <a:ext cx="13376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2372E"/>
                  </a:solidFill>
                  <a:latin typeface="Arial"/>
                  <a:ea typeface="Microsoft YaHei"/>
                  <a:cs typeface="Arial"/>
                </a:rPr>
                <a:t>2 · 能量结构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55261" y="2360771"/>
              <a:ext cx="2268728" cy="888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42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h：节点自身的局部倾向</a:t>
              </a:r>
              <a:br/>
              <a:r>
                <a:rPr lang="zh-CN" sz="142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J：节点之间的成对相互作用</a:t>
              </a:r>
              <a:br/>
              <a:r>
                <a:rPr lang="zh-CN" sz="142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E(s)：对整个状态组合评分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7848600" y="2743200"/>
              <a:ext cx="342900" cy="30480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76200"/>
                  </a:moveTo>
                  <a:lnTo>
                    <a:pt x="209550" y="76200"/>
                  </a:lnTo>
                  <a:lnTo>
                    <a:pt x="209550" y="0"/>
                  </a:lnTo>
                  <a:lnTo>
                    <a:pt x="342900" y="152400"/>
                  </a:lnTo>
                  <a:lnTo>
                    <a:pt x="209550" y="304800"/>
                  </a:lnTo>
                  <a:lnTo>
                    <a:pt x="2095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85D3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305800" y="1676400"/>
              <a:ext cx="3276600" cy="2381250"/>
            </a:xfrm>
            <a:prstGeom prst="rect">
              <a:avLst/>
            </a:prstGeom>
            <a:solidFill>
              <a:srgbClr val="12372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01456" y="1901190"/>
              <a:ext cx="13376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 · 概率接口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03361" y="2360771"/>
              <a:ext cx="2239080" cy="888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Hopfield 提供能量 E(s)</a:t>
              </a:r>
              <a:br/>
              <a:r>
                <a:rPr lang="zh-CN" sz="142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Maximum Entropy 转成 p(s)</a:t>
              </a:r>
              <a:br/>
              <a:r>
                <a:rPr lang="zh-CN" sz="142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得到完整联合概率分布</a:t>
              </a:r>
            </a:p>
          </p:txBody>
        </p:sp>
      </p:grpSp>
      <p:grpSp>
        <p:nvGrpSpPr>
          <p:cNvPr id="21" name="takeaway"/>
          <p:cNvGrpSpPr/>
          <p:nvPr/>
        </p:nvGrpSpPr>
        <p:grpSpPr>
          <a:xfrm>
            <a:off x="609600" y="4476750"/>
            <a:ext cx="10972800" cy="1333500"/>
            <a:chOff x="609600" y="4476750"/>
            <a:chExt cx="10972800" cy="1333500"/>
          </a:xfrm>
        </p:grpSpPr>
        <p:sp>
          <p:nvSpPr>
            <p:cNvPr id="17" name="Rectangle 17"/>
            <p:cNvSpPr/>
            <p:nvPr/>
          </p:nvSpPr>
          <p:spPr>
            <a:xfrm>
              <a:off x="609600" y="4476750"/>
              <a:ext cx="10972800" cy="1333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6780" y="47244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5D3F"/>
                  </a:solidFill>
                  <a:latin typeface="Arial"/>
                  <a:ea typeface="Microsoft YaHei"/>
                  <a:cs typeface="Arial"/>
                </a:rPr>
                <a:t>核心作用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5256" y="508254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2372E"/>
                  </a:solidFill>
                  <a:latin typeface="Arial"/>
                  <a:ea typeface="Microsoft YaHei"/>
                  <a:cs typeface="Arial"/>
                </a:rPr>
                <a:t>把分散的教育变量组织为一个可解释的联合状态网络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7542" y="5464492"/>
              <a:ext cx="50699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J 描述条件统计相互作用；网络结构本身不自动等于因果关系。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604647" y="6229350"/>
            <a:ext cx="10977753" cy="314039"/>
            <a:chOff x="604647" y="6229350"/>
            <a:chExt cx="10977753" cy="314039"/>
          </a:xfrm>
        </p:grpSpPr>
        <p:sp>
          <p:nvSpPr>
            <p:cNvPr id="22" name="Freeform 2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647" y="6352699"/>
              <a:ext cx="37075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Concept · Hopfield 定义能量结构，Maximum Entropy 定义概率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4360" y="602456"/>
            <a:ext cx="6913245" cy="917734"/>
            <a:chOff x="594360" y="602456"/>
            <a:chExt cx="6913245" cy="91773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24659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Model core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933450"/>
              <a:ext cx="691324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实现：从 Hopfield 能量到联合概率</a:t>
              </a:r>
            </a:p>
          </p:txBody>
        </p:sp>
      </p:grpSp>
      <p:grpSp>
        <p:nvGrpSpPr>
          <p:cNvPr id="7" name="code-panel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rgbClr val="12372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7223" y="1837082"/>
              <a:ext cx="5268973" cy="3046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states = model._enumerate_states(model.n_nodes)</a:t>
              </a:r>
            </a:p>
            <a:p>
              <a:pPr algn="l">
                <a:lnSpc>
                  <a:spcPts val="2325"/>
                </a:lnSpc>
                <a:spcBef>
                  <a:spcPts val="975"/>
                </a:spcBef>
              </a:pPr>
              <a:r>
                <a:rPr lang="zh-CN" sz="16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Hopfield：为每个联合状态计算能量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energies = model._energies(states)</a:t>
              </a:r>
            </a:p>
            <a:p>
              <a:pPr algn="l">
                <a:lnSpc>
                  <a:spcPts val="2325"/>
                </a:lnSpc>
                <a:spcBef>
                  <a:spcPts val="975"/>
                </a:spcBef>
              </a:pPr>
              <a:r>
                <a:rPr lang="zh-CN" sz="16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Maximum Entropy / Boltzmann：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将能量归一化为联合概率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probabilities = torch.softmax(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-energies, dim=0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  <a:p>
              <a:pPr algn="l">
                <a:lnSpc>
                  <a:spcPts val="2325"/>
                </a:lnSpc>
                <a:spcBef>
                  <a:spcPts val="975"/>
                </a:spcBef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means = probabilities @ states</a:t>
              </a:r>
            </a:p>
          </p:txBody>
        </p:sp>
      </p:grpSp>
      <p:grpSp>
        <p:nvGrpSpPr>
          <p:cNvPr id="11" name="concept-map"/>
          <p:cNvGrpSpPr/>
          <p:nvPr/>
        </p:nvGrpSpPr>
        <p:grpSpPr>
          <a:xfrm>
            <a:off x="8297418" y="1803082"/>
            <a:ext cx="3284982" cy="2658619"/>
            <a:chOff x="8297418" y="1803082"/>
            <a:chExt cx="3284982" cy="2658619"/>
          </a:xfrm>
        </p:grpSpPr>
        <p:sp>
          <p:nvSpPr>
            <p:cNvPr id="8" name="TextBox 8"/>
            <p:cNvSpPr txBox="1"/>
            <p:nvPr/>
          </p:nvSpPr>
          <p:spPr>
            <a:xfrm>
              <a:off x="8297418" y="1803082"/>
              <a:ext cx="15272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模型层 → 代码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8305800" y="213360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942" y="2426018"/>
              <a:ext cx="2482596" cy="2035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Hopfield 层</a:t>
              </a:r>
              <a:br/>
              <a:r>
                <a:rPr lang="en-US" sz="1350" b="1" dirty="0">
                  <a:solidFill>
                    <a:srgbClr val="12372E"/>
                  </a:solidFill>
                  <a:latin typeface="Arial Unicode MS"/>
                  <a:ea typeface="Arial Unicode MS"/>
                  <a:cs typeface="Arial Unicode MS"/>
                </a:rPr>
                <a:t>E(s) = _energies(states)</a:t>
              </a:r>
            </a:p>
            <a:p>
              <a:pPr algn="l">
                <a:lnSpc>
                  <a:spcPts val="2250"/>
                </a:lnSpc>
                <a:spcBef>
                  <a:spcPts val="1350"/>
                </a:spcBef>
              </a:pPr>
              <a:r>
                <a:rPr lang="zh-CN" sz="135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概率层</a:t>
              </a:r>
              <a:br/>
              <a:r>
                <a:rPr lang="en-US" sz="1350" b="1" dirty="0">
                  <a:solidFill>
                    <a:srgbClr val="12372E"/>
                  </a:solidFill>
                  <a:latin typeface="Arial Unicode MS"/>
                  <a:ea typeface="Arial Unicode MS"/>
                  <a:cs typeface="Arial Unicode MS"/>
                </a:rPr>
                <a:t>p(s) = softmax(-E)</a:t>
              </a:r>
            </a:p>
            <a:p>
              <a:pPr algn="l">
                <a:lnSpc>
                  <a:spcPts val="2250"/>
                </a:lnSpc>
                <a:spcBef>
                  <a:spcPts val="1350"/>
                </a:spcBef>
              </a:pPr>
              <a:r>
                <a:rPr lang="zh-CN" sz="135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统计输出</a:t>
              </a:r>
              <a:br/>
              <a:r>
                <a:rPr lang="en-US" sz="1350" b="1" dirty="0">
                  <a:solidFill>
                    <a:srgbClr val="12372E"/>
                  </a:solidFill>
                  <a:latin typeface="Arial Unicode MS"/>
                  <a:ea typeface="Arial Unicode MS"/>
                  <a:cs typeface="Arial Unicode MS"/>
                </a:rPr>
                <a:t>moments = p(s) · s</a:t>
              </a:r>
            </a:p>
          </p:txBody>
        </p:sp>
      </p:grpSp>
      <p:grpSp>
        <p:nvGrpSpPr>
          <p:cNvPr id="14" name="footer"/>
          <p:cNvGrpSpPr/>
          <p:nvPr/>
        </p:nvGrpSpPr>
        <p:grpSpPr>
          <a:xfrm>
            <a:off x="604647" y="6229350"/>
            <a:ext cx="10977753" cy="314039"/>
            <a:chOff x="604647" y="6229350"/>
            <a:chExt cx="10977753" cy="314039"/>
          </a:xfrm>
        </p:grpSpPr>
        <p:sp>
          <p:nvSpPr>
            <p:cNvPr id="12" name="Freeform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4647" y="6352699"/>
              <a:ext cx="42898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内部实现；一般用户调用 fit() 与 analyze()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4-header"/>
          <p:cNvGrpSpPr/>
          <p:nvPr/>
        </p:nvGrpSpPr>
        <p:grpSpPr>
          <a:xfrm>
            <a:off x="594360" y="507206"/>
            <a:ext cx="3870960" cy="860584"/>
            <a:chOff x="594360" y="507206"/>
            <a:chExt cx="387096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870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优化与学习能量景观</a:t>
              </a:r>
            </a:p>
          </p:txBody>
        </p:sp>
      </p:grpSp>
      <p:grpSp>
        <p:nvGrpSpPr>
          <p:cNvPr id="14" name="p04-landscape"/>
          <p:cNvGrpSpPr/>
          <p:nvPr/>
        </p:nvGrpSpPr>
        <p:grpSpPr>
          <a:xfrm>
            <a:off x="609600" y="1524000"/>
            <a:ext cx="6191250" cy="4152900"/>
            <a:chOff x="609600" y="1524000"/>
            <a:chExt cx="6191250" cy="415290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6191250" cy="4095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能量景观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952500" y="1524000"/>
              <a:ext cx="5486400" cy="3429000"/>
            </a:xfrm>
            <a:custGeom>
              <a:avLst/>
              <a:gdLst/>
              <a:ahLst/>
              <a:cxnLst/>
              <a:rect l="l" t="t" r="r" b="b"/>
              <a:pathLst>
                <a:path w="5486400" h="3429000">
                  <a:moveTo>
                    <a:pt x="0" y="2952750"/>
                  </a:moveTo>
                  <a:cubicBezTo>
                    <a:pt x="857250" y="857250"/>
                    <a:pt x="1619250" y="3429000"/>
                    <a:pt x="2762250" y="1619250"/>
                  </a:cubicBezTo>
                  <a:cubicBezTo>
                    <a:pt x="3810000" y="0"/>
                    <a:pt x="4381500" y="3238500"/>
                    <a:pt x="5486400" y="952500"/>
                  </a:cubicBez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809750" y="343852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3962400" y="2762250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514975" y="3571875"/>
              <a:ext cx="285750" cy="28575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15364" y="49296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局部极小值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68014" y="49296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全局极小值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20589" y="49296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另一条路径</a:t>
              </a:r>
            </a:p>
          </p:txBody>
        </p:sp>
      </p:grpSp>
      <p:grpSp>
        <p:nvGrpSpPr>
          <p:cNvPr id="31" name="p04-network"/>
          <p:cNvGrpSpPr/>
          <p:nvPr/>
        </p:nvGrpSpPr>
        <p:grpSpPr>
          <a:xfrm>
            <a:off x="7200900" y="1581150"/>
            <a:ext cx="4381500" cy="4095750"/>
            <a:chOff x="7200900" y="1581150"/>
            <a:chExt cx="4381500" cy="4095750"/>
          </a:xfrm>
        </p:grpSpPr>
        <p:sp>
          <p:nvSpPr>
            <p:cNvPr id="15" name="Rectangle 15"/>
            <p:cNvSpPr/>
            <p:nvPr/>
          </p:nvSpPr>
          <p:spPr>
            <a:xfrm>
              <a:off x="7200900" y="1581150"/>
              <a:ext cx="4381500" cy="409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59218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学习环境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782050" y="2857500"/>
              <a:ext cx="1219200" cy="121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51341" y="3366611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学生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20050" y="2552700"/>
              <a:ext cx="1371600" cy="914400"/>
            </a:xfrm>
            <a:custGeom>
              <a:avLst/>
              <a:gdLst/>
              <a:ahLst/>
              <a:cxnLst/>
              <a:rect l="l" t="t" r="r" b="b"/>
              <a:pathLst>
                <a:path w="1371600" h="914400">
                  <a:moveTo>
                    <a:pt x="1371600" y="914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658100" y="219075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52410" y="2480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家庭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391650" y="2552700"/>
              <a:ext cx="1371600" cy="914400"/>
            </a:xfrm>
            <a:custGeom>
              <a:avLst/>
              <a:gdLst/>
              <a:ahLst/>
              <a:cxnLst/>
              <a:rect l="l" t="t" r="r" b="b"/>
              <a:pathLst>
                <a:path w="1371600" h="914400">
                  <a:moveTo>
                    <a:pt x="0" y="914400"/>
                  </a:moveTo>
                  <a:lnTo>
                    <a:pt x="1371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0401300" y="219075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95610" y="2480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课堂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020050" y="3467100"/>
              <a:ext cx="1371600" cy="1123950"/>
            </a:xfrm>
            <a:custGeom>
              <a:avLst/>
              <a:gdLst/>
              <a:ahLst/>
              <a:cxnLst/>
              <a:rect l="l" t="t" r="r" b="b"/>
              <a:pathLst>
                <a:path w="1371600" h="1123950">
                  <a:moveTo>
                    <a:pt x="1371600" y="0"/>
                  </a:moveTo>
                  <a:lnTo>
                    <a:pt x="0" y="11239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658100" y="42291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852410" y="4518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动机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9391650" y="3467100"/>
              <a:ext cx="1371600" cy="1123950"/>
            </a:xfrm>
            <a:custGeom>
              <a:avLst/>
              <a:gdLst/>
              <a:ahLst/>
              <a:cxnLst/>
              <a:rect l="l" t="t" r="r" b="b"/>
              <a:pathLst>
                <a:path w="1371600" h="1123950">
                  <a:moveTo>
                    <a:pt x="0" y="0"/>
                  </a:moveTo>
                  <a:lnTo>
                    <a:pt x="1371600" y="11239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0401300" y="42291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637672" y="4518660"/>
              <a:ext cx="2511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ICT</a:t>
              </a:r>
            </a:p>
          </p:txBody>
        </p:sp>
      </p:grpSp>
      <p:grpSp>
        <p:nvGrpSpPr>
          <p:cNvPr id="34" name="p0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2" name="Line 3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4647" y="6333649"/>
              <a:ext cx="32421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04 / 25 · 初始条件与环境结构共同决定可能到达的状态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Internal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实现：状态能量计算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def _energies(self, states):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linear = states @ self.h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pairwise = 0.5 * 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(states @ self.J) * states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).sum(dim=1)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return linear + pairwise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状态向量 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states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局部项 h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states @ self.h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成对项 J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0.5 · sᵀJs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内部实现解释能量评分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5-header"/>
          <p:cNvGrpSpPr/>
          <p:nvPr/>
        </p:nvGrpSpPr>
        <p:grpSpPr>
          <a:xfrm>
            <a:off x="594360" y="507206"/>
            <a:ext cx="3669602" cy="860584"/>
            <a:chOff x="594360" y="507206"/>
            <a:chExt cx="3669602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2.1.2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66960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Hopfield 能量函数</a:t>
              </a:r>
            </a:p>
          </p:txBody>
        </p:sp>
      </p:grpSp>
      <p:grpSp>
        <p:nvGrpSpPr>
          <p:cNvPr id="12" name="p05-defs"/>
          <p:cNvGrpSpPr/>
          <p:nvPr/>
        </p:nvGrpSpPr>
        <p:grpSpPr>
          <a:xfrm>
            <a:off x="609600" y="1752600"/>
            <a:ext cx="2381250" cy="3638550"/>
            <a:chOff x="609600" y="1752600"/>
            <a:chExt cx="2381250" cy="3638550"/>
          </a:xfrm>
        </p:grpSpPr>
        <p:sp>
          <p:nvSpPr>
            <p:cNvPr id="5" name="Rectangle 5"/>
            <p:cNvSpPr/>
            <p:nvPr/>
          </p:nvSpPr>
          <p:spPr>
            <a:xfrm>
              <a:off x="609600" y="1752600"/>
              <a:ext cx="2381250" cy="3638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974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状态变量</a:t>
              </a:r>
            </a:p>
          </p:txBody>
        </p:sp>
        <p:sp>
          <p:nvSpPr>
            <p:cNvPr id="7" name="TextBox 7"/>
            <p:cNvSpPr/>
            <p:nvPr/>
          </p:nvSpPr>
          <p:spPr>
            <a:xfrm>
              <a:off x="863346" y="2277428"/>
              <a:ext cx="4151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2550" i="1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sᵢ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823" y="2777014"/>
              <a:ext cx="1532890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学习因素或 outcome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论文计算中取 0 / 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918" y="36699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能量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865632" y="4021455"/>
              <a:ext cx="9646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l"/>
              <a:r>
                <a:rPr lang="en-US" sz="1950" i="1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E({sᵢ})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823" y="4491514"/>
              <a:ext cx="1313434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用于比较状态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不是物理能量测量</a:t>
              </a:r>
            </a:p>
          </p:txBody>
        </p:sp>
      </p:grpSp>
      <p:grpSp>
        <p:nvGrpSpPr>
          <p:cNvPr id="15" name="p05-energy"/>
          <p:cNvGrpSpPr/>
          <p:nvPr/>
        </p:nvGrpSpPr>
        <p:grpSpPr>
          <a:xfrm>
            <a:off x="3333750" y="1752600"/>
            <a:ext cx="8248650" cy="1200150"/>
            <a:chOff x="3333750" y="1752600"/>
            <a:chExt cx="8248650" cy="1200150"/>
          </a:xfrm>
        </p:grpSpPr>
        <p:sp>
          <p:nvSpPr>
            <p:cNvPr id="13" name="Rectangle 13"/>
            <p:cNvSpPr/>
            <p:nvPr/>
          </p:nvSpPr>
          <p:spPr>
            <a:xfrm>
              <a:off x="3333750" y="1752600"/>
              <a:ext cx="8248650" cy="120015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/>
            <p:nvPr/>
          </p:nvSpPr>
          <p:spPr>
            <a:xfrm>
              <a:off x="4798600" y="2187512"/>
              <a:ext cx="53190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6192" rIns="95" bIns="0" anchor="t" anchorCtr="0">
              <a:noAutofit/>
            </a:bodyPr>
            <a:lstStyle/>
            <a:p>
              <a:pPr algn="ctr"/>
              <a:r>
                <a:rPr lang="el-GR" sz="2700" spc="22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E({sᵢ}) = Σᵢ hᵢsᵢ + Σᵢ≠ⱼ Jᵢⱼsᵢsⱼ</a:t>
              </a:r>
            </a:p>
          </p:txBody>
        </p:sp>
      </p:grpSp>
      <p:grpSp>
        <p:nvGrpSpPr>
          <p:cNvPr id="22" name="p05-params"/>
          <p:cNvGrpSpPr/>
          <p:nvPr/>
        </p:nvGrpSpPr>
        <p:grpSpPr>
          <a:xfrm>
            <a:off x="3333750" y="3219450"/>
            <a:ext cx="8248650" cy="2171700"/>
            <a:chOff x="3333750" y="3219450"/>
            <a:chExt cx="8248650" cy="2171700"/>
          </a:xfrm>
        </p:grpSpPr>
        <p:sp>
          <p:nvSpPr>
            <p:cNvPr id="16" name="Rectangle 16"/>
            <p:cNvSpPr/>
            <p:nvPr/>
          </p:nvSpPr>
          <p:spPr>
            <a:xfrm>
              <a:off x="3333750" y="3219450"/>
              <a:ext cx="3857625" cy="2171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29787" y="3452336"/>
              <a:ext cx="125919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hᵢ · 节点项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31692" y="3892868"/>
              <a:ext cx="1728216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单个变量对能量的贡献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表示局部倾向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486650" y="3219450"/>
              <a:ext cx="4095750" cy="217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82687" y="3452336"/>
              <a:ext cx="201057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Jᵢⱼ · pairwise 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84592" y="3892868"/>
              <a:ext cx="2071116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两个节点同时取值时的贡献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统计耦合，不自动等于因果</a:t>
              </a:r>
            </a:p>
          </p:txBody>
        </p:sp>
      </p:grpSp>
      <p:grpSp>
        <p:nvGrpSpPr>
          <p:cNvPr id="25" name="p05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3" name="Line 23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4647" y="6333649"/>
              <a:ext cx="31583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05 / 25 · 用 h 与 J 把多变量状态映射到一个标量能量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Internal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实现：h 与 J 的参数结构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 = len(cfg.feature_names) + 1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h = model.h          # [n]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J = model.J          # [n, n]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 = 0.5 * (J + J.T)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J.fill_diagonal_(0.0)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i, j = torch.triu_indices(n, n, offset=1)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independent_J = J[i, j]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 个节点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 个 h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对称矩阵 J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171 个独立参数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对角线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固定为 0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参数结构与能量公式一致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6-header"/>
          <p:cNvGrpSpPr/>
          <p:nvPr/>
        </p:nvGrpSpPr>
        <p:grpSpPr>
          <a:xfrm>
            <a:off x="594360" y="507206"/>
            <a:ext cx="3444240" cy="860584"/>
            <a:chOff x="594360" y="507206"/>
            <a:chExt cx="344424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444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不确定性与最大熵</a:t>
              </a:r>
            </a:p>
          </p:txBody>
        </p:sp>
      </p:grpSp>
      <p:grpSp>
        <p:nvGrpSpPr>
          <p:cNvPr id="8" name="p06-uncertainty"/>
          <p:cNvGrpSpPr/>
          <p:nvPr/>
        </p:nvGrpSpPr>
        <p:grpSpPr>
          <a:xfrm>
            <a:off x="609600" y="1676400"/>
            <a:ext cx="4095750" cy="3771900"/>
            <a:chOff x="609600" y="1676400"/>
            <a:chExt cx="4095750" cy="377190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4095750" cy="377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9173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为什么不能只取最低能量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502218"/>
              <a:ext cx="2414016" cy="1711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个体差异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不同起点可能停在不同局部状态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参数不确定性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学习者无法完全知道 h 与 J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因此群体需要一个状态概率分布</a:t>
              </a:r>
            </a:p>
          </p:txBody>
        </p:sp>
      </p:grpSp>
      <p:grpSp>
        <p:nvGrpSpPr>
          <p:cNvPr id="11" name="p06-entropy"/>
          <p:cNvGrpSpPr/>
          <p:nvPr/>
        </p:nvGrpSpPr>
        <p:grpSpPr>
          <a:xfrm>
            <a:off x="5124450" y="1866900"/>
            <a:ext cx="6457950" cy="1238250"/>
            <a:chOff x="5124450" y="1866900"/>
            <a:chExt cx="6457950" cy="1238250"/>
          </a:xfrm>
        </p:grpSpPr>
        <p:sp>
          <p:nvSpPr>
            <p:cNvPr id="9" name="Rectangle 9"/>
            <p:cNvSpPr/>
            <p:nvPr/>
          </p:nvSpPr>
          <p:spPr>
            <a:xfrm>
              <a:off x="5124450" y="1866900"/>
              <a:ext cx="6457950" cy="1238250"/>
            </a:xfrm>
            <a:prstGeom prst="roundRect">
              <a:avLst>
                <a:gd name="adj" fmla="val 107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/>
            <p:nvPr/>
          </p:nvSpPr>
          <p:spPr>
            <a:xfrm>
              <a:off x="6476048" y="2320862"/>
              <a:ext cx="37546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0" rIns="0" bIns="0" anchor="t" anchorCtr="0">
              <a:noAutofit/>
            </a:bodyPr>
            <a:lstStyle/>
            <a:p>
              <a:pPr algn="ctr"/>
              <a:r>
                <a:rPr lang="el-GR" sz="2550" spc="15" dirty="0">
                  <a:solidFill>
                    <a:srgbClr val="12372E"/>
                  </a:solidFill>
                  <a:latin typeface="Cambria Math"/>
                  <a:ea typeface="Cambria Math"/>
                  <a:cs typeface="Cambria Math"/>
                </a:rPr>
                <a:t>S = − Σ p({sᵢ}) ln p({sᵢ})</a:t>
              </a:r>
            </a:p>
          </p:txBody>
        </p:sp>
      </p:grpSp>
      <p:grpSp>
        <p:nvGrpSpPr>
          <p:cNvPr id="15" name="p06-explain"/>
          <p:cNvGrpSpPr/>
          <p:nvPr/>
        </p:nvGrpSpPr>
        <p:grpSpPr>
          <a:xfrm>
            <a:off x="5124450" y="3390900"/>
            <a:ext cx="6457950" cy="2057400"/>
            <a:chOff x="5124450" y="3390900"/>
            <a:chExt cx="6457950" cy="2057400"/>
          </a:xfrm>
        </p:grpSpPr>
        <p:sp>
          <p:nvSpPr>
            <p:cNvPr id="12" name="Rectangle 12"/>
            <p:cNvSpPr/>
            <p:nvPr/>
          </p:nvSpPr>
          <p:spPr>
            <a:xfrm>
              <a:off x="5124450" y="3390900"/>
              <a:ext cx="6457950" cy="2057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20487" y="3642836"/>
              <a:ext cx="260064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Maximum Entropy 原则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22392" y="4102418"/>
              <a:ext cx="3271266" cy="873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在满足已知约束的所有分布中，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选择熵最大的分布。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含义：不为数据没有约束的结构额外下注。</a:t>
              </a:r>
            </a:p>
          </p:txBody>
        </p:sp>
      </p:grpSp>
      <p:grpSp>
        <p:nvGrpSpPr>
          <p:cNvPr id="18" name="p06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6" name="Line 1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4647" y="6333649"/>
              <a:ext cx="32421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06 / 25 · 不确定性把单一最优状态转化为状态概率分布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Internal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实现：精确枚举与模型 moments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states = model._enumerate_states(n_nodes)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energies = model._energies(states)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probs = torch.softmax(-energies, dim=0)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means = probs @ states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pairs = torch.einsum(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"s,si,sj-&gt;ij", probs, states, states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最大熵分布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softmax(-E)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一阶 moments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probs @ states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二阶 moments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weighted pair products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精确计算最大熵分布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7-header"/>
          <p:cNvGrpSpPr/>
          <p:nvPr/>
        </p:nvGrpSpPr>
        <p:grpSpPr>
          <a:xfrm>
            <a:off x="594360" y="507206"/>
            <a:ext cx="5967222" cy="860584"/>
            <a:chOff x="594360" y="507206"/>
            <a:chExt cx="5967222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96722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自由能与 Boltzmann 联合分布</a:t>
              </a:r>
            </a:p>
          </p:txBody>
        </p:sp>
      </p:grpSp>
      <p:grpSp>
        <p:nvGrpSpPr>
          <p:cNvPr id="16" name="p07-chain"/>
          <p:cNvGrpSpPr/>
          <p:nvPr/>
        </p:nvGrpSpPr>
        <p:grpSpPr>
          <a:xfrm>
            <a:off x="609600" y="1562100"/>
            <a:ext cx="10972800" cy="1066800"/>
            <a:chOff x="609600" y="1562100"/>
            <a:chExt cx="10972800" cy="1066800"/>
          </a:xfrm>
        </p:grpSpPr>
        <p:sp>
          <p:nvSpPr>
            <p:cNvPr id="5" name="Rectangle 5"/>
            <p:cNvSpPr/>
            <p:nvPr/>
          </p:nvSpPr>
          <p:spPr>
            <a:xfrm>
              <a:off x="609600" y="1562100"/>
              <a:ext cx="314325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454197" y="1786890"/>
              <a:ext cx="14540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最小化 〈E〉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52041" y="2156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优化表现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75285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4514850" y="1562100"/>
              <a:ext cx="3143250" cy="1066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99603" y="1786890"/>
              <a:ext cx="9737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最大化 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95747" y="2156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保留不确定性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581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420100" y="1562100"/>
              <a:ext cx="316230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514378" y="1786890"/>
              <a:ext cx="9737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最小化 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72066" y="2156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两者平衡</a:t>
              </a:r>
            </a:p>
          </p:txBody>
        </p:sp>
      </p:grpSp>
      <p:grpSp>
        <p:nvGrpSpPr>
          <p:cNvPr id="19" name="p07-free"/>
          <p:cNvGrpSpPr/>
          <p:nvPr/>
        </p:nvGrpSpPr>
        <p:grpSpPr>
          <a:xfrm>
            <a:off x="609600" y="2952750"/>
            <a:ext cx="4095750" cy="1028700"/>
            <a:chOff x="609600" y="2952750"/>
            <a:chExt cx="4095750" cy="1028700"/>
          </a:xfrm>
        </p:grpSpPr>
        <p:sp>
          <p:nvSpPr>
            <p:cNvPr id="17" name="Rectangle 17"/>
            <p:cNvSpPr/>
            <p:nvPr/>
          </p:nvSpPr>
          <p:spPr>
            <a:xfrm>
              <a:off x="609600" y="2952750"/>
              <a:ext cx="4095750" cy="1028700"/>
            </a:xfrm>
            <a:prstGeom prst="roundRect">
              <a:avLst>
                <a:gd name="adj" fmla="val 129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/>
            <p:nvPr/>
          </p:nvSpPr>
          <p:spPr>
            <a:xfrm>
              <a:off x="1314640" y="3321368"/>
              <a:ext cx="268566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6192" rIns="0" bIns="0" anchor="t" anchorCtr="0">
              <a:noAutofit/>
            </a:bodyPr>
            <a:lstStyle/>
            <a:p>
              <a:pPr algn="ctr"/>
              <a:r>
                <a:rPr lang="zh-CN" sz="2400" spc="22" dirty="0">
                  <a:solidFill>
                    <a:srgbClr val="12372E"/>
                  </a:solidFill>
                  <a:latin typeface="Cambria Math"/>
                  <a:ea typeface="Microsoft YaHei"/>
                  <a:cs typeface="Cambria Math"/>
                </a:rPr>
                <a:t>F = (1−t)〈E〉 − tS</a:t>
              </a:r>
            </a:p>
          </p:txBody>
        </p:sp>
      </p:grpSp>
      <p:grpSp>
        <p:nvGrpSpPr>
          <p:cNvPr id="22" name="p07-boltz"/>
          <p:cNvGrpSpPr/>
          <p:nvPr/>
        </p:nvGrpSpPr>
        <p:grpSpPr>
          <a:xfrm>
            <a:off x="5010150" y="2952750"/>
            <a:ext cx="6572250" cy="1428750"/>
            <a:chOff x="5010150" y="2952750"/>
            <a:chExt cx="6572250" cy="1428750"/>
          </a:xfrm>
        </p:grpSpPr>
        <p:sp>
          <p:nvSpPr>
            <p:cNvPr id="20" name="Rectangle 20"/>
            <p:cNvSpPr/>
            <p:nvPr/>
          </p:nvSpPr>
          <p:spPr>
            <a:xfrm>
              <a:off x="5010150" y="2952750"/>
              <a:ext cx="6572250" cy="1428750"/>
            </a:xfrm>
            <a:prstGeom prst="roundRect">
              <a:avLst>
                <a:gd name="adj" fmla="val 9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/>
            <p:nvPr/>
          </p:nvSpPr>
          <p:spPr>
            <a:xfrm>
              <a:off x="6145339" y="3550539"/>
              <a:ext cx="43018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l-GR" sz="1800" spc="8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p({sᵢ}) = e⁻ᴱ⁽ˢ⁾/ᵀ / Z · Z = Σ e⁻ᴱ⁽ˢ⁾/ᵀ</a:t>
              </a:r>
            </a:p>
          </p:txBody>
        </p:sp>
      </p:grpSp>
      <p:grpSp>
        <p:nvGrpSpPr>
          <p:cNvPr id="26" name="p07-note"/>
          <p:cNvGrpSpPr/>
          <p:nvPr/>
        </p:nvGrpSpPr>
        <p:grpSpPr>
          <a:xfrm>
            <a:off x="609600" y="4705350"/>
            <a:ext cx="10972800" cy="933450"/>
            <a:chOff x="609600" y="4705350"/>
            <a:chExt cx="10972800" cy="933450"/>
          </a:xfrm>
        </p:grpSpPr>
        <p:sp>
          <p:nvSpPr>
            <p:cNvPr id="23" name="Rectangle 23"/>
            <p:cNvSpPr/>
            <p:nvPr/>
          </p:nvSpPr>
          <p:spPr>
            <a:xfrm>
              <a:off x="609600" y="4705350"/>
              <a:ext cx="10972800" cy="9334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8299" y="4925854"/>
              <a:ext cx="276854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论文的关键理论结果 · Eq. 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9061" y="5275421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它把状态能量转成完整联合概率，并允许计算任意阶统计量。</a:t>
              </a:r>
            </a:p>
          </p:txBody>
        </p:sp>
      </p:grpSp>
      <p:grpSp>
        <p:nvGrpSpPr>
          <p:cNvPr id="29" name="p07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7" name="Line 2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4647" y="6333649"/>
              <a:ext cx="29782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07 / 25 · 优化与不确定性在同一个概率分布中统一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实现：两种计算路径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cfg,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calculation="auto",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max_exact_nodes=20,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mc_samples=2000,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mc_chains=4,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seed=7,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fit.diagnostics["calculation"]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小规模状态空间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exact enumeration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较大状态空间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Monte Carlo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实际路径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写入 diagnostics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计算路径显式可审计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8-header"/>
          <p:cNvGrpSpPr/>
          <p:nvPr/>
        </p:nvGrpSpPr>
        <p:grpSpPr>
          <a:xfrm>
            <a:off x="594360" y="507206"/>
            <a:ext cx="5577840" cy="860584"/>
            <a:chOff x="594360" y="507206"/>
            <a:chExt cx="557784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2084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2.3.1–2.3.2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5778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能量主导、熵主导与临界状态</a:t>
              </a:r>
            </a:p>
          </p:txBody>
        </p:sp>
      </p:grpSp>
      <p:grpSp>
        <p:nvGrpSpPr>
          <p:cNvPr id="30" name="p08-axis"/>
          <p:cNvGrpSpPr/>
          <p:nvPr/>
        </p:nvGrpSpPr>
        <p:grpSpPr>
          <a:xfrm>
            <a:off x="781050" y="2038350"/>
            <a:ext cx="10629900" cy="2531745"/>
            <a:chOff x="781050" y="2038350"/>
            <a:chExt cx="10629900" cy="2531745"/>
          </a:xfrm>
        </p:grpSpPr>
        <p:sp>
          <p:nvSpPr>
            <p:cNvPr id="5" name="Line 5"/>
            <p:cNvSpPr/>
            <p:nvPr/>
          </p:nvSpPr>
          <p:spPr>
            <a:xfrm>
              <a:off x="1143000" y="40005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143000" y="38862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3810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049000" y="38862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9203" y="4276725"/>
              <a:ext cx="407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低 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84520" y="4276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临界区域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45203" y="4276725"/>
              <a:ext cx="407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高 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1050" y="2038350"/>
              <a:ext cx="33337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76069" y="221408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能量主导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07566" y="26246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概率集中在少数低能量状态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447800" y="3028950"/>
              <a:ext cx="26670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866900" y="2781300"/>
              <a:ext cx="266700" cy="5143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86000" y="2381250"/>
              <a:ext cx="2667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705100" y="3048000"/>
              <a:ext cx="266700" cy="247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29125" y="2038350"/>
              <a:ext cx="3333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39917" y="2214086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高响应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83328" y="262461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微小参数变化带来最大统计变化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953000" y="2209800"/>
              <a:ext cx="2286000" cy="1028700"/>
            </a:xfrm>
            <a:custGeom>
              <a:avLst/>
              <a:gdLst/>
              <a:ahLst/>
              <a:cxnLst/>
              <a:rect l="l" t="t" r="r" b="b"/>
              <a:pathLst>
                <a:path w="2286000" h="1028700">
                  <a:moveTo>
                    <a:pt x="0" y="1028700"/>
                  </a:moveTo>
                  <a:cubicBezTo>
                    <a:pt x="428625" y="933450"/>
                    <a:pt x="666750" y="76200"/>
                    <a:pt x="1143000" y="0"/>
                  </a:cubicBezTo>
                  <a:cubicBezTo>
                    <a:pt x="1619250" y="76200"/>
                    <a:pt x="1857375" y="933450"/>
                    <a:pt x="2286000" y="1028700"/>
                  </a:cubicBez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77200" y="2038350"/>
              <a:ext cx="3333750" cy="1428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87992" y="2214086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熵主导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89873" y="26246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概率在许多状态间更平坦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782050" y="2857500"/>
              <a:ext cx="266700" cy="438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201150" y="2819400"/>
              <a:ext cx="266700" cy="476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620250" y="2895600"/>
              <a:ext cx="266700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039350" y="2838450"/>
              <a:ext cx="266700" cy="4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3" name="p08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1" name="Line 31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4647" y="6333649"/>
              <a:ext cx="3402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08 / 25 · T 控制概率集中程度；T=1 是拟合模型的参照点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实现：温度与临界响应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numpy as np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np.linspace(0.05, 4.0, 80)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 = model.temperature_response(T)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response["temperature"]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response["mean_energy"]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response["d_mean_energy_d_temperature"]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response["energy_response_peak_temperature"]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固定 h 与 J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只改变温度 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拟合参照点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 = 1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响应峰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临界性统计诊断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温度扫描不重新训练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9-header"/>
          <p:cNvGrpSpPr/>
          <p:nvPr/>
        </p:nvGrpSpPr>
        <p:grpSpPr>
          <a:xfrm>
            <a:off x="594360" y="507206"/>
            <a:ext cx="7061606" cy="860584"/>
            <a:chOff x="594360" y="507206"/>
            <a:chExt cx="7061606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0616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PISA 2018 trial model 的数据范围</a:t>
              </a:r>
            </a:p>
          </p:txBody>
        </p:sp>
      </p:grpSp>
      <p:grpSp>
        <p:nvGrpSpPr>
          <p:cNvPr id="12" name="p09-hero"/>
          <p:cNvGrpSpPr/>
          <p:nvPr/>
        </p:nvGrpSpPr>
        <p:grpSpPr>
          <a:xfrm>
            <a:off x="609600" y="1607820"/>
            <a:ext cx="2857500" cy="4011930"/>
            <a:chOff x="609600" y="1607820"/>
            <a:chExt cx="2857500" cy="4011930"/>
          </a:xfrm>
        </p:grpSpPr>
        <p:sp>
          <p:nvSpPr>
            <p:cNvPr id="5" name="Rectangle 5"/>
            <p:cNvSpPr/>
            <p:nvPr/>
          </p:nvSpPr>
          <p:spPr>
            <a:xfrm>
              <a:off x="609600" y="1619250"/>
              <a:ext cx="2857500" cy="400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95350" y="16078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15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6780" y="2447925"/>
              <a:ext cx="23393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 trial models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5 个经济体 × 3 个 outcome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5350" y="3201352"/>
              <a:ext cx="66781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19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7542" y="38547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每个模型的节点数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2970" y="4519612"/>
              <a:ext cx="19470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2,010–6,572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923" y="49677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各地区有效样本量</a:t>
              </a:r>
            </a:p>
          </p:txBody>
        </p:sp>
      </p:grpSp>
      <p:grpSp>
        <p:nvGrpSpPr>
          <p:cNvPr id="21" name="p09-countries"/>
          <p:cNvGrpSpPr/>
          <p:nvPr/>
        </p:nvGrpSpPr>
        <p:grpSpPr>
          <a:xfrm>
            <a:off x="3896106" y="1767840"/>
            <a:ext cx="7686294" cy="2975610"/>
            <a:chOff x="3896106" y="1767840"/>
            <a:chExt cx="7686294" cy="2975610"/>
          </a:xfrm>
        </p:grpSpPr>
        <p:sp>
          <p:nvSpPr>
            <p:cNvPr id="13" name="TextBox 13"/>
            <p:cNvSpPr txBox="1"/>
            <p:nvPr/>
          </p:nvSpPr>
          <p:spPr>
            <a:xfrm>
              <a:off x="3896106" y="1767840"/>
              <a:ext cx="20943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经济体与 outcome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905250" y="2133600"/>
              <a:ext cx="7677150" cy="9525"/>
            </a:xfrm>
            <a:custGeom>
              <a:avLst/>
              <a:gdLst/>
              <a:ahLst/>
              <a:cxnLst/>
              <a:rect l="l" t="t" r="r" b="b"/>
              <a:pathLst>
                <a:path w="7677150" h="9525">
                  <a:moveTo>
                    <a:pt x="0" y="0"/>
                  </a:moveTo>
                  <a:lnTo>
                    <a:pt x="767715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97630" y="2447925"/>
              <a:ext cx="2120265" cy="2198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Chinese Taipei · 6,572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Hong Kong · 5,119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Germany · 2,010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United States · 3,899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United Kingdom · 5,495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210550" y="2495550"/>
              <a:ext cx="33718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81135" y="27717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每个地区分别拟合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551127" y="3180398"/>
              <a:ext cx="6906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Math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86415" y="3618548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Science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86415" y="4056698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Reading</a:t>
              </a:r>
            </a:p>
          </p:txBody>
        </p:sp>
      </p:grpSp>
      <p:grpSp>
        <p:nvGrpSpPr>
          <p:cNvPr id="24" name="p09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2" name="Line 2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647" y="6333649"/>
              <a:ext cx="24505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09 / 25 · 理论模型进入可检验的数据实例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实现：PISA 字段映射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PISAMapping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mapping = PISAMapping(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feature_names=FEATURES_18,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target_name="PV1MATH",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missing_values=MISSING_CODES,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metadata={"economy": "TAP"},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prepared = mapping.prepare(table)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mapping.save("TAP-math-mapping.json")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18 个背景变量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feature_names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一个 outcome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target_name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缺失码与地区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显式 metadata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映射文件不包含原始数据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0-header"/>
          <p:cNvGrpSpPr/>
          <p:nvPr/>
        </p:nvGrpSpPr>
        <p:grpSpPr>
          <a:xfrm>
            <a:off x="594360" y="507206"/>
            <a:ext cx="4205935" cy="860584"/>
            <a:chOff x="594360" y="507206"/>
            <a:chExt cx="4205935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7333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3.1–3.2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20593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从变量到 19 节点模型</a:t>
              </a:r>
            </a:p>
          </p:txBody>
        </p:sp>
      </p:grpSp>
      <p:grpSp>
        <p:nvGrpSpPr>
          <p:cNvPr id="26" name="p10-network"/>
          <p:cNvGrpSpPr/>
          <p:nvPr/>
        </p:nvGrpSpPr>
        <p:grpSpPr>
          <a:xfrm>
            <a:off x="1028700" y="1828800"/>
            <a:ext cx="5753100" cy="3581400"/>
            <a:chOff x="1028700" y="1828800"/>
            <a:chExt cx="5753100" cy="3581400"/>
          </a:xfrm>
        </p:grpSpPr>
        <p:sp>
          <p:nvSpPr>
            <p:cNvPr id="5" name="Ellipse 5"/>
            <p:cNvSpPr/>
            <p:nvPr/>
          </p:nvSpPr>
          <p:spPr>
            <a:xfrm>
              <a:off x="3219450" y="2933700"/>
              <a:ext cx="1371600" cy="1371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397248" y="3365182"/>
              <a:ext cx="10160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Outcome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652799" y="3728085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 node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524000" y="23241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2381250" y="1295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028700" y="18288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4816" y="2251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家庭资源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524000" y="361950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23812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28700" y="31242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94816" y="35471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课堂教学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524000" y="36195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2381250" y="0"/>
                  </a:moveTo>
                  <a:lnTo>
                    <a:pt x="0" y="12954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28700" y="44196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14044" y="48425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动机与情绪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905250" y="23241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0" y="1295400"/>
                  </a:moveTo>
                  <a:lnTo>
                    <a:pt x="23812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791200" y="18288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73775" y="2251710"/>
              <a:ext cx="6254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ICT 资源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905250" y="361950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791200" y="31242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73775" y="3547110"/>
              <a:ext cx="6254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ICT 使用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905250" y="36195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0" y="0"/>
                  </a:moveTo>
                  <a:lnTo>
                    <a:pt x="2381250" y="12954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791200" y="44196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57316" y="4842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其他因素</a:t>
              </a:r>
            </a:p>
          </p:txBody>
        </p:sp>
      </p:grpSp>
      <p:grpSp>
        <p:nvGrpSpPr>
          <p:cNvPr id="36" name="p10-count"/>
          <p:cNvGrpSpPr/>
          <p:nvPr/>
        </p:nvGrpSpPr>
        <p:grpSpPr>
          <a:xfrm>
            <a:off x="7848600" y="1676400"/>
            <a:ext cx="3733800" cy="3905250"/>
            <a:chOff x="7848600" y="1676400"/>
            <a:chExt cx="3733800" cy="3905250"/>
          </a:xfrm>
        </p:grpSpPr>
        <p:sp>
          <p:nvSpPr>
            <p:cNvPr id="27" name="Rectangle 27"/>
            <p:cNvSpPr/>
            <p:nvPr/>
          </p:nvSpPr>
          <p:spPr>
            <a:xfrm>
              <a:off x="7848600" y="1676400"/>
              <a:ext cx="3733800" cy="390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45018" y="1917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一个模型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34350" y="2229802"/>
              <a:ext cx="1641020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18 + 1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46542" y="28451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节点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35874" y="33042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19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50249" y="3506629"/>
              <a:ext cx="5413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 hᵢ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35874" y="4028122"/>
              <a:ext cx="83969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171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55049" y="4230529"/>
              <a:ext cx="68885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 Jᵢⱼ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46923" y="4891564"/>
              <a:ext cx="1882394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每个地区 × 每个 outcome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独立拟合一组参数</a:t>
              </a:r>
            </a:p>
          </p:txBody>
        </p:sp>
      </p:grpSp>
      <p:grpSp>
        <p:nvGrpSpPr>
          <p:cNvPr id="39" name="p10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7" name="Line 3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4647" y="6333649"/>
              <a:ext cx="28463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10 / 25 · 节点集合决定模型能够表达的学习结构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实现：19 节点精确模型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feature_names=FEATURES_18,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target_name="PV1MATH",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normalization="zscore",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threshold_method="paper_std",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cfg, calculation="exact",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max_exact_nodes=19, seed=7,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18 + 1 节点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DataConfig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524,288 个状态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exact enumeration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190 个参数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19 h + 171 J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论文尺寸使用 exact 路径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2-header"/>
          <p:cNvGrpSpPr/>
          <p:nvPr/>
        </p:nvGrpSpPr>
        <p:grpSpPr>
          <a:xfrm>
            <a:off x="594360" y="507206"/>
            <a:ext cx="3779215" cy="860584"/>
            <a:chOff x="594360" y="507206"/>
            <a:chExt cx="3779215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3.2.2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77921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KL 散度与梯度迭代</a:t>
              </a:r>
            </a:p>
          </p:txBody>
        </p:sp>
      </p:grpSp>
      <p:grpSp>
        <p:nvGrpSpPr>
          <p:cNvPr id="7" name="p12-kl"/>
          <p:cNvGrpSpPr/>
          <p:nvPr/>
        </p:nvGrpSpPr>
        <p:grpSpPr>
          <a:xfrm>
            <a:off x="609600" y="1676400"/>
            <a:ext cx="5715000" cy="1200150"/>
            <a:chOff x="609600" y="1676400"/>
            <a:chExt cx="5715000" cy="12001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5715000" cy="120015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1207960" y="2159889"/>
              <a:ext cx="4518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-8096" rIns="0" bIns="0" anchor="t" anchorCtr="0">
              <a:noAutofit/>
            </a:bodyPr>
            <a:lstStyle/>
            <a:p>
              <a:pPr algn="ctr"/>
              <a:r>
                <a:rPr lang="el-GR" sz="1880" spc="15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Dᴷᴸ = Σₛ Pdata(s) ln[Pdata(s)/Pmodel(s)]</a:t>
              </a:r>
            </a:p>
          </p:txBody>
        </p:sp>
      </p:grpSp>
      <p:grpSp>
        <p:nvGrpSpPr>
          <p:cNvPr id="13" name="p12-grads"/>
          <p:cNvGrpSpPr/>
          <p:nvPr/>
        </p:nvGrpSpPr>
        <p:grpSpPr>
          <a:xfrm>
            <a:off x="6705600" y="1676400"/>
            <a:ext cx="4876800" cy="2095500"/>
            <a:chOff x="6705600" y="1676400"/>
            <a:chExt cx="4876800" cy="2095500"/>
          </a:xfrm>
        </p:grpSpPr>
        <p:sp>
          <p:nvSpPr>
            <p:cNvPr id="8" name="Rectangle 8"/>
            <p:cNvSpPr/>
            <p:nvPr/>
          </p:nvSpPr>
          <p:spPr>
            <a:xfrm>
              <a:off x="6705600" y="1676400"/>
              <a:ext cx="4876800" cy="2095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002018" y="1917382"/>
              <a:ext cx="20469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梯度 = moment gap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7001256" y="2434590"/>
              <a:ext cx="3135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8096" rIns="0" bIns="0" anchor="t" anchorCtr="0">
              <a:noAutofit/>
            </a:bodyPr>
            <a:lstStyle/>
            <a:p>
              <a:pPr algn="l"/>
              <a:r>
                <a:rPr lang="en-US" sz="1880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∂D/∂hᵢ = mᵢdata − mᵢmodel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7001256" y="2910840"/>
              <a:ext cx="3514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8096" rIns="0" bIns="0" anchor="t" anchorCtr="0">
              <a:noAutofit/>
            </a:bodyPr>
            <a:lstStyle/>
            <a:p>
              <a:pPr algn="l"/>
              <a:r>
                <a:rPr lang="en-US" sz="1880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∂D/∂Jᵢⱼ = Cᵢⱼdata − Cᵢⱼmodel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7003923" y="3348514"/>
              <a:ext cx="21943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C6B66"/>
                  </a:solidFill>
                  <a:latin typeface="Cambria Math"/>
                  <a:ea typeface="Microsoft YaHei"/>
                  <a:cs typeface="Cambria Math"/>
                </a:rPr>
                <a:t>mᵢ=〈sᵢ〉，Cᵢⱼ=〈sᵢsⱼ〉</a:t>
              </a:r>
            </a:p>
          </p:txBody>
        </p:sp>
      </p:grpSp>
      <p:grpSp>
        <p:nvGrpSpPr>
          <p:cNvPr id="28" name="p12-loop"/>
          <p:cNvGrpSpPr/>
          <p:nvPr/>
        </p:nvGrpSpPr>
        <p:grpSpPr>
          <a:xfrm>
            <a:off x="609600" y="3200400"/>
            <a:ext cx="5715000" cy="2476500"/>
            <a:chOff x="609600" y="3200400"/>
            <a:chExt cx="5715000" cy="2476500"/>
          </a:xfrm>
        </p:grpSpPr>
        <p:sp>
          <p:nvSpPr>
            <p:cNvPr id="14" name="Rectangle 14"/>
            <p:cNvSpPr/>
            <p:nvPr/>
          </p:nvSpPr>
          <p:spPr>
            <a:xfrm>
              <a:off x="609600" y="3200400"/>
              <a:ext cx="5715000" cy="2476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7918" y="3422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迭代流程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8200" y="4114800"/>
              <a:ext cx="800100" cy="800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7232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3097" y="5090160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数据 moments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2266950" y="4114800"/>
              <a:ext cx="800100" cy="80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0107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31847" y="5090160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模型 moments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695700" y="4114800"/>
              <a:ext cx="800100" cy="80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2982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66147" y="5090160"/>
              <a:ext cx="659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更新 h,J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124450" y="4114800"/>
              <a:ext cx="800100" cy="80010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5857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99355" y="509016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检查 gap</a:t>
              </a:r>
            </a:p>
          </p:txBody>
        </p:sp>
      </p:grpSp>
      <p:grpSp>
        <p:nvGrpSpPr>
          <p:cNvPr id="32" name="p12-stop"/>
          <p:cNvGrpSpPr/>
          <p:nvPr/>
        </p:nvGrpSpPr>
        <p:grpSpPr>
          <a:xfrm>
            <a:off x="6705600" y="4095750"/>
            <a:ext cx="4876800" cy="1581150"/>
            <a:chOff x="6705600" y="4095750"/>
            <a:chExt cx="4876800" cy="1581150"/>
          </a:xfrm>
        </p:grpSpPr>
        <p:sp>
          <p:nvSpPr>
            <p:cNvPr id="29" name="Rectangle 29"/>
            <p:cNvSpPr/>
            <p:nvPr/>
          </p:nvSpPr>
          <p:spPr>
            <a:xfrm>
              <a:off x="6705600" y="4095750"/>
              <a:ext cx="4876800" cy="1581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02399" y="43448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停止条件</a:t>
              </a:r>
            </a:p>
          </p:txBody>
        </p:sp>
        <p:sp>
          <p:nvSpPr>
            <p:cNvPr id="31" name="TextBox 31"/>
            <p:cNvSpPr/>
            <p:nvPr/>
          </p:nvSpPr>
          <p:spPr>
            <a:xfrm>
              <a:off x="7002018" y="4774882"/>
              <a:ext cx="2025872" cy="722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650" dirty="0">
                  <a:solidFill>
                    <a:srgbClr val="B8C9C3"/>
                  </a:solidFill>
                  <a:latin typeface="Cambria Math"/>
                  <a:ea typeface="Cambria Math"/>
                  <a:cs typeface="Cambria Math"/>
                </a:rPr>
                <a:t>mdata − mmodel → 0</a:t>
              </a:r>
              <a:br/>
              <a:r>
                <a:rPr lang="en-US" sz="1650" dirty="0">
                  <a:solidFill>
                    <a:srgbClr val="B8C9C3"/>
                  </a:solidFill>
                  <a:latin typeface="Cambria Math"/>
                  <a:ea typeface="Cambria Math"/>
                  <a:cs typeface="Cambria Math"/>
                </a:rPr>
                <a:t>Cdata − Cmodel → 0</a:t>
              </a:r>
            </a:p>
          </p:txBody>
        </p:sp>
      </p:grpSp>
      <p:grpSp>
        <p:nvGrpSpPr>
          <p:cNvPr id="35" name="p12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3" name="Line 33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4647" y="6333649"/>
              <a:ext cx="34861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12 / 25 · 训练的数学核心是缩小一阶与二阶 moments 差异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实现：KL 梯度训练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fit.converged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fit.epochs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fit.objective_history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fit.mean_error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fit.correlation_error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fit.diagnostics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model.h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model.J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训练目标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method="kl"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停止状态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converged / epochs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moment gap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mean / correlation error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训练结束不等于已收敛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3-header"/>
          <p:cNvGrpSpPr/>
          <p:nvPr/>
        </p:nvGrpSpPr>
        <p:grpSpPr>
          <a:xfrm>
            <a:off x="594360" y="507206"/>
            <a:ext cx="4724400" cy="860584"/>
            <a:chOff x="594360" y="507206"/>
            <a:chExt cx="472440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3.2.2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72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论文实验协议与模型数量</a:t>
              </a:r>
            </a:p>
          </p:txBody>
        </p:sp>
      </p:grpSp>
      <p:grpSp>
        <p:nvGrpSpPr>
          <p:cNvPr id="15" name="p13-models"/>
          <p:cNvGrpSpPr/>
          <p:nvPr/>
        </p:nvGrpSpPr>
        <p:grpSpPr>
          <a:xfrm>
            <a:off x="590550" y="1800225"/>
            <a:ext cx="10991850" cy="1352550"/>
            <a:chOff x="590550" y="1800225"/>
            <a:chExt cx="10991850" cy="1352550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18002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最终分析单位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2159318"/>
              <a:ext cx="3762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5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15568" y="2450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经济体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224022" y="232124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76700" y="2159318"/>
              <a:ext cx="3762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01718" y="2450782"/>
              <a:ext cx="10896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outcomes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53072" y="232124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=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3850" y="2159318"/>
              <a:ext cx="71446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15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92718" y="2450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个模型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3143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B8C9C3"/>
              </a:solidFill>
            </a:ln>
          </p:spPr>
        </p:sp>
      </p:grpSp>
      <p:grpSp>
        <p:nvGrpSpPr>
          <p:cNvPr id="21" name="p13-repeats"/>
          <p:cNvGrpSpPr/>
          <p:nvPr/>
        </p:nvGrpSpPr>
        <p:grpSpPr>
          <a:xfrm>
            <a:off x="609600" y="3790950"/>
            <a:ext cx="10972800" cy="1790700"/>
            <a:chOff x="609600" y="3790950"/>
            <a:chExt cx="10972800" cy="1790700"/>
          </a:xfrm>
        </p:grpSpPr>
        <p:sp>
          <p:nvSpPr>
            <p:cNvPr id="16" name="Rectangle 16"/>
            <p:cNvSpPr/>
            <p:nvPr/>
          </p:nvSpPr>
          <p:spPr>
            <a:xfrm>
              <a:off x="609600" y="3790950"/>
              <a:ext cx="10972800" cy="1790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8680" y="40100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稳定性检验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9536" y="4463415"/>
              <a:ext cx="290224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15 × 16 = 240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87368" y="46415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次训练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89392" y="4140518"/>
              <a:ext cx="1985391" cy="9879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每次随机抽取 1,200 行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检查 h 与 J 的重复稳定性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论文报告参数相关约 0.99</a:t>
              </a:r>
            </a:p>
          </p:txBody>
        </p:sp>
      </p:grpSp>
      <p:grpSp>
        <p:nvGrpSpPr>
          <p:cNvPr id="24" name="p13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2" name="Line 2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647" y="6333649"/>
              <a:ext cx="43239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13 / 25 · 240 次训练是重复实验；论文解释对象仍是 15 个地区-学科模型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Script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实现：论文重复训练协议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examples.pisa_paper_reproduction import run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 = run(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table, economy_column="CNT",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sample_size=1200,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repeats=16,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model_dir="artifacts/models",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len(report["results"])  # 240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report["repeat_parameter_correlations"]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15 个组合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5 地区 × 3 outcome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每组 16 repeats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240 次 fit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最终 artifact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每组选择 1 个模型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repeat 属于复现协议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4-header"/>
          <p:cNvGrpSpPr/>
          <p:nvPr/>
        </p:nvGrpSpPr>
        <p:grpSpPr>
          <a:xfrm>
            <a:off x="594360" y="507206"/>
            <a:ext cx="6470752" cy="860584"/>
            <a:chOff x="594360" y="507206"/>
            <a:chExt cx="6470752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11200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E85D3F"/>
                  </a:solidFill>
                  <a:latin typeface="Arial Unicode MS"/>
                  <a:ea typeface="Microsoft YaHei"/>
                  <a:cs typeface="Arial Unicode MS"/>
                </a:rPr>
                <a:t>复现 · Figure 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47075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一阶与二阶 moments 的拟合验证</a:t>
              </a:r>
            </a:p>
          </p:txBody>
        </p:sp>
      </p:grpSp>
      <p:grpSp>
        <p:nvGrpSpPr>
          <p:cNvPr id="31" name="p1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9" name="Line 2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0" name="TextBox 30"/>
            <p:cNvSpPr/>
            <p:nvPr/>
          </p:nvSpPr>
          <p:spPr>
            <a:xfrm>
              <a:off x="604647" y="6333649"/>
              <a:ext cx="34069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14 / 25 · 一、二阶拟合结果</a:t>
              </a:r>
            </a:p>
          </p:txBody>
        </p:sp>
      </p:grpSp>
      <p:grpSp>
        <p:nvGrpSpPr>
          <p:cNvPr id="9" name="figure-3-results"/>
          <p:cNvGrpSpPr/>
          <p:nvPr/>
        </p:nvGrpSpPr>
        <p:grpSpPr>
          <a:xfrm>
            <a:off x="666750" y="1666875"/>
            <a:ext cx="8572500" cy="3905250"/>
            <a:chOff x="666750" y="1666875"/>
            <a:chExt cx="8572500" cy="3905250"/>
          </a:xfrm>
        </p:grpSpPr>
        <p:sp>
          <p:nvSpPr>
            <p:cNvPr id="7" name="Rectangle 7"/>
            <p:cNvSpPr/>
            <p:nvPr/>
          </p:nvSpPr>
          <p:spPr>
            <a:xfrm>
              <a:off x="666750" y="1666875"/>
              <a:ext cx="8572500" cy="3905250"/>
            </a:xfrm>
            <a:prstGeom prst="roundRect">
              <a:avLst>
                <a:gd name="adj" fmla="val 1463"/>
              </a:avLst>
            </a:prstGeom>
            <a:solidFill>
              <a:srgbClr val="FFFFFF"/>
            </a:solidFill>
            <a:ln w="9525">
              <a:solidFill>
                <a:srgbClr val="B8C9C3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6775" y="1762125"/>
              <a:ext cx="8172450" cy="3714750"/>
            </a:xfrm>
            <a:prstGeom prst="rect">
              <a:avLst/>
            </a:prstGeom>
          </p:spPr>
        </p:pic>
      </p:grpSp>
      <p:grpSp>
        <p:nvGrpSpPr>
          <p:cNvPr id="17" name="figure-3-metrics"/>
          <p:cNvGrpSpPr/>
          <p:nvPr/>
        </p:nvGrpSpPr>
        <p:grpSpPr>
          <a:xfrm>
            <a:off x="9505950" y="1666875"/>
            <a:ext cx="2114550" cy="3905250"/>
            <a:chOff x="9505950" y="1666875"/>
            <a:chExt cx="2114550" cy="3905250"/>
          </a:xfrm>
        </p:grpSpPr>
        <p:sp>
          <p:nvSpPr>
            <p:cNvPr id="10" name="Rectangle 10"/>
            <p:cNvSpPr/>
            <p:nvPr/>
          </p:nvSpPr>
          <p:spPr>
            <a:xfrm>
              <a:off x="9505950" y="1666875"/>
              <a:ext cx="2114550" cy="3905250"/>
            </a:xfrm>
            <a:prstGeom prst="roundRect">
              <a:avLst>
                <a:gd name="adj" fmla="val 2703"/>
              </a:avLst>
            </a:prstGeom>
            <a:solidFill>
              <a:srgbClr val="12372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46742" y="1930718"/>
              <a:ext cx="1175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C9C3"/>
                  </a:solidFill>
                  <a:latin typeface="Arial"/>
                  <a:ea typeface="Microsoft YaHei"/>
                  <a:cs typeface="Arial"/>
                </a:rPr>
                <a:t>15 个选定模型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47123" y="26055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一阶平均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42170" y="2919412"/>
              <a:ext cx="15808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E85D3F"/>
                  </a:solidFill>
                  <a:latin typeface="Arial"/>
                  <a:ea typeface="Arial"/>
                  <a:cs typeface="Arial"/>
                </a:rPr>
                <a:t>r = 0.99999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47123" y="3767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二阶平均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42170" y="4081462"/>
              <a:ext cx="15808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A9D8F"/>
                  </a:solidFill>
                  <a:latin typeface="Arial"/>
                  <a:ea typeface="Arial"/>
                  <a:cs typeface="Arial"/>
                </a:rPr>
                <a:t>r = 0.99999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47885" y="4831556"/>
              <a:ext cx="114935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B8C9C3"/>
                  </a:solidFill>
                  <a:latin typeface="Arial"/>
                  <a:ea typeface="Microsoft YaHei"/>
                  <a:cs typeface="Arial"/>
                </a:rPr>
                <a:t>均为训练目标</a:t>
              </a:r>
              <a:br/>
              <a:r>
                <a:rPr lang="zh-CN" sz="1120" dirty="0">
                  <a:solidFill>
                    <a:srgbClr val="B8C9C3"/>
                  </a:solidFill>
                  <a:latin typeface="Arial"/>
                  <a:ea typeface="Microsoft YaHei"/>
                  <a:cs typeface="Arial"/>
                </a:rPr>
                <a:t>用于确认优化收敛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实现：一二阶 moments 验证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compare_moment_orders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 = compare_moment_orders(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observed={1: data_m1, 2: data_m2},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modeled={1: model_m1, 2: model_m2},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tolerances={1: 1e-3, 2: 1e-3},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check.max_absolute_error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check.mean_absolute_error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check.passed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order 1 / 2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训练目标内统计量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验证指标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绝对误差与 tolerance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通过状态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MomentComparison.passed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误差阈值验证优化结果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5-header"/>
          <p:cNvGrpSpPr/>
          <p:nvPr/>
        </p:nvGrpSpPr>
        <p:grpSpPr>
          <a:xfrm>
            <a:off x="594360" y="507206"/>
            <a:ext cx="7324192" cy="860584"/>
            <a:chOff x="594360" y="507206"/>
            <a:chExt cx="7324192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11200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E85D3F"/>
                  </a:solidFill>
                  <a:latin typeface="Arial Unicode MS"/>
                  <a:ea typeface="Microsoft YaHei"/>
                  <a:cs typeface="Arial Unicode MS"/>
                </a:rPr>
                <a:t>复现 · Figure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3241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三阶与四阶 moments 的外部结构检验</a:t>
              </a:r>
            </a:p>
          </p:txBody>
        </p:sp>
      </p:grpSp>
      <p:grpSp>
        <p:nvGrpSpPr>
          <p:cNvPr id="29" name="p15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7" name="Line 2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8" name="TextBox 28"/>
            <p:cNvSpPr/>
            <p:nvPr/>
          </p:nvSpPr>
          <p:spPr>
            <a:xfrm>
              <a:off x="604647" y="6333649"/>
              <a:ext cx="39544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15 / 25 · 高相关性成立，但三、四阶严格误差标准尚未通过</a:t>
              </a:r>
            </a:p>
          </p:txBody>
        </p:sp>
      </p:grpSp>
      <p:grpSp>
        <p:nvGrpSpPr>
          <p:cNvPr id="9" name="figure-4-results"/>
          <p:cNvGrpSpPr/>
          <p:nvPr/>
        </p:nvGrpSpPr>
        <p:grpSpPr>
          <a:xfrm>
            <a:off x="666750" y="1666875"/>
            <a:ext cx="8572500" cy="3905250"/>
            <a:chOff x="666750" y="1666875"/>
            <a:chExt cx="8572500" cy="3905250"/>
          </a:xfrm>
        </p:grpSpPr>
        <p:sp>
          <p:nvSpPr>
            <p:cNvPr id="7" name="Rectangle 7"/>
            <p:cNvSpPr/>
            <p:nvPr/>
          </p:nvSpPr>
          <p:spPr>
            <a:xfrm>
              <a:off x="666750" y="1666875"/>
              <a:ext cx="8572500" cy="3905250"/>
            </a:xfrm>
            <a:prstGeom prst="roundRect">
              <a:avLst>
                <a:gd name="adj" fmla="val 1463"/>
              </a:avLst>
            </a:prstGeom>
            <a:solidFill>
              <a:srgbClr val="FFFFFF"/>
            </a:solidFill>
            <a:ln w="9525">
              <a:solidFill>
                <a:srgbClr val="B8C9C3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6775" y="1762125"/>
              <a:ext cx="8172450" cy="3714750"/>
            </a:xfrm>
            <a:prstGeom prst="rect">
              <a:avLst/>
            </a:prstGeom>
          </p:spPr>
        </p:pic>
      </p:grpSp>
      <p:grpSp>
        <p:nvGrpSpPr>
          <p:cNvPr id="17" name="figure-4-metrics"/>
          <p:cNvGrpSpPr/>
          <p:nvPr/>
        </p:nvGrpSpPr>
        <p:grpSpPr>
          <a:xfrm>
            <a:off x="9505950" y="1666875"/>
            <a:ext cx="2114550" cy="3905250"/>
            <a:chOff x="9505950" y="1666875"/>
            <a:chExt cx="2114550" cy="3905250"/>
          </a:xfrm>
        </p:grpSpPr>
        <p:sp>
          <p:nvSpPr>
            <p:cNvPr id="10" name="Rectangle 10"/>
            <p:cNvSpPr/>
            <p:nvPr/>
          </p:nvSpPr>
          <p:spPr>
            <a:xfrm>
              <a:off x="9505950" y="1666875"/>
              <a:ext cx="2114550" cy="3905250"/>
            </a:xfrm>
            <a:prstGeom prst="roundRect">
              <a:avLst>
                <a:gd name="adj" fmla="val 2703"/>
              </a:avLst>
            </a:prstGeom>
            <a:solidFill>
              <a:srgbClr val="12372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46742" y="19307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C9C3"/>
                  </a:solidFill>
                  <a:latin typeface="Arial"/>
                  <a:ea typeface="Microsoft YaHei"/>
                  <a:cs typeface="Arial"/>
                </a:rPr>
                <a:t>未参与训练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47123" y="25865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42932" y="2897505"/>
              <a:ext cx="147549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A9D8F"/>
                  </a:solidFill>
                  <a:latin typeface="Arial"/>
                  <a:ea typeface="Arial"/>
                  <a:cs typeface="Arial"/>
                </a:rPr>
                <a:t>r = 0.97978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47123" y="36914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四阶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42932" y="4002405"/>
              <a:ext cx="147549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E85D3F"/>
                  </a:solidFill>
                  <a:latin typeface="Arial"/>
                  <a:ea typeface="Arial"/>
                  <a:cs typeface="Arial"/>
                </a:rPr>
                <a:t>r = 0.93379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47885" y="4755356"/>
              <a:ext cx="873148" cy="658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严格误差标准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三阶：0 / 240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四阶：0 / 240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实现：三四阶 moments 验证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higher = compare_moment_orders(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observed={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3: empirical_m3,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4: empirical_m4,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},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modeled={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3: modeled_m3,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4: modeled_m4,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},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tolerances={3: 0.05, 4: 0.05},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higher.passed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order 3 / 4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未进入参数更新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组合键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observed / modeled 一致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用途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外部结构检验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高阶一致性是外部检验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6-header"/>
          <p:cNvGrpSpPr/>
          <p:nvPr/>
        </p:nvGrpSpPr>
        <p:grpSpPr>
          <a:xfrm>
            <a:off x="594360" y="507206"/>
            <a:ext cx="3479978" cy="860584"/>
            <a:chOff x="594360" y="507206"/>
            <a:chExt cx="3479978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18404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E85D3F"/>
                  </a:solidFill>
                  <a:latin typeface="Arial Unicode MS"/>
                  <a:ea typeface="Microsoft YaHei"/>
                  <a:cs typeface="Arial Unicode MS"/>
                </a:rPr>
                <a:t>我们的复现 · Figure 5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47997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J 分布的长尾结构</a:t>
              </a:r>
            </a:p>
          </p:txBody>
        </p:sp>
      </p:grpSp>
      <p:grpSp>
        <p:nvGrpSpPr>
          <p:cNvPr id="36" name="p16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4" name="Line 34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5" name="TextBox 35"/>
            <p:cNvSpPr/>
            <p:nvPr/>
          </p:nvSpPr>
          <p:spPr>
            <a:xfrm>
              <a:off x="604647" y="6333649"/>
              <a:ext cx="32619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16 / 25 · J 分布统计</a:t>
              </a:r>
            </a:p>
          </p:txBody>
        </p:sp>
      </p:grpSp>
      <p:grpSp>
        <p:nvGrpSpPr>
          <p:cNvPr id="9" name="figure-5-results"/>
          <p:cNvGrpSpPr/>
          <p:nvPr/>
        </p:nvGrpSpPr>
        <p:grpSpPr>
          <a:xfrm>
            <a:off x="666750" y="1733550"/>
            <a:ext cx="8572500" cy="3028950"/>
            <a:chOff x="666750" y="1733550"/>
            <a:chExt cx="8572500" cy="3028950"/>
          </a:xfrm>
        </p:grpSpPr>
        <p:sp>
          <p:nvSpPr>
            <p:cNvPr id="7" name="Rectangle 7"/>
            <p:cNvSpPr/>
            <p:nvPr/>
          </p:nvSpPr>
          <p:spPr>
            <a:xfrm>
              <a:off x="666750" y="1733550"/>
              <a:ext cx="8572500" cy="3028950"/>
            </a:xfrm>
            <a:prstGeom prst="roundRect">
              <a:avLst>
                <a:gd name="adj" fmla="val 1887"/>
              </a:avLst>
            </a:prstGeom>
            <a:solidFill>
              <a:srgbClr val="FFFFFF"/>
            </a:solidFill>
            <a:ln w="9525">
              <a:solidFill>
                <a:srgbClr val="B8C9C3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1050" y="1996440"/>
              <a:ext cx="8343900" cy="2503170"/>
            </a:xfrm>
            <a:prstGeom prst="rect">
              <a:avLst/>
            </a:prstGeom>
          </p:spPr>
        </p:pic>
      </p:grpSp>
      <p:grpSp>
        <p:nvGrpSpPr>
          <p:cNvPr id="16" name="figure-5-metrics"/>
          <p:cNvGrpSpPr/>
          <p:nvPr/>
        </p:nvGrpSpPr>
        <p:grpSpPr>
          <a:xfrm>
            <a:off x="9505950" y="1733550"/>
            <a:ext cx="2114550" cy="3028950"/>
            <a:chOff x="9505950" y="1733550"/>
            <a:chExt cx="2114550" cy="3028950"/>
          </a:xfrm>
        </p:grpSpPr>
        <p:sp>
          <p:nvSpPr>
            <p:cNvPr id="10" name="Rectangle 10"/>
            <p:cNvSpPr/>
            <p:nvPr/>
          </p:nvSpPr>
          <p:spPr>
            <a:xfrm>
              <a:off x="9505950" y="1733550"/>
              <a:ext cx="2114550" cy="3028950"/>
            </a:xfrm>
            <a:prstGeom prst="roundRect">
              <a:avLst>
                <a:gd name="adj" fmla="val 2703"/>
              </a:avLst>
            </a:prstGeom>
            <a:solidFill>
              <a:srgbClr val="12372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46742" y="1987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8C9C3"/>
                  </a:solidFill>
                  <a:latin typeface="Arial"/>
                  <a:ea typeface="Microsoft YaHei"/>
                  <a:cs typeface="Arial"/>
                </a:rPr>
                <a:t>实际统计范围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47504" y="2613660"/>
              <a:ext cx="7214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skewness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44456" y="2929890"/>
              <a:ext cx="16215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85D3F"/>
                  </a:solidFill>
                  <a:latin typeface="Arial"/>
                  <a:ea typeface="Microsoft YaHei"/>
                  <a:cs typeface="Arial"/>
                </a:rPr>
                <a:t>−2.54 ～ −1.62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47504" y="3699510"/>
              <a:ext cx="1116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excess kurtosis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44456" y="4015740"/>
              <a:ext cx="1338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5.20 ～ 9.21</a:t>
              </a:r>
            </a:p>
          </p:txBody>
        </p:sp>
      </p:grpSp>
      <p:grpSp>
        <p:nvGrpSpPr>
          <p:cNvPr id="19" name="figure-5-note"/>
          <p:cNvGrpSpPr/>
          <p:nvPr/>
        </p:nvGrpSpPr>
        <p:grpSpPr>
          <a:xfrm>
            <a:off x="781050" y="5048250"/>
            <a:ext cx="10839450" cy="666750"/>
            <a:chOff x="781050" y="5048250"/>
            <a:chExt cx="10839450" cy="666750"/>
          </a:xfrm>
        </p:grpSpPr>
        <p:sp>
          <p:nvSpPr>
            <p:cNvPr id="17" name="Rectangle 17"/>
            <p:cNvSpPr/>
            <p:nvPr/>
          </p:nvSpPr>
          <p:spPr>
            <a:xfrm>
              <a:off x="781050" y="5048250"/>
              <a:ext cx="10839450" cy="666750"/>
            </a:xfrm>
            <a:prstGeom prst="roundRect">
              <a:avLst>
                <a:gd name="adj" fmla="val 5714"/>
              </a:avLst>
            </a:prstGeom>
            <a:solidFill>
              <a:srgbClr val="E5F0E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3173" y="5310664"/>
              <a:ext cx="64948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2372E"/>
                  </a:solidFill>
                  <a:latin typeface="Arial"/>
                  <a:ea typeface="Microsoft YaHei"/>
                  <a:cs typeface="Arial"/>
                </a:rPr>
                <a:t>15 个模型 × 每个模型 171 个 Jᵢⱼ；图中三个面板分别为 Math、Reading、Science。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Inspection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实现：提取独立 J 参数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numpy as np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 = model.J.detach().cpu().numpy()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i, j = np.triu_indices_from(J, k=1)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 = J[i, j]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summary = {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"mean": values.mean(),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"std": values.std(),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"min": values.min(),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"max": values.max(),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对称 J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只取上三角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 节点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171 个 values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后续统计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histogram / skew / kurtosis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避免重复计算同一 pair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7-header"/>
          <p:cNvGrpSpPr/>
          <p:nvPr/>
        </p:nvGrpSpPr>
        <p:grpSpPr>
          <a:xfrm>
            <a:off x="594360" y="507206"/>
            <a:ext cx="6224134" cy="860584"/>
            <a:chOff x="594360" y="507206"/>
            <a:chExt cx="6224134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4.0.1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2241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Effective interaction 的定义</a:t>
              </a:r>
            </a:p>
          </p:txBody>
        </p:sp>
      </p:grpSp>
      <p:grpSp>
        <p:nvGrpSpPr>
          <p:cNvPr id="18" name="p17-original"/>
          <p:cNvGrpSpPr/>
          <p:nvPr/>
        </p:nvGrpSpPr>
        <p:grpSpPr>
          <a:xfrm>
            <a:off x="609600" y="1714500"/>
            <a:ext cx="4000500" cy="3676650"/>
            <a:chOff x="609600" y="1714500"/>
            <a:chExt cx="4000500" cy="3676650"/>
          </a:xfrm>
        </p:grpSpPr>
        <p:sp>
          <p:nvSpPr>
            <p:cNvPr id="5" name="Rectangle 5"/>
            <p:cNvSpPr/>
            <p:nvPr/>
          </p:nvSpPr>
          <p:spPr>
            <a:xfrm>
              <a:off x="609600" y="1714500"/>
              <a:ext cx="4000500" cy="3676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9364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原模型</a:t>
              </a:r>
            </a:p>
          </p:txBody>
        </p:sp>
        <p:sp>
          <p:nvSpPr>
            <p:cNvPr id="7" name="Ellipse 7"/>
            <p:cNvSpPr/>
            <p:nvPr/>
          </p:nvSpPr>
          <p:spPr>
            <a:xfrm>
              <a:off x="2095500" y="2876550"/>
              <a:ext cx="1028700" cy="10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216574" y="3321368"/>
              <a:ext cx="786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outcome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428750" y="2724150"/>
              <a:ext cx="1181100" cy="666750"/>
            </a:xfrm>
            <a:custGeom>
              <a:avLst/>
              <a:gdLst/>
              <a:ahLst/>
              <a:cxnLst/>
              <a:rect l="l" t="t" r="r" b="b"/>
              <a:pathLst>
                <a:path w="1181100" h="666750">
                  <a:moveTo>
                    <a:pt x="1181100" y="6667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162050" y="24574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3390900"/>
              <a:ext cx="1181100" cy="704850"/>
            </a:xfrm>
            <a:custGeom>
              <a:avLst/>
              <a:gdLst/>
              <a:ahLst/>
              <a:cxnLst/>
              <a:rect l="l" t="t" r="r" b="b"/>
              <a:pathLst>
                <a:path w="1181100" h="704850">
                  <a:moveTo>
                    <a:pt x="1181100" y="0"/>
                  </a:moveTo>
                  <a:lnTo>
                    <a:pt x="0" y="7048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162050" y="38290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609850" y="2724150"/>
              <a:ext cx="1104900" cy="666750"/>
            </a:xfrm>
            <a:custGeom>
              <a:avLst/>
              <a:gdLst/>
              <a:ahLst/>
              <a:cxnLst/>
              <a:rect l="l" t="t" r="r" b="b"/>
              <a:pathLst>
                <a:path w="1104900" h="666750">
                  <a:moveTo>
                    <a:pt x="0" y="666750"/>
                  </a:moveTo>
                  <a:lnTo>
                    <a:pt x="11049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448050" y="24574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2609850" y="3390900"/>
              <a:ext cx="1104900" cy="704850"/>
            </a:xfrm>
            <a:custGeom>
              <a:avLst/>
              <a:gdLst/>
              <a:ahLst/>
              <a:cxnLst/>
              <a:rect l="l" t="t" r="r" b="b"/>
              <a:pathLst>
                <a:path w="1104900" h="704850">
                  <a:moveTo>
                    <a:pt x="0" y="0"/>
                  </a:moveTo>
                  <a:lnTo>
                    <a:pt x="1104900" y="7048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448050" y="38290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9442" y="48453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所有节点自由变化</a:t>
              </a:r>
            </a:p>
          </p:txBody>
        </p:sp>
      </p:grpSp>
      <p:grpSp>
        <p:nvGrpSpPr>
          <p:cNvPr id="32" name="p17-frozen"/>
          <p:cNvGrpSpPr/>
          <p:nvPr/>
        </p:nvGrpSpPr>
        <p:grpSpPr>
          <a:xfrm>
            <a:off x="5105400" y="1714500"/>
            <a:ext cx="4000500" cy="3676650"/>
            <a:chOff x="5105400" y="1714500"/>
            <a:chExt cx="4000500" cy="3676650"/>
          </a:xfrm>
        </p:grpSpPr>
        <p:sp>
          <p:nvSpPr>
            <p:cNvPr id="19" name="Rectangle 19"/>
            <p:cNvSpPr/>
            <p:nvPr/>
          </p:nvSpPr>
          <p:spPr>
            <a:xfrm>
              <a:off x="5105400" y="1714500"/>
              <a:ext cx="4000500" cy="36766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63718" y="1936432"/>
              <a:ext cx="1360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冻结节点 k=0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91300" y="2876550"/>
              <a:ext cx="1028700" cy="10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2374" y="3321368"/>
              <a:ext cx="786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outcome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924550" y="2724150"/>
              <a:ext cx="1181100" cy="666750"/>
            </a:xfrm>
            <a:custGeom>
              <a:avLst/>
              <a:gdLst/>
              <a:ahLst/>
              <a:cxnLst/>
              <a:rect l="l" t="t" r="r" b="b"/>
              <a:pathLst>
                <a:path w="1181100" h="666750">
                  <a:moveTo>
                    <a:pt x="1181100" y="6667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657850" y="2457450"/>
              <a:ext cx="533400" cy="533400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B8C9C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5924550" y="3390900"/>
              <a:ext cx="1181100" cy="704850"/>
            </a:xfrm>
            <a:custGeom>
              <a:avLst/>
              <a:gdLst/>
              <a:ahLst/>
              <a:cxnLst/>
              <a:rect l="l" t="t" r="r" b="b"/>
              <a:pathLst>
                <a:path w="1181100" h="704850">
                  <a:moveTo>
                    <a:pt x="1181100" y="0"/>
                  </a:moveTo>
                  <a:lnTo>
                    <a:pt x="0" y="70485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657850" y="3829050"/>
              <a:ext cx="533400" cy="533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105650" y="2724150"/>
              <a:ext cx="1104900" cy="666750"/>
            </a:xfrm>
            <a:custGeom>
              <a:avLst/>
              <a:gdLst/>
              <a:ahLst/>
              <a:cxnLst/>
              <a:rect l="l" t="t" r="r" b="b"/>
              <a:pathLst>
                <a:path w="1104900" h="666750">
                  <a:moveTo>
                    <a:pt x="0" y="666750"/>
                  </a:moveTo>
                  <a:lnTo>
                    <a:pt x="1104900" y="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943850" y="2457450"/>
              <a:ext cx="533400" cy="533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7105650" y="3390900"/>
              <a:ext cx="1104900" cy="704850"/>
            </a:xfrm>
            <a:custGeom>
              <a:avLst/>
              <a:gdLst/>
              <a:ahLst/>
              <a:cxnLst/>
              <a:rect l="l" t="t" r="r" b="b"/>
              <a:pathLst>
                <a:path w="1104900" h="704850">
                  <a:moveTo>
                    <a:pt x="0" y="0"/>
                  </a:moveTo>
                  <a:lnTo>
                    <a:pt x="1104900" y="70485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943850" y="3829050"/>
              <a:ext cx="533400" cy="533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65242" y="48453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其他节点重新分布</a:t>
              </a:r>
            </a:p>
          </p:txBody>
        </p:sp>
      </p:grpSp>
      <p:grpSp>
        <p:nvGrpSpPr>
          <p:cNvPr id="36" name="p17-eps"/>
          <p:cNvGrpSpPr/>
          <p:nvPr/>
        </p:nvGrpSpPr>
        <p:grpSpPr>
          <a:xfrm>
            <a:off x="9448800" y="1714500"/>
            <a:ext cx="2133600" cy="3676650"/>
            <a:chOff x="9448800" y="1714500"/>
            <a:chExt cx="2133600" cy="3676650"/>
          </a:xfrm>
        </p:grpSpPr>
        <p:sp>
          <p:nvSpPr>
            <p:cNvPr id="33" name="Rectangle 33"/>
            <p:cNvSpPr/>
            <p:nvPr/>
          </p:nvSpPr>
          <p:spPr>
            <a:xfrm>
              <a:off x="9448800" y="1714500"/>
              <a:ext cx="2133600" cy="3676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/>
            <p:nvPr/>
          </p:nvSpPr>
          <p:spPr>
            <a:xfrm>
              <a:off x="10094595" y="1915478"/>
              <a:ext cx="8419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-16192" rIns="0" bIns="0" anchor="t" anchorCtr="0">
              <a:noAutofit/>
            </a:bodyPr>
            <a:lstStyle/>
            <a:p>
              <a:pPr algn="ctr"/>
              <a:r>
                <a:rPr lang="el-GR" sz="2700" i="1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εᵢ(k)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09023" y="2643664"/>
              <a:ext cx="1126490" cy="1220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= 冻结后有效场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− 原有效场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论文计算路径</a:t>
              </a:r>
              <a:br/>
              <a:r>
                <a:rPr lang="en-US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Monte Carlo</a:t>
              </a:r>
            </a:p>
          </p:txBody>
        </p:sp>
      </p:grpSp>
      <p:grpSp>
        <p:nvGrpSpPr>
          <p:cNvPr id="39" name="p17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7" name="Line 3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4647" y="6333649"/>
              <a:ext cx="39677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17 / 25 · ε 衡量冻结节点后经整个网络传播到 outcome 的累计变化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实现：Monte Carlo 结构诊断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 = model.effective_interaction_report(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calculation="monte_carlo",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effects = report["values"]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 = report["baseline_diagnostics"]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per_node = report["clamp_diagnostics"]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baseline["max_rhat"]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baseline["min_effective_sample_size"]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baseline["max_mcse"]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论文原始路径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Monte Carlo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冻结每个节点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clamp_diagnostics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采样质量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R-hat / ESS / MCSE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结构诊断不是因果效应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8-header"/>
          <p:cNvGrpSpPr/>
          <p:nvPr/>
        </p:nvGrpSpPr>
        <p:grpSpPr>
          <a:xfrm>
            <a:off x="594360" y="507206"/>
            <a:ext cx="7504271" cy="860584"/>
            <a:chOff x="594360" y="507206"/>
            <a:chExt cx="7504271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15504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E85D3F"/>
                  </a:solidFill>
                  <a:latin typeface="Arial Unicode MS"/>
                  <a:ea typeface="Microsoft YaHei"/>
                  <a:cs typeface="Arial Unicode MS"/>
                </a:rPr>
                <a:t>复现 · Figure 6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750427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3000" b="1" dirty="0">
                  <a:solidFill>
                    <a:srgbClr val="12372E"/>
                  </a:solidFill>
                  <a:latin typeface="Arial Unicode MS"/>
                  <a:ea typeface="Arial Unicode MS"/>
                  <a:cs typeface="Arial Unicode MS"/>
                </a:rPr>
                <a:t>TAP effective interaction</a:t>
              </a:r>
            </a:p>
          </p:txBody>
        </p:sp>
      </p:grpSp>
      <p:grpSp>
        <p:nvGrpSpPr>
          <p:cNvPr id="7" name="p18-evidence"/>
          <p:cNvGrpSpPr/>
          <p:nvPr/>
        </p:nvGrpSpPr>
        <p:grpSpPr>
          <a:xfrm>
            <a:off x="609600" y="1581150"/>
            <a:ext cx="7620000" cy="3390900"/>
            <a:chOff x="609600" y="1581150"/>
            <a:chExt cx="7620000" cy="339090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7620000" cy="33909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1983105"/>
              <a:ext cx="7391400" cy="2586990"/>
            </a:xfrm>
            <a:prstGeom prst="rect">
              <a:avLst/>
            </a:prstGeom>
          </p:spPr>
        </p:pic>
      </p:grpSp>
      <p:grpSp>
        <p:nvGrpSpPr>
          <p:cNvPr id="11" name="p18-rule"/>
          <p:cNvGrpSpPr/>
          <p:nvPr/>
        </p:nvGrpSpPr>
        <p:grpSpPr>
          <a:xfrm>
            <a:off x="8572500" y="1581150"/>
            <a:ext cx="3009900" cy="3390900"/>
            <a:chOff x="8572500" y="1581150"/>
            <a:chExt cx="3009900" cy="3390900"/>
          </a:xfrm>
        </p:grpSpPr>
        <p:sp>
          <p:nvSpPr>
            <p:cNvPr id="8" name="Rectangle 8"/>
            <p:cNvSpPr/>
            <p:nvPr/>
          </p:nvSpPr>
          <p:spPr>
            <a:xfrm>
              <a:off x="8572500" y="1581150"/>
              <a:ext cx="3009900" cy="3390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831199" y="1811179"/>
              <a:ext cx="12922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论文判定口径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32342" y="2330768"/>
              <a:ext cx="1513904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相对模型内均值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用 mean ± sd 划分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左侧：facilitative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右侧：inhibitory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计算：Monte Carlo</a:t>
              </a:r>
            </a:p>
          </p:txBody>
        </p:sp>
      </p:grpSp>
      <p:grpSp>
        <p:nvGrpSpPr>
          <p:cNvPr id="15" name="p18-summary"/>
          <p:cNvGrpSpPr/>
          <p:nvPr/>
        </p:nvGrpSpPr>
        <p:grpSpPr>
          <a:xfrm>
            <a:off x="609600" y="5219700"/>
            <a:ext cx="10972800" cy="628650"/>
            <a:chOff x="609600" y="5219700"/>
            <a:chExt cx="10972800" cy="628650"/>
          </a:xfrm>
        </p:grpSpPr>
        <p:sp>
          <p:nvSpPr>
            <p:cNvPr id="12" name="Rectangle 12"/>
            <p:cNvSpPr/>
            <p:nvPr/>
          </p:nvSpPr>
          <p:spPr>
            <a:xfrm>
              <a:off x="609600" y="5219700"/>
              <a:ext cx="10972800" cy="628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9823" y="5329714"/>
              <a:ext cx="8400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共同模式：Home possessions、Cultural possessions；教学、动机、欺凌和 ICT 使用呈现地区或学科差异。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0585" y="5603081"/>
              <a:ext cx="51151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图为我们按论文路径计算的复现结果；interaction 不解释为因果干预效应。</a:t>
              </a:r>
            </a:p>
          </p:txBody>
        </p:sp>
      </p:grpSp>
      <p:grpSp>
        <p:nvGrpSpPr>
          <p:cNvPr id="18" name="p18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6" name="Line 1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4647" y="6333649"/>
              <a:ext cx="38819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18 / 25 · 阈值分类用于摘要强 interaction，而不是现实干预结论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实现：分类与可视化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classify_effective_interactions,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plot_effective_interactions,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 = report["values"]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classes = classify_effective_interactions(values)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fig, ax = plot_effective_interactions(values)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fig.savefig(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"effective_interaction.png", dpi=200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mean ± SD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classification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五地区结果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相同统计口径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输出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类别 + matplotlib figure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统计分类与绘图分离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9-header"/>
          <p:cNvGrpSpPr/>
          <p:nvPr/>
        </p:nvGrpSpPr>
        <p:grpSpPr>
          <a:xfrm>
            <a:off x="594360" y="507206"/>
            <a:ext cx="4724400" cy="860584"/>
            <a:chOff x="594360" y="507206"/>
            <a:chExt cx="4724400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1382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E85D3F"/>
                  </a:solidFill>
                  <a:latin typeface="Arial Unicode MS"/>
                  <a:ea typeface="Microsoft YaHei"/>
                  <a:cs typeface="Arial Unicode MS"/>
                </a:rPr>
                <a:t>复现 · 15 models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472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Interaction 分类频数</a:t>
              </a:r>
            </a:p>
          </p:txBody>
        </p:sp>
      </p:grpSp>
      <p:grpSp>
        <p:nvGrpSpPr>
          <p:cNvPr id="21" name="p19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9" name="Line 1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0" name="TextBox 20"/>
            <p:cNvSpPr/>
            <p:nvPr/>
          </p:nvSpPr>
          <p:spPr>
            <a:xfrm>
              <a:off x="604647" y="6333649"/>
              <a:ext cx="39017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 / 25 · 15 个模型的分类频数</a:t>
              </a:r>
            </a:p>
          </p:txBody>
        </p:sp>
      </p:grpSp>
      <p:grpSp>
        <p:nvGrpSpPr>
          <p:cNvPr id="9" name="classification-frequency-chart"/>
          <p:cNvGrpSpPr/>
          <p:nvPr/>
        </p:nvGrpSpPr>
        <p:grpSpPr>
          <a:xfrm>
            <a:off x="666750" y="1600200"/>
            <a:ext cx="8382000" cy="4191000"/>
            <a:chOff x="666750" y="1600200"/>
            <a:chExt cx="8382000" cy="4191000"/>
          </a:xfrm>
        </p:grpSpPr>
        <p:sp>
          <p:nvSpPr>
            <p:cNvPr id="7" name="Rectangle 7"/>
            <p:cNvSpPr/>
            <p:nvPr/>
          </p:nvSpPr>
          <p:spPr>
            <a:xfrm>
              <a:off x="666750" y="1600200"/>
              <a:ext cx="8382000" cy="4191000"/>
            </a:xfrm>
            <a:prstGeom prst="roundRect">
              <a:avLst>
                <a:gd name="adj" fmla="val 1364"/>
              </a:avLst>
            </a:prstGeom>
            <a:solidFill>
              <a:srgbClr val="FFFFFF"/>
            </a:solidFill>
            <a:ln w="9525">
              <a:solidFill>
                <a:srgbClr val="B8C9C3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1046" y="1695450"/>
              <a:ext cx="8033407" cy="4000500"/>
            </a:xfrm>
            <a:prstGeom prst="rect">
              <a:avLst/>
            </a:prstGeom>
          </p:spPr>
        </p:pic>
      </p:grpSp>
      <p:grpSp>
        <p:nvGrpSpPr>
          <p:cNvPr id="17" name="classification-frequency-highlights"/>
          <p:cNvGrpSpPr/>
          <p:nvPr/>
        </p:nvGrpSpPr>
        <p:grpSpPr>
          <a:xfrm>
            <a:off x="9315450" y="1600200"/>
            <a:ext cx="2305050" cy="4191000"/>
            <a:chOff x="9315450" y="1600200"/>
            <a:chExt cx="2305050" cy="4191000"/>
          </a:xfrm>
        </p:grpSpPr>
        <p:sp>
          <p:nvSpPr>
            <p:cNvPr id="10" name="Rectangle 10"/>
            <p:cNvSpPr/>
            <p:nvPr/>
          </p:nvSpPr>
          <p:spPr>
            <a:xfrm>
              <a:off x="9315450" y="1600200"/>
              <a:ext cx="2305050" cy="4191000"/>
            </a:xfrm>
            <a:prstGeom prst="roundRect">
              <a:avLst>
                <a:gd name="adj" fmla="val 2479"/>
              </a:avLst>
            </a:prstGeom>
            <a:solidFill>
              <a:srgbClr val="12372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556623" y="1900714"/>
              <a:ext cx="14205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8C9C3"/>
                  </a:solidFill>
                  <a:latin typeface="Arial"/>
                  <a:ea typeface="Microsoft YaHei"/>
                  <a:cs typeface="Arial"/>
                </a:rPr>
                <a:t>稳定的 facilitative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556242" y="2559368"/>
              <a:ext cx="1059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CULTPOSS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550146" y="2848928"/>
              <a:ext cx="10757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E85D3F"/>
                  </a:solidFill>
                  <a:latin typeface="Arial"/>
                  <a:ea typeface="Arial"/>
                  <a:cs typeface="Arial"/>
                </a:rPr>
                <a:t>13 / 15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556242" y="3702368"/>
              <a:ext cx="995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HOMEPOS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50146" y="3991928"/>
              <a:ext cx="10757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E85D3F"/>
                  </a:solidFill>
                  <a:latin typeface="Arial"/>
                  <a:ea typeface="Arial"/>
                  <a:cs typeface="Arial"/>
                </a:rPr>
                <a:t>12 / 15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57766" y="4839652"/>
              <a:ext cx="1514563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B8C9C3"/>
                  </a:solidFill>
                  <a:latin typeface="Arial"/>
                  <a:ea typeface="Microsoft YaHei"/>
                  <a:cs typeface="Arial"/>
                </a:rPr>
                <a:t>其余变量表现出</a:t>
              </a:r>
              <a:br/>
              <a:r>
                <a:rPr lang="zh-CN" sz="1050" dirty="0">
                  <a:solidFill>
                    <a:srgbClr val="B8C9C3"/>
                  </a:solidFill>
                  <a:latin typeface="Arial"/>
                  <a:ea typeface="Microsoft YaHei"/>
                  <a:cs typeface="Arial"/>
                </a:rPr>
                <a:t>更多中性或地区/学科差异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0-header"/>
          <p:cNvGrpSpPr/>
          <p:nvPr/>
        </p:nvGrpSpPr>
        <p:grpSpPr>
          <a:xfrm>
            <a:off x="594360" y="507206"/>
            <a:ext cx="4724400" cy="860584"/>
            <a:chOff x="594360" y="507206"/>
            <a:chExt cx="472440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论文方法 · 我们的复现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72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临界状态的温度响应证据</a:t>
              </a:r>
            </a:p>
          </p:txBody>
        </p:sp>
      </p:grpSp>
      <p:grpSp>
        <p:nvGrpSpPr>
          <p:cNvPr id="7" name="p20-evidence"/>
          <p:cNvGrpSpPr/>
          <p:nvPr/>
        </p:nvGrpSpPr>
        <p:grpSpPr>
          <a:xfrm>
            <a:off x="609600" y="1581150"/>
            <a:ext cx="7810500" cy="3695700"/>
            <a:chOff x="609600" y="1581150"/>
            <a:chExt cx="7810500" cy="369570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7810500" cy="3695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2007394"/>
              <a:ext cx="7581900" cy="2843212"/>
            </a:xfrm>
            <a:prstGeom prst="rect">
              <a:avLst/>
            </a:prstGeom>
          </p:spPr>
        </p:pic>
      </p:grpSp>
      <p:grpSp>
        <p:nvGrpSpPr>
          <p:cNvPr id="12" name="p20-claim"/>
          <p:cNvGrpSpPr/>
          <p:nvPr/>
        </p:nvGrpSpPr>
        <p:grpSpPr>
          <a:xfrm>
            <a:off x="8763000" y="1581150"/>
            <a:ext cx="2819400" cy="3695700"/>
            <a:chOff x="8763000" y="1581150"/>
            <a:chExt cx="2819400" cy="3695700"/>
          </a:xfrm>
        </p:grpSpPr>
        <p:sp>
          <p:nvSpPr>
            <p:cNvPr id="8" name="Rectangle 8"/>
            <p:cNvSpPr/>
            <p:nvPr/>
          </p:nvSpPr>
          <p:spPr>
            <a:xfrm>
              <a:off x="8763000" y="1581150"/>
              <a:ext cx="2819400" cy="369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21699" y="18111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论文结论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9018270" y="2252662"/>
              <a:ext cx="1387983" cy="992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2250" b="1" dirty="0">
                  <a:solidFill>
                    <a:srgbClr val="FFFFFF"/>
                  </a:solidFill>
                  <a:latin typeface="Cambria Math"/>
                  <a:ea typeface="Microsoft YaHei"/>
                  <a:cs typeface="Cambria Math"/>
                </a:rPr>
                <a:t>d〈E〉/dT</a:t>
              </a:r>
              <a:br/>
              <a:r>
                <a:rPr lang="en-US" sz="2250" b="1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dm/dT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23223" y="3653314"/>
              <a:ext cx="1102106" cy="14304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五地区峰值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都靠近 T = 1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Hong Kong 与</a:t>
              </a:r>
              <a:br/>
              <a:r>
                <a:rPr lang="en-US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Chinese Taipei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略更接近峰值</a:t>
              </a:r>
            </a:p>
          </p:txBody>
        </p:sp>
      </p:grpSp>
      <p:grpSp>
        <p:nvGrpSpPr>
          <p:cNvPr id="15" name="p20-note"/>
          <p:cNvGrpSpPr/>
          <p:nvPr/>
        </p:nvGrpSpPr>
        <p:grpSpPr>
          <a:xfrm>
            <a:off x="609600" y="5524500"/>
            <a:ext cx="10972800" cy="419100"/>
            <a:chOff x="609600" y="5524500"/>
            <a:chExt cx="10972800" cy="419100"/>
          </a:xfrm>
        </p:grpSpPr>
        <p:sp>
          <p:nvSpPr>
            <p:cNvPr id="13" name="Rectangle 13"/>
            <p:cNvSpPr/>
            <p:nvPr/>
          </p:nvSpPr>
          <p:spPr>
            <a:xfrm>
              <a:off x="609600" y="5524500"/>
              <a:ext cx="109728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0204" y="5661660"/>
              <a:ext cx="50732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图为我们的温度扫描复现；固定学习到的 h、J，仅改变无量纲温度 T。</a:t>
              </a:r>
            </a:p>
          </p:txBody>
        </p:sp>
      </p:grpSp>
      <p:grpSp>
        <p:nvGrpSpPr>
          <p:cNvPr id="18" name="p20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6" name="Line 1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4647" y="6333649"/>
              <a:ext cx="37698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20 / 25 · 响应峰值靠近拟合点，是论文临界状态判断的主要证据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9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实现：温度响应绘图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plot_temperature_response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np.linspace(0.05, 4.0, 80)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 = model.temperature_response(T)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fig, ax = plot_temperature_response(response)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ax.set_xlim(0.0, 4.0)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fig.savefig(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"temperature_response.png", dpi=200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输入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temperature_response dict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两条曲线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d&lt;E&gt;/dT 与 dm/dT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参照线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 = 1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绘图区间固定为 0–4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4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1-header"/>
          <p:cNvGrpSpPr/>
          <p:nvPr/>
        </p:nvGrpSpPr>
        <p:grpSpPr>
          <a:xfrm>
            <a:off x="594360" y="507206"/>
            <a:ext cx="7284720" cy="860584"/>
            <a:chOff x="594360" y="507206"/>
            <a:chExt cx="728472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4.2.1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2847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参数不确定性为何推动系统接近临界点</a:t>
              </a:r>
            </a:p>
          </p:txBody>
        </p:sp>
      </p:grpSp>
      <p:grpSp>
        <p:nvGrpSpPr>
          <p:cNvPr id="20" name="p21-chain"/>
          <p:cNvGrpSpPr/>
          <p:nvPr/>
        </p:nvGrpSpPr>
        <p:grpSpPr>
          <a:xfrm>
            <a:off x="609600" y="2000250"/>
            <a:ext cx="10572750" cy="1428750"/>
            <a:chOff x="609600" y="2000250"/>
            <a:chExt cx="10572750" cy="1428750"/>
          </a:xfrm>
        </p:grpSpPr>
        <p:sp>
          <p:nvSpPr>
            <p:cNvPr id="5" name="Rectangle 5"/>
            <p:cNvSpPr/>
            <p:nvPr/>
          </p:nvSpPr>
          <p:spPr>
            <a:xfrm>
              <a:off x="609600" y="2000250"/>
              <a:ext cx="23431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42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50392" y="2673668"/>
              <a:ext cx="1562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h、J 存在估计误差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952750" y="2714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352800" y="2000250"/>
              <a:ext cx="23431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874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93592" y="26736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参数扰动改变自由能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695950" y="2714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0" y="2000250"/>
              <a:ext cx="23431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06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6792" y="2673668"/>
              <a:ext cx="1629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χ 衡量对扰动的响应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439150" y="2714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39200" y="2000250"/>
              <a:ext cx="23431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738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79992" y="2673668"/>
              <a:ext cx="1438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临界附近 |χ| 最大</a:t>
              </a:r>
            </a:p>
          </p:txBody>
        </p:sp>
      </p:grpSp>
      <p:grpSp>
        <p:nvGrpSpPr>
          <p:cNvPr id="25" name="p21-eq"/>
          <p:cNvGrpSpPr/>
          <p:nvPr/>
        </p:nvGrpSpPr>
        <p:grpSpPr>
          <a:xfrm>
            <a:off x="609600" y="3905250"/>
            <a:ext cx="10972800" cy="1600200"/>
            <a:chOff x="609600" y="3905250"/>
            <a:chExt cx="10972800" cy="1600200"/>
          </a:xfrm>
        </p:grpSpPr>
        <p:sp>
          <p:nvSpPr>
            <p:cNvPr id="21" name="Rectangle 21"/>
            <p:cNvSpPr/>
            <p:nvPr/>
          </p:nvSpPr>
          <p:spPr>
            <a:xfrm>
              <a:off x="609600" y="3905250"/>
              <a:ext cx="10972800" cy="1600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8299" y="4135279"/>
              <a:ext cx="142344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Eq. 17 的含义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864870" y="4614862"/>
              <a:ext cx="37753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6192" rIns="0" bIns="0" anchor="t" anchorCtr="0">
              <a:noAutofit/>
            </a:bodyPr>
            <a:lstStyle/>
            <a:p>
              <a:pPr algn="l"/>
              <a:r>
                <a:rPr lang="zh-CN" sz="2400" b="1" spc="15" dirty="0">
                  <a:solidFill>
                    <a:srgbClr val="E85D3F"/>
                  </a:solidFill>
                  <a:latin typeface="Cambria Math"/>
                  <a:ea typeface="Microsoft YaHei"/>
                  <a:cs typeface="Cambria Math"/>
                </a:rPr>
                <a:t>〈F〉 ≈ F₀ + ½ Σᵢ χᵢᵢ σᵢ²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0142" y="4369118"/>
              <a:ext cx="2525458" cy="625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σᵢ²：参数不确定性的方差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χᵢᵢ：变量对局部参数变化的响应</a:t>
              </a:r>
            </a:p>
          </p:txBody>
        </p:sp>
      </p:grpSp>
      <p:grpSp>
        <p:nvGrpSpPr>
          <p:cNvPr id="28" name="p21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6" name="Line 2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4647" y="6333649"/>
              <a:ext cx="46933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21 / 25 · 论文提出：不确定环境中，响应能力的收益可能推动系统接近临界区域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2-header"/>
          <p:cNvGrpSpPr/>
          <p:nvPr/>
        </p:nvGrpSpPr>
        <p:grpSpPr>
          <a:xfrm>
            <a:off x="594360" y="507206"/>
            <a:ext cx="5577840" cy="860584"/>
            <a:chOff x="594360" y="507206"/>
            <a:chExt cx="557784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2153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Discussion / Summary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5778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论文的贡献、局限与解释边界</a:t>
              </a:r>
            </a:p>
          </p:txBody>
        </p:sp>
      </p:grpSp>
      <p:grpSp>
        <p:nvGrpSpPr>
          <p:cNvPr id="8" name="p22-strength"/>
          <p:cNvGrpSpPr/>
          <p:nvPr/>
        </p:nvGrpSpPr>
        <p:grpSpPr>
          <a:xfrm>
            <a:off x="600456" y="1844040"/>
            <a:ext cx="5114544" cy="2979611"/>
            <a:chOff x="600456" y="1844040"/>
            <a:chExt cx="5114544" cy="2979611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844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论文贡献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2209800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2742" y="2578418"/>
              <a:ext cx="2388298" cy="2245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同时纳入大量相互依赖变量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构造完整联合概率分布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可计算任意阶统计量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提供冻结节点与温度响应分析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支持跨地区同一数学口径比较</a:t>
              </a:r>
            </a:p>
          </p:txBody>
        </p:sp>
      </p:grpSp>
      <p:grpSp>
        <p:nvGrpSpPr>
          <p:cNvPr id="13" name="p22-limits"/>
          <p:cNvGrpSpPr/>
          <p:nvPr/>
        </p:nvGrpSpPr>
        <p:grpSpPr>
          <a:xfrm>
            <a:off x="6191250" y="1676400"/>
            <a:ext cx="5391150" cy="3905250"/>
            <a:chOff x="6191250" y="1676400"/>
            <a:chExt cx="5391150" cy="3905250"/>
          </a:xfrm>
        </p:grpSpPr>
        <p:sp>
          <p:nvSpPr>
            <p:cNvPr id="9" name="Rectangle 9"/>
            <p:cNvSpPr/>
            <p:nvPr/>
          </p:nvSpPr>
          <p:spPr>
            <a:xfrm>
              <a:off x="6191250" y="1676400"/>
              <a:ext cx="5391150" cy="390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486906" y="1844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论文局限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496050" y="2209800"/>
              <a:ext cx="4781550" cy="9525"/>
            </a:xfrm>
            <a:custGeom>
              <a:avLst/>
              <a:gdLst/>
              <a:ahLst/>
              <a:cxnLst/>
              <a:rect l="l" t="t" r="r" b="b"/>
              <a:pathLst>
                <a:path w="4781550" h="9525">
                  <a:moveTo>
                    <a:pt x="0" y="0"/>
                  </a:moveTo>
                  <a:lnTo>
                    <a:pt x="47815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89192" y="2578418"/>
              <a:ext cx="2705481" cy="2454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只选择 18 个背景变量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所有变量与 outcome 被二值化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依赖可靠数据与变量选择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h、J 的来源仍需理论解释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interaction 与冻结结果不是因果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trial model 不等于完整学习机制</a:t>
              </a:r>
            </a:p>
          </p:txBody>
        </p:sp>
      </p:grpSp>
      <p:grpSp>
        <p:nvGrpSpPr>
          <p:cNvPr id="16" name="p22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4" name="Line 14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4647" y="6333649"/>
              <a:ext cx="39017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22 / 25 · 模型提供新的分析框架，但不能替代研究设计和教育理论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3-header"/>
          <p:cNvGrpSpPr/>
          <p:nvPr/>
        </p:nvGrpSpPr>
        <p:grpSpPr>
          <a:xfrm>
            <a:off x="594360" y="507206"/>
            <a:ext cx="6004560" cy="860584"/>
            <a:chOff x="594360" y="507206"/>
            <a:chExt cx="600456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702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我们的复现 · PISA 2018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0045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我们的复现：与论文结果的对照</a:t>
              </a:r>
            </a:p>
          </p:txBody>
        </p:sp>
      </p:grpSp>
      <p:grpSp>
        <p:nvGrpSpPr>
          <p:cNvPr id="9" name="p23-images"/>
          <p:cNvGrpSpPr/>
          <p:nvPr/>
        </p:nvGrpSpPr>
        <p:grpSpPr>
          <a:xfrm>
            <a:off x="609600" y="1466850"/>
            <a:ext cx="7524750" cy="4514850"/>
            <a:chOff x="609600" y="1466850"/>
            <a:chExt cx="7524750" cy="4514850"/>
          </a:xfrm>
        </p:grpSpPr>
        <p:sp>
          <p:nvSpPr>
            <p:cNvPr id="5" name="Rectangle 5"/>
            <p:cNvSpPr/>
            <p:nvPr/>
          </p:nvSpPr>
          <p:spPr>
            <a:xfrm>
              <a:off x="609600" y="1466850"/>
              <a:ext cx="7524750" cy="2095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6475" y="1562100"/>
              <a:ext cx="4191000" cy="1905000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609600" y="3771900"/>
              <a:ext cx="7524750" cy="2209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0745" y="3867150"/>
              <a:ext cx="4442460" cy="2019300"/>
            </a:xfrm>
            <a:prstGeom prst="rect">
              <a:avLst/>
            </a:prstGeom>
          </p:spPr>
        </p:pic>
      </p:grpSp>
      <p:grpSp>
        <p:nvGrpSpPr>
          <p:cNvPr id="21" name="p23-compare"/>
          <p:cNvGrpSpPr/>
          <p:nvPr/>
        </p:nvGrpSpPr>
        <p:grpSpPr>
          <a:xfrm>
            <a:off x="8477250" y="1466850"/>
            <a:ext cx="3105150" cy="4514850"/>
            <a:chOff x="8477250" y="1466850"/>
            <a:chExt cx="3105150" cy="4514850"/>
          </a:xfrm>
        </p:grpSpPr>
        <p:sp>
          <p:nvSpPr>
            <p:cNvPr id="10" name="Rectangle 10"/>
            <p:cNvSpPr/>
            <p:nvPr/>
          </p:nvSpPr>
          <p:spPr>
            <a:xfrm>
              <a:off x="8477250" y="1466850"/>
              <a:ext cx="3105150" cy="4514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35949" y="1696879"/>
              <a:ext cx="1123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 / 我们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37854" y="22517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一阶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34425" y="2483644"/>
              <a:ext cx="193237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0.999 / ≈1.000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37854" y="3108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二阶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34425" y="3340894"/>
              <a:ext cx="193237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0.982 / ≈0.999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37854" y="3966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三阶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34425" y="4198144"/>
              <a:ext cx="207853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0.982 / 0.97978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37854" y="48234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四阶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34425" y="5055394"/>
              <a:ext cx="207853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0.946 / 0.93379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38616" y="56016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数值接近但非逐点完全一致</a:t>
              </a:r>
            </a:p>
          </p:txBody>
        </p:sp>
      </p:grpSp>
      <p:grpSp>
        <p:nvGrpSpPr>
          <p:cNvPr id="24" name="p23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2" name="Line 2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647" y="6333649"/>
              <a:ext cx="3149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23 / 25 · 复现结果总体支持论文的 moment 结构结论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Validation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实现：统一复现验证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examples import 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validate_pisa_paper_reproduction as v,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 = v.validate(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report_path="artifacts/report.json",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model_dir="artifacts/models",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figure_dir="artifacts/figures",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validation["checks"]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validation["all_checks_passed"]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报告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240 次训练记录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模型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15 个 .pt artifacts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图与 diagnostics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统一检查后再汇报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全部训练完成后统一 validation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798" cy="860584"/>
            <a:chOff x="594360" y="507206"/>
            <a:chExt cx="6311798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2349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Package · Binary reproduction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31179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使用 learnenergy 复现论文模型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70585" y="1802606"/>
              <a:ext cx="4207226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DataConfig, LearningModel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feature_names=FEATURES, target_name="PV1MATH",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normalization="zscore",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threshold_method="paper_std",</a:t>
              </a:r>
              <a:br/>
              <a:r>
                <a:rPr lang="zh-CN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LearningModel(cfg, calculation="exact",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max_exact_nodes=19, seed=7)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effects = model.effective_interaction_report(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calculation="monte_carlo")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model.save("TAP-PV1MATH.pt")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 txBox="1"/>
            <p:nvPr/>
          </p:nvSpPr>
          <p:spPr>
            <a:xfrm>
              <a:off x="8297418" y="1688782"/>
              <a:ext cx="10894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9323" y="2396014"/>
              <a:ext cx="2394458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Appendix A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DataConfig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Eq. 10–11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fit(method='kl')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Eq. 15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effective_interaction_report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可复用结果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.pt model artifact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4647" y="6333649"/>
              <a:ext cx="33740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24 / 25 · 预处理、训练路径、随机种子和诊断均显式记录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5-header"/>
          <p:cNvGrpSpPr/>
          <p:nvPr/>
        </p:nvGrpSpPr>
        <p:grpSpPr>
          <a:xfrm>
            <a:off x="594360" y="507206"/>
            <a:ext cx="7494194" cy="860584"/>
            <a:chOff x="594360" y="507206"/>
            <a:chExt cx="7494194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68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结论 · Scope boundary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49419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论文模型、Package 与连续扩展的边界</a:t>
              </a:r>
            </a:p>
          </p:txBody>
        </p:sp>
      </p:grpSp>
      <p:grpSp>
        <p:nvGrpSpPr>
          <p:cNvPr id="14" name="p25-layers"/>
          <p:cNvGrpSpPr/>
          <p:nvPr/>
        </p:nvGrpSpPr>
        <p:grpSpPr>
          <a:xfrm>
            <a:off x="609600" y="1619250"/>
            <a:ext cx="10972800" cy="3257550"/>
            <a:chOff x="609600" y="1619250"/>
            <a:chExt cx="10972800" cy="3257550"/>
          </a:xfrm>
        </p:grpSpPr>
        <p:sp>
          <p:nvSpPr>
            <p:cNvPr id="5" name="Rectangle 5"/>
            <p:cNvSpPr/>
            <p:nvPr/>
          </p:nvSpPr>
          <p:spPr>
            <a:xfrm>
              <a:off x="609600" y="1619250"/>
              <a:ext cx="3238500" cy="3257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537" y="1871186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论文原始模型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426018"/>
              <a:ext cx="2859786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二值 0/1 节点</a:t>
              </a:r>
              <a:br/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Pairwise maximum entropy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KL-gradient 训练</a:t>
              </a:r>
              <a:br/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Monte Carlo effective interaction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476750" y="1619250"/>
              <a:ext cx="3238500" cy="3257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734687" y="1871186"/>
              <a:ext cx="196367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learnenergy 封装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36592" y="2426018"/>
              <a:ext cx="2062544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数据契约与模型 artifact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Exact / Monte Carlo 路径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训练、诊断、可视化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保存与重新加载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43900" y="1619250"/>
              <a:ext cx="3238500" cy="3257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01837" y="1871186"/>
              <a:ext cx="149774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Package 扩展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03742" y="2426018"/>
              <a:ext cx="1942528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ContinuousEnergyModel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Gaussian 二次能量</a:t>
              </a:r>
              <a:br/>
              <a:r>
                <a:rPr lang="en-US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conditional_mean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不属于论文原始模型</a:t>
              </a:r>
            </a:p>
          </p:txBody>
        </p:sp>
      </p:grpSp>
      <p:grpSp>
        <p:nvGrpSpPr>
          <p:cNvPr id="17" name="p25-flow"/>
          <p:cNvGrpSpPr/>
          <p:nvPr/>
        </p:nvGrpSpPr>
        <p:grpSpPr>
          <a:xfrm>
            <a:off x="609600" y="5219700"/>
            <a:ext cx="10972800" cy="742950"/>
            <a:chOff x="609600" y="5219700"/>
            <a:chExt cx="10972800" cy="742950"/>
          </a:xfrm>
        </p:grpSpPr>
        <p:sp>
          <p:nvSpPr>
            <p:cNvPr id="15" name="Rectangle 15"/>
            <p:cNvSpPr/>
            <p:nvPr/>
          </p:nvSpPr>
          <p:spPr>
            <a:xfrm>
              <a:off x="609600" y="5219700"/>
              <a:ext cx="1097280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177559" y="5534025"/>
              <a:ext cx="5836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变量与状态空间 → 训练 → 收敛与采样诊断 → 复现验证 → 保存模型</a:t>
              </a:r>
            </a:p>
          </p:txBody>
        </p:sp>
      </p:grpSp>
      <p:grpSp>
        <p:nvGrpSpPr>
          <p:cNvPr id="20" name="p25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8" name="Line 18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4647" y="6333649"/>
              <a:ext cx="28463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25 / 25 · 论文、复现与新增能力保持可追溯边界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Extension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实现：连续 Gaussian 模型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ContinuousEnergyModel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ContinuousEnergyModel(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feature_names=COLUMNS, seed=7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model.fit_table(table)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analysis = model.analyze()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 = row.copy()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values[target_idx] = np.nan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prediction = model.conditional_mean(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values, target_index=target_idx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samples = model.sample(500)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不需要二值化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ContinuousEnergyModel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无固定 target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查询时给 target_index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模型族边界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不属于原论文模型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连续模型是 Package 扩展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learnenergy-foundations-deck">
  <a:themeElements>
    <a:clrScheme name="learnenergy-foundations-deck">
      <a:dk1>
        <a:srgbClr val="12372E"/>
      </a:dk1>
      <a:lt1>
        <a:srgbClr val="F7F7F2"/>
      </a:lt1>
      <a:dk2>
        <a:srgbClr val="1F497D"/>
      </a:dk2>
      <a:lt2>
        <a:srgbClr val="E5F0EC"/>
      </a:lt2>
      <a:accent1>
        <a:srgbClr val="12372E"/>
      </a:accent1>
      <a:accent2>
        <a:srgbClr val="E85D3F"/>
      </a:accent2>
      <a:accent3>
        <a:srgbClr val="2A9D8F"/>
      </a:accent3>
      <a:accent4>
        <a:srgbClr val="12372E"/>
      </a:accent4>
      <a:accent5>
        <a:srgbClr val="18211E"/>
      </a:accent5>
      <a:accent6>
        <a:srgbClr val="5C6B66"/>
      </a:accent6>
      <a:hlink>
        <a:srgbClr val="E85D3F"/>
      </a:hlink>
      <a:folHlink>
        <a:srgbClr val="2A9D8F"/>
      </a:folHlink>
    </a:clrScheme>
    <a:fontScheme name="learnenergy-foundations-deck">
      <a:maj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arnenergy-foundations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arnenergy-foundations-deck">
  <a:themeElements>
    <a:clrScheme name="learnenergy-foundations-deck">
      <a:dk1>
        <a:srgbClr val="12372E"/>
      </a:dk1>
      <a:lt1>
        <a:srgbClr val="F7F7F2"/>
      </a:lt1>
      <a:dk2>
        <a:srgbClr val="1F497D"/>
      </a:dk2>
      <a:lt2>
        <a:srgbClr val="E5F0EC"/>
      </a:lt2>
      <a:accent1>
        <a:srgbClr val="12372E"/>
      </a:accent1>
      <a:accent2>
        <a:srgbClr val="E85D3F"/>
      </a:accent2>
      <a:accent3>
        <a:srgbClr val="2A9D8F"/>
      </a:accent3>
      <a:accent4>
        <a:srgbClr val="12372E"/>
      </a:accent4>
      <a:accent5>
        <a:srgbClr val="18211E"/>
      </a:accent5>
      <a:accent6>
        <a:srgbClr val="5C6B66"/>
      </a:accent6>
      <a:hlink>
        <a:srgbClr val="E85D3F"/>
      </a:hlink>
      <a:folHlink>
        <a:srgbClr val="2A9D8F"/>
      </a:folHlink>
    </a:clrScheme>
    <a:fontScheme name="learnenergy-foundations-deck">
      <a:maj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arnenergy-foundations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On-screen Show (16:9)</ns0:PresentationFormat>
  <ns0:Paragraphs>0</ns0:Paragraphs>
  <ns0:Slides>46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2026-09-22T11:44:57Z</dcterms:created>
  <dcterms:modified xsi:type="dcterms:W3CDTF">2026-09-22T11:44:57Z</dcterms:modified>
  <cp:category/>
  <cp:contentStatus/>
</cp:coreProperties>
</file>