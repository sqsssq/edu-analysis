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3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Arial Unicode MS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Arial Unicode MS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Arial Unicode MS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Arial Unicode MS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Arial Unicode MS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Arial Unicode MS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Arial Unicode MS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Arial Unicode MS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Arial Unicode MS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  <Relationship Id="rId32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_rels/notesSlide1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6.xml"/>
</Relationships>
</file>

<file path=ppt/notesSlides/_rels/notesSlide1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7.xml"/>
</Relationships>
</file>

<file path=ppt/notesSlides/_rels/notesSlide1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8.xml"/>
</Relationships>
</file>

<file path=ppt/notesSlides/_rels/notesSlide1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9.xml"/>
</Relationships>
</file>

<file path=ppt/notesSlides/_rels/notesSlide2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0.xml"/>
</Relationships>
</file>

<file path=ppt/notesSlides/_rels/notesSlide2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1.xml"/>
</Relationships>
</file>

<file path=ppt/notesSlides/_rels/notesSlide2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2.xml"/>
</Relationships>
</file>

<file path=ppt/notesSlides/_rels/notesSlide2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3.xml"/>
</Relationships>
</file>

<file path=ppt/notesSlides/_rels/notesSlide2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4.xml"/>
</Relationships>
</file>

<file path=ppt/notesSlides/_rels/notesSlide2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本次汇报首先按原论文的论证顺序介绍能量模型、PISA 应用和实证结果，然后再单独说明我们的复现与 learnenergy Package。主线是从能量函数得到联合概率，再用数据学习参数并检验证据。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论文关心多个教育变量相互依赖时，如何不把它们简化成彼此独立的单变量关系。它的三项主要贡献是建立联合概率模型、定义经网络传播的 effective interaction，以及用温度响应讨论临界性。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回归与结构方程模型通常以目标变量或事先指定的路径为中心。本文模型则先学习所有二值节点的联合分布，再从该分布计算相关、高阶统计和条件变化。这些量描述统计结构，不自动等于因果效应。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论文先用能量景观描述学习：每个状态对应一个能量，系统倾向进入更低能量的稳定区域。多个局部低谷表示不同的稳定状态，这为后面的 Hopfield 能量函数提供直观背景。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Hopfield 形式用局部场 h 和成对 interaction J 定义每个二值状态的能量。h 描述节点单独偏向于零或一的程度，J 描述节点对在其他条件不变时的相容或抵消结构。能量越低的状态在后续概率模型中越容易出现。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真实教育数据存在个体差异和测量噪声，因此不能只选一个最低能量状态。最大熵原理要求在满足已知一阶和二阶统计约束的前提下，保留尽可能多的其他不确定性。这导出对数概率由一次项和成对项组成的最小假设模型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将能量与熵结合得到自由能，Boltzmann 分布则把每个状态的能量映射为概率。配分函数 Z 负责归一化，温度 T 控制能量差异对概率的影响强度。因此，h和 J 不只给出一张网络图，而是定义了所有状态的完整联合分布。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低温时能量占主导，概率集中在少数状态；高温时熵占主导，状态更分散。临界区域位于两者之间，对参数或温度扰动的响应最大。论文后面会以 T 等于一的拟合点与响应峰值的位置进行比较。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论文使用 PISA 二零一八数据，覆盖五个教育系统和数学、科学、阅读三个 outcome。每个模型使用十八个背景因素加一个 outcome，形成十九节点系统。五地区乘三 outcome，所以论文最终比较十五个地区与学科模型。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十九个节点产生十九个局部场 h，以及十九选二、即一百七十一个对称 interaction J。每个地区和 outcome 组合都学习一套独立参数。这个结构是后面训练、moment 验证和 effective interaction 计算的共同起点。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论文先对连续变量做标准化，再按其附录给定的阈值转换为零和一。二值化使能量模型与枚举状态空间的定义一致，但也会损失原始数值信息。因此，阈值规则是论文复现口径的一部分，不能在不说明的情况下任意替换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训练目标是最小化数据分布与模型分布之间的 KL divergence。对 h 和 J 求导后，梯度等于数据 moment 与模型 moment 之差，因而迭代本质上是不断使一阶和二阶统计对齐。十九节点时可以精确枚举全部状态，更大规模则需要 Monte Carlo 估计模型期望。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论文有十五个概念上的最终模型，分别对应五个地区与三个 outcome。每个组合又重复十六次、每次抽样一千二百人，所以产生二百四十次训练运行。重复训练用于评估参数与结论的稳定性，并不意味着最终要向用户交付二百四十个不同任务模型。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Figure 3 检查模型重建的一阶和二阶 moments 是否与数据一致。论文报告一阶 magnetization 相关系数为零点九九九，二阶 correlation 为零点九八二。因为这两类统计直接参与梯度训练，它们主要证明优化过程已将目标 moment 对齐。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三阶和四阶 moments 没有直接出现在 pairwise 训练约束中，因此是更严格的外部结构检验。论文 Figure 4 报告三阶相关系数为零点九八二，四阶为零点九四六。这表明仅拟合 pairwise 结构也能保留相当一部分更高阶的联合模式。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每个模型的一百七十一个 J 并不近似对称 Gaussian 分布。论文的 Figure 5 和 Table 3 给出偏度大于二点八、峰度大于十一，表明多数关系较弱而少数关系形成长尾。这是 interaction 存在内部结构的统计信号，但不直接给出这些关系的因果来源。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Effective interaction 不只读取目标与某个节点之间的单条 J。它将一个节点固定为零，让其他节点在新条件下重新分布，再比较 outcome 的有效场变化。原论文用 Monte Carlo 估计这个经整个网络传播的累计变化。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论文用每个模型内 effective interaction 的均值加减一个标准差来摘要 facilitative 与 inhibitory 侧的强 interaction。页面中的多面板图是我们按论文 Monte Carlo 路径得到的复现结果。Home possessions 和 Cultural possessions 呈现较共通的模式，而教学方式、动机、欺凌与 ICT 使用在地区或学科间有差异。这些结果是统计诊断，不是直接的现实干预效果。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论文将跨地区和多个 outcome 中较稳定的因素与地区特异因素分开解读。Home possessions 与 Cultural possessions 较稳定地出现在 facilitative 一侧，纪律氛围、教师主导教学、动机、欺凌和 ICT 使用则更依赖语境。模型能发现模式，但文化、制度或测量误差等原因需要额外理论与数据判断。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临界性分析固定学习到的 h 和 J，只改变无量纲温度 T，并观察平均能量和 magnetization 的导数。页面中的曲线是我们的温度扫描复现。论文的核心观察是五个地区的响应峰值都靠近 T 等于一，其中 Hong Kong 与 Chinese Taipei 略微更接近峰值。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论文进一步把参数不确定性与自由能变化联系起来。当 h 或 J 有估计误差时，局部响应系数 chi 决定这些扰动如何改变自由能，而临界附近的响应最大。这是论文对系统为何可能接近临界区域的理论解释，而不是对学习者的个体因果结论。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论文的方法优势是同时处理多个依赖变量、构造完整联合分布，并由此计算高阶统计、冻结节点和温度响应。其局限包括只选择十八个背景变量、二值化造成信息损失，以及 h 和 J 仍需要理论解释。因此，这是一个 trial model 和统计分析框架，不等于完整学习机制或因果模型。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这一页开始不再是论文原始结果，而是我们在 PISA 二零一八数据上的复现。一阶和二阶 moments 与论文一样非常接近完全对齐，三阶和四阶相关系数分别为约零点九七九八和零点九三三八。它们与论文的零点九八二和零点九四六相近，但不宣称逐点完全一致。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Package 将论文流程显式映射到 API：DataConfig 记录变量、归一化和阈值，fit 用 KL 梯度训练，effective interaction 指定 Monte Carlo 计算路径。十九节点时可以选择 exact 计算训练期望，并用固定随机种子记录可复现性。最终将参数、配置和诊断保存为 pt 模型 artifact，便于重新加载。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需要最后明确三层边界。原论文是二值节点的 pairwise maximum-entropy 模型，learnenergy 将其数据契约、训练、诊断和保存工程化，而 ContinuousEnergyModel 与 conditional_mean 是 Package 的新增扩展。这样既能严格复现论文，也能在不混淆来源的前提下支持非二值数据。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learnenergy-foundations-deck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learnenergy-foundations-deck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Arial Unicode MS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Arial Unicode MS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Arial Unicode MS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Arial Unicode MS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Arial Unicode MS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Arial Unicode MS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Arial Unicode MS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Arial Unicode MS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Arial Unicode MS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Arial Unicode MS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Arial Unicode MS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Arial Unicode MS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Arial Unicode MS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Arial Unicode MS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Arial Unicode MS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Arial Unicode MS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Arial Unicode MS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Arial Unicode MS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Arial Unicode MS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5.xml"/>
</Relationships>
</file>

<file path=ppt/slides/_rels/slide1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6.xml"/>
</Relationships>
</file>

<file path=ppt/slides/_rels/slide1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7.xml"/>
</Relationships>
</file>

<file path=ppt/slides/_rels/slide1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9e9109d43d37be5.png"/>
  <Relationship Id="rId3" Type="http://schemas.openxmlformats.org/officeDocument/2006/relationships/notesSlide" Target="../notesSlides/notesSlide18.xml"/>
</Relationships>
</file>

<file path=ppt/slides/_rels/slide1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9.xml"/>
</Relationships>
</file>

<file path=ppt/slides/_rels/slide2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7025ac01a04d5fe6.png"/>
  <Relationship Id="rId3" Type="http://schemas.openxmlformats.org/officeDocument/2006/relationships/notesSlide" Target="../notesSlides/notesSlide20.xml"/>
</Relationships>
</file>

<file path=ppt/slides/_rels/slide2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1.xml"/>
</Relationships>
</file>

<file path=ppt/slides/_rels/slide2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2.xml"/>
</Relationships>
</file>

<file path=ppt/slides/_rels/slide2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47fdc8132b94b13.png"/>
  <Relationship Id="rId3" Type="http://schemas.openxmlformats.org/officeDocument/2006/relationships/image" Target="../media/image_e8d3421f2a4ad2f7.png"/>
  <Relationship Id="rId4" Type="http://schemas.openxmlformats.org/officeDocument/2006/relationships/notesSlide" Target="../notesSlides/notesSlide23.xml"/>
</Relationships>
</file>

<file path=ppt/slides/_rels/slide2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4.xml"/>
</Relationships>
</file>

<file path=ppt/slides/_rels/slide2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5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p01-title"/>
          <p:cNvGrpSpPr/>
          <p:nvPr/>
        </p:nvGrpSpPr>
        <p:grpSpPr>
          <a:xfrm>
            <a:off x="590550" y="831056"/>
            <a:ext cx="6648450" cy="2207419"/>
            <a:chOff x="590550" y="831056"/>
            <a:chExt cx="6648450" cy="2207419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831056"/>
              <a:ext cx="23699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TECHNICAL REPORT · PISA 2018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1029652"/>
              <a:ext cx="5257467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4050" b="1" dirty="0">
                  <a:solidFill>
                    <a:srgbClr val="FFFFFF"/>
                  </a:solidFill>
                  <a:latin typeface="+mj-lt"/>
                  <a:ea typeface="Arial Unicode MS"/>
                  <a:cs typeface="+mj-cs"/>
                </a:rPr>
                <a:t>A Neural Network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0550" y="1620202"/>
              <a:ext cx="5689906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4050" b="1" dirty="0">
                  <a:solidFill>
                    <a:srgbClr val="FFFFFF"/>
                  </a:solidFill>
                  <a:latin typeface="+mj-lt"/>
                  <a:ea typeface="Arial Unicode MS"/>
                  <a:cs typeface="+mj-cs"/>
                </a:rPr>
                <a:t>Model for Learning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00075" y="2426494"/>
              <a:ext cx="3938330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原论文逻辑、复现与 Package 实现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09600" y="3028950"/>
              <a:ext cx="6629400" cy="9525"/>
            </a:xfrm>
            <a:custGeom>
              <a:avLst/>
              <a:gdLst/>
              <a:ahLst/>
              <a:cxnLst/>
              <a:rect l="l" t="t" r="r" b="b"/>
              <a:pathLst>
                <a:path w="6629400" h="9525">
                  <a:moveTo>
                    <a:pt x="0" y="0"/>
                  </a:moveTo>
                  <a:lnTo>
                    <a:pt x="6629400" y="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</p:grpSp>
      <p:grpSp>
        <p:nvGrpSpPr>
          <p:cNvPr id="18" name="p01-track"/>
          <p:cNvGrpSpPr/>
          <p:nvPr/>
        </p:nvGrpSpPr>
        <p:grpSpPr>
          <a:xfrm>
            <a:off x="1352550" y="4076700"/>
            <a:ext cx="9124950" cy="1274445"/>
            <a:chOff x="1352550" y="4076700"/>
            <a:chExt cx="9124950" cy="1274445"/>
          </a:xfrm>
        </p:grpSpPr>
        <p:sp>
          <p:nvSpPr>
            <p:cNvPr id="8" name="Line 8"/>
            <p:cNvSpPr/>
            <p:nvPr/>
          </p:nvSpPr>
          <p:spPr>
            <a:xfrm>
              <a:off x="1352550" y="4476750"/>
              <a:ext cx="9124950" cy="9525"/>
            </a:xfrm>
            <a:custGeom>
              <a:avLst/>
              <a:gdLst/>
              <a:ahLst/>
              <a:cxnLst/>
              <a:rect l="l" t="t" r="r" b="b"/>
              <a:pathLst>
                <a:path w="9124950" h="9525">
                  <a:moveTo>
                    <a:pt x="0" y="0"/>
                  </a:moveTo>
                  <a:lnTo>
                    <a:pt x="9124950" y="0"/>
                  </a:lnTo>
                </a:path>
              </a:pathLst>
            </a:custGeom>
            <a:noFill/>
            <a:ln w="28575">
              <a:solidFill>
                <a:srgbClr val="5C6B66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1790700" y="4076700"/>
              <a:ext cx="800100" cy="800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505450" y="4076700"/>
              <a:ext cx="800100" cy="8001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9220200" y="4076700"/>
              <a:ext cx="800100" cy="800100"/>
            </a:xfrm>
            <a:prstGeom prst="ellipse">
              <a:avLst/>
            </a:prstGeom>
            <a:solidFill>
              <a:srgbClr val="34599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2080464" y="4326255"/>
              <a:ext cx="22057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E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808495" y="4326255"/>
              <a:ext cx="19401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p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72527" y="4342448"/>
              <a:ext cx="29544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95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✓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846802" y="5057775"/>
              <a:ext cx="6878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Energy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360012" y="5057775"/>
              <a:ext cx="10909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Probability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190661" y="5057775"/>
              <a:ext cx="85917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Evidence</a:t>
              </a:r>
            </a:p>
          </p:txBody>
        </p:sp>
      </p:grpSp>
      <p:grpSp>
        <p:nvGrpSpPr>
          <p:cNvPr id="21" name="p01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19" name="Line 19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04647" y="6333649"/>
              <a:ext cx="235821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01 / 25 · 论文模型 → 复现 → 可复用软件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02-header"/>
          <p:cNvGrpSpPr/>
          <p:nvPr/>
        </p:nvGrpSpPr>
        <p:grpSpPr>
          <a:xfrm>
            <a:off x="594360" y="507206"/>
            <a:ext cx="5151120" cy="860584"/>
            <a:chOff x="594360" y="507206"/>
            <a:chExt cx="5151120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14661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论文 · Introduction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515112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论文的研究问题与三项贡献</a:t>
              </a:r>
            </a:p>
          </p:txBody>
        </p:sp>
      </p:grpSp>
      <p:grpSp>
        <p:nvGrpSpPr>
          <p:cNvPr id="8" name="p02-problem"/>
          <p:cNvGrpSpPr/>
          <p:nvPr/>
        </p:nvGrpSpPr>
        <p:grpSpPr>
          <a:xfrm>
            <a:off x="609600" y="1581150"/>
            <a:ext cx="3333750" cy="4095750"/>
            <a:chOff x="609600" y="1581150"/>
            <a:chExt cx="3333750" cy="4095750"/>
          </a:xfrm>
        </p:grpSpPr>
        <p:sp>
          <p:nvSpPr>
            <p:cNvPr id="5" name="Rectangle 5"/>
            <p:cNvSpPr/>
            <p:nvPr/>
          </p:nvSpPr>
          <p:spPr>
            <a:xfrm>
              <a:off x="609600" y="1581150"/>
              <a:ext cx="3333750" cy="40957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7918" y="182213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研究问题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8680" y="2352675"/>
              <a:ext cx="2491740" cy="15887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教育结果由许多相互关联的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家庭、课堂、动机与技术因素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共同形成。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单变量均值或孤立回归项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难以表达完整联合结构。</a:t>
              </a:r>
            </a:p>
          </p:txBody>
        </p:sp>
      </p:grpSp>
      <p:grpSp>
        <p:nvGrpSpPr>
          <p:cNvPr id="23" name="p02-contrib"/>
          <p:cNvGrpSpPr/>
          <p:nvPr/>
        </p:nvGrpSpPr>
        <p:grpSpPr>
          <a:xfrm>
            <a:off x="4353306" y="1672590"/>
            <a:ext cx="7229094" cy="3468338"/>
            <a:chOff x="4353306" y="1672590"/>
            <a:chExt cx="7229094" cy="3468338"/>
          </a:xfrm>
        </p:grpSpPr>
        <p:sp>
          <p:nvSpPr>
            <p:cNvPr id="9" name="TextBox 9"/>
            <p:cNvSpPr txBox="1"/>
            <p:nvPr/>
          </p:nvSpPr>
          <p:spPr>
            <a:xfrm>
              <a:off x="4353306" y="1672590"/>
              <a:ext cx="17145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论文的三项贡献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362450" y="2038350"/>
              <a:ext cx="7219950" cy="9525"/>
            </a:xfrm>
            <a:custGeom>
              <a:avLst/>
              <a:gdLst/>
              <a:ahLst/>
              <a:cxnLst/>
              <a:rect l="l" t="t" r="r" b="b"/>
              <a:pathLst>
                <a:path w="7219950" h="9525">
                  <a:moveTo>
                    <a:pt x="0" y="0"/>
                  </a:moveTo>
                  <a:lnTo>
                    <a:pt x="7219950" y="0"/>
                  </a:lnTo>
                </a:path>
              </a:pathLst>
            </a:custGeom>
            <a:noFill/>
            <a:ln w="9525">
              <a:solidFill>
                <a:srgbClr val="B8C9C3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4495800" y="2381250"/>
              <a:ext cx="533400" cy="533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96573" y="25622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249799" y="240172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理论模型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251323" y="275796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把学习写成优化与不确定性的平衡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4495800" y="3448050"/>
              <a:ext cx="533400" cy="533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696573" y="36290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249799" y="346852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联合分布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51323" y="3824764"/>
              <a:ext cx="30112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同时描述 19 个节点及其 pairwise 结构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4495800" y="4514850"/>
              <a:ext cx="533400" cy="533400"/>
            </a:xfrm>
            <a:prstGeom prst="ellipse">
              <a:avLst/>
            </a:prstGeom>
            <a:solidFill>
              <a:srgbClr val="345995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6573" y="46958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249799" y="453532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模型诊断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251323" y="4891564"/>
              <a:ext cx="314044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计算 effective interaction 与温度响应</a:t>
              </a:r>
            </a:p>
          </p:txBody>
        </p:sp>
      </p:grpSp>
      <p:grpSp>
        <p:nvGrpSpPr>
          <p:cNvPr id="26" name="p02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24" name="Line 24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04647" y="6333649"/>
              <a:ext cx="218671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02 / 25 · 研究缺口决定后续模型形式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03-header"/>
          <p:cNvGrpSpPr/>
          <p:nvPr/>
        </p:nvGrpSpPr>
        <p:grpSpPr>
          <a:xfrm>
            <a:off x="594360" y="507206"/>
            <a:ext cx="3870960" cy="860584"/>
            <a:chOff x="594360" y="507206"/>
            <a:chExt cx="3870960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14661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论文 · Introduction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387096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现有方法与论文定位</a:t>
              </a:r>
            </a:p>
          </p:txBody>
        </p:sp>
      </p:grpSp>
      <p:grpSp>
        <p:nvGrpSpPr>
          <p:cNvPr id="8" name="p03-col-0"/>
          <p:cNvGrpSpPr/>
          <p:nvPr/>
        </p:nvGrpSpPr>
        <p:grpSpPr>
          <a:xfrm>
            <a:off x="609600" y="1695450"/>
            <a:ext cx="3333750" cy="3505200"/>
            <a:chOff x="609600" y="1695450"/>
            <a:chExt cx="3333750" cy="3505200"/>
          </a:xfrm>
        </p:grpSpPr>
        <p:sp>
          <p:nvSpPr>
            <p:cNvPr id="5" name="Rectangle 5"/>
            <p:cNvSpPr/>
            <p:nvPr/>
          </p:nvSpPr>
          <p:spPr>
            <a:xfrm>
              <a:off x="609600" y="1695450"/>
              <a:ext cx="3333750" cy="3505200"/>
            </a:xfrm>
            <a:prstGeom prst="rect">
              <a:avLst/>
            </a:prstGeom>
            <a:solidFill>
              <a:schemeClr val="lt2"/>
            </a:solidFill>
            <a:ln w="19050">
              <a:solidFill>
                <a:srgbClr val="B8C9C3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7156" y="1939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传统统计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9442" y="2578418"/>
              <a:ext cx="2388298" cy="1178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lnSpc>
                  <a:spcPts val="3600"/>
                </a:lnSpc>
                <a:buClr>
                  <a:schemeClr val="accent6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回归 / ANOVA / SEM</a:t>
              </a:r>
            </a:p>
            <a:p>
              <a:pPr algn="l" marL="145732" indent="-145732">
                <a:lnSpc>
                  <a:spcPts val="3600"/>
                </a:lnSpc>
                <a:buClr>
                  <a:schemeClr val="accent6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常依赖线性、正态或独立假设</a:t>
              </a:r>
            </a:p>
            <a:p>
              <a:pPr algn="l" marL="145732" indent="-145732">
                <a:lnSpc>
                  <a:spcPts val="3600"/>
                </a:lnSpc>
                <a:buClr>
                  <a:schemeClr val="accent6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优势：参数解释成熟</a:t>
              </a:r>
            </a:p>
          </p:txBody>
        </p:sp>
      </p:grpSp>
      <p:grpSp>
        <p:nvGrpSpPr>
          <p:cNvPr id="12" name="p03-col-1"/>
          <p:cNvGrpSpPr/>
          <p:nvPr/>
        </p:nvGrpSpPr>
        <p:grpSpPr>
          <a:xfrm>
            <a:off x="4324350" y="1695450"/>
            <a:ext cx="3333750" cy="3505200"/>
            <a:chOff x="4324350" y="1695450"/>
            <a:chExt cx="3333750" cy="3505200"/>
          </a:xfrm>
        </p:grpSpPr>
        <p:sp>
          <p:nvSpPr>
            <p:cNvPr id="9" name="Rectangle 9"/>
            <p:cNvSpPr/>
            <p:nvPr/>
          </p:nvSpPr>
          <p:spPr>
            <a:xfrm>
              <a:off x="4324350" y="1695450"/>
              <a:ext cx="3333750" cy="35052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581906" y="1939290"/>
              <a:ext cx="17145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预测型机器学习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584192" y="2578418"/>
              <a:ext cx="2045398" cy="1178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lnSpc>
                  <a:spcPts val="3600"/>
                </a:lnSpc>
                <a:buClr>
                  <a:schemeClr val="accent6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树模型 / SVM / ANN</a:t>
              </a:r>
            </a:p>
            <a:p>
              <a:pPr algn="l" marL="145732" indent="-145732">
                <a:lnSpc>
                  <a:spcPts val="3600"/>
                </a:lnSpc>
                <a:buClr>
                  <a:schemeClr val="accent6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可捕捉复杂模式</a:t>
              </a:r>
            </a:p>
            <a:p>
              <a:pPr algn="l" marL="145732" indent="-145732">
                <a:lnSpc>
                  <a:spcPts val="3600"/>
                </a:lnSpc>
                <a:buClr>
                  <a:schemeClr val="accent6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局限：理论机制常不明确</a:t>
              </a:r>
            </a:p>
          </p:txBody>
        </p:sp>
      </p:grpSp>
      <p:grpSp>
        <p:nvGrpSpPr>
          <p:cNvPr id="16" name="p03-col-2"/>
          <p:cNvGrpSpPr/>
          <p:nvPr/>
        </p:nvGrpSpPr>
        <p:grpSpPr>
          <a:xfrm>
            <a:off x="8039100" y="1695450"/>
            <a:ext cx="3333750" cy="3505200"/>
            <a:chOff x="8039100" y="1695450"/>
            <a:chExt cx="3333750" cy="3505200"/>
          </a:xfrm>
        </p:grpSpPr>
        <p:sp>
          <p:nvSpPr>
            <p:cNvPr id="13" name="Rectangle 13"/>
            <p:cNvSpPr/>
            <p:nvPr/>
          </p:nvSpPr>
          <p:spPr>
            <a:xfrm>
              <a:off x="8039100" y="1695450"/>
              <a:ext cx="3333750" cy="350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296656" y="1939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本文模型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298942" y="2578418"/>
              <a:ext cx="2456878" cy="1178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lnSpc>
                  <a:spcPts val="3600"/>
                </a:lnSpc>
                <a:buClr>
                  <a:srgbClr val="B8C9C3"/>
                </a:buClr>
                <a:buSzTx/>
                <a:buFontTx/>
                <a:buChar char="•"/>
              </a:pPr>
              <a:r>
                <a:rPr lang="en-US" sz="135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Hopfield + Maximum Entropy</a:t>
              </a:r>
            </a:p>
            <a:p>
              <a:pPr algn="l" marL="145732" indent="-145732">
                <a:lnSpc>
                  <a:spcPts val="3600"/>
                </a:lnSpc>
                <a:buClr>
                  <a:srgbClr val="B8C9C3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输出完整联合概率分布</a:t>
              </a:r>
            </a:p>
            <a:p>
              <a:pPr algn="l" marL="145732" indent="-145732">
                <a:lnSpc>
                  <a:spcPts val="3600"/>
                </a:lnSpc>
                <a:buClr>
                  <a:srgbClr val="B8C9C3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允许计算高阶统计与冻结诊断</a:t>
              </a:r>
            </a:p>
          </p:txBody>
        </p:sp>
      </p:grpSp>
      <p:grpSp>
        <p:nvGrpSpPr>
          <p:cNvPr id="19" name="p03-takeaway"/>
          <p:cNvGrpSpPr/>
          <p:nvPr/>
        </p:nvGrpSpPr>
        <p:grpSpPr>
          <a:xfrm>
            <a:off x="609600" y="5429250"/>
            <a:ext cx="10972800" cy="552450"/>
            <a:chOff x="609600" y="5429250"/>
            <a:chExt cx="10972800" cy="552450"/>
          </a:xfrm>
        </p:grpSpPr>
        <p:sp>
          <p:nvSpPr>
            <p:cNvPr id="17" name="Rectangle 17"/>
            <p:cNvSpPr/>
            <p:nvPr/>
          </p:nvSpPr>
          <p:spPr>
            <a:xfrm>
              <a:off x="609600" y="5429250"/>
              <a:ext cx="10972800" cy="5524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756535" y="5619750"/>
              <a:ext cx="6678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论文定位：不是只提高预测准确率，而是建立带理论假设的联合结构模型。</a:t>
              </a:r>
            </a:p>
          </p:txBody>
        </p:sp>
      </p:grpSp>
      <p:grpSp>
        <p:nvGrpSpPr>
          <p:cNvPr id="22" name="p03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20" name="Line 20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04647" y="6333649"/>
              <a:ext cx="20547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03 / 25 · 从方法缺口进入模型假设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04-header"/>
          <p:cNvGrpSpPr/>
          <p:nvPr/>
        </p:nvGrpSpPr>
        <p:grpSpPr>
          <a:xfrm>
            <a:off x="594360" y="507206"/>
            <a:ext cx="3870960" cy="860584"/>
            <a:chOff x="594360" y="507206"/>
            <a:chExt cx="3870960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13822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论文 · Section 2.1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387096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优化与学习能量景观</a:t>
              </a:r>
            </a:p>
          </p:txBody>
        </p:sp>
      </p:grpSp>
      <p:grpSp>
        <p:nvGrpSpPr>
          <p:cNvPr id="14" name="p04-landscape"/>
          <p:cNvGrpSpPr/>
          <p:nvPr/>
        </p:nvGrpSpPr>
        <p:grpSpPr>
          <a:xfrm>
            <a:off x="609600" y="1524000"/>
            <a:ext cx="6191250" cy="4152900"/>
            <a:chOff x="609600" y="1524000"/>
            <a:chExt cx="6191250" cy="4152900"/>
          </a:xfrm>
        </p:grpSpPr>
        <p:sp>
          <p:nvSpPr>
            <p:cNvPr id="5" name="Rectangle 5"/>
            <p:cNvSpPr/>
            <p:nvPr/>
          </p:nvSpPr>
          <p:spPr>
            <a:xfrm>
              <a:off x="609600" y="1581150"/>
              <a:ext cx="6191250" cy="409575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7918" y="18030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能量景观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952500" y="1524000"/>
              <a:ext cx="5486400" cy="3429000"/>
            </a:xfrm>
            <a:custGeom>
              <a:avLst/>
              <a:gdLst/>
              <a:ahLst/>
              <a:cxnLst/>
              <a:rect l="l" t="t" r="r" b="b"/>
              <a:pathLst>
                <a:path w="5486400" h="3429000">
                  <a:moveTo>
                    <a:pt x="0" y="2952750"/>
                  </a:moveTo>
                  <a:cubicBezTo>
                    <a:pt x="857250" y="857250"/>
                    <a:pt x="1619250" y="3429000"/>
                    <a:pt x="2762250" y="1619250"/>
                  </a:cubicBezTo>
                  <a:cubicBezTo>
                    <a:pt x="3810000" y="0"/>
                    <a:pt x="4381500" y="3238500"/>
                    <a:pt x="5486400" y="952500"/>
                  </a:cubicBezTo>
                </a:path>
              </a:pathLst>
            </a:custGeom>
            <a:noFill/>
            <a:ln w="47625">
              <a:solidFill>
                <a:schemeClr val="accent1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809750" y="3438525"/>
              <a:ext cx="285750" cy="2857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3962400" y="2762250"/>
              <a:ext cx="285750" cy="2857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514975" y="3571875"/>
              <a:ext cx="285750" cy="285750"/>
            </a:xfrm>
            <a:prstGeom prst="ellipse">
              <a:avLst/>
            </a:prstGeom>
            <a:solidFill>
              <a:srgbClr val="34599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515364" y="492966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局部极小值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668014" y="492966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全局极小值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220589" y="492966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另一条路径</a:t>
              </a:r>
            </a:p>
          </p:txBody>
        </p:sp>
      </p:grpSp>
      <p:grpSp>
        <p:nvGrpSpPr>
          <p:cNvPr id="31" name="p04-network"/>
          <p:cNvGrpSpPr/>
          <p:nvPr/>
        </p:nvGrpSpPr>
        <p:grpSpPr>
          <a:xfrm>
            <a:off x="7200900" y="1581150"/>
            <a:ext cx="4381500" cy="4095750"/>
            <a:chOff x="7200900" y="1581150"/>
            <a:chExt cx="4381500" cy="4095750"/>
          </a:xfrm>
        </p:grpSpPr>
        <p:sp>
          <p:nvSpPr>
            <p:cNvPr id="15" name="Rectangle 15"/>
            <p:cNvSpPr/>
            <p:nvPr/>
          </p:nvSpPr>
          <p:spPr>
            <a:xfrm>
              <a:off x="7200900" y="1581150"/>
              <a:ext cx="4381500" cy="40957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459218" y="18030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学习环境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782050" y="2857500"/>
              <a:ext cx="1219200" cy="1219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151341" y="3366611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学生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20050" y="2552700"/>
              <a:ext cx="1371600" cy="914400"/>
            </a:xfrm>
            <a:custGeom>
              <a:avLst/>
              <a:gdLst/>
              <a:ahLst/>
              <a:cxnLst/>
              <a:rect l="l" t="t" r="r" b="b"/>
              <a:pathLst>
                <a:path w="1371600" h="914400">
                  <a:moveTo>
                    <a:pt x="1371600" y="914400"/>
                  </a:moveTo>
                  <a:lnTo>
                    <a:pt x="0" y="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7658100" y="219075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852410" y="248031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家庭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9391650" y="2552700"/>
              <a:ext cx="1371600" cy="914400"/>
            </a:xfrm>
            <a:custGeom>
              <a:avLst/>
              <a:gdLst/>
              <a:ahLst/>
              <a:cxnLst/>
              <a:rect l="l" t="t" r="r" b="b"/>
              <a:pathLst>
                <a:path w="1371600" h="914400">
                  <a:moveTo>
                    <a:pt x="0" y="914400"/>
                  </a:moveTo>
                  <a:lnTo>
                    <a:pt x="1371600" y="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10401300" y="219075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595610" y="248031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课堂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8020050" y="3467100"/>
              <a:ext cx="1371600" cy="1123950"/>
            </a:xfrm>
            <a:custGeom>
              <a:avLst/>
              <a:gdLst/>
              <a:ahLst/>
              <a:cxnLst/>
              <a:rect l="l" t="t" r="r" b="b"/>
              <a:pathLst>
                <a:path w="1371600" h="1123950">
                  <a:moveTo>
                    <a:pt x="1371600" y="0"/>
                  </a:moveTo>
                  <a:lnTo>
                    <a:pt x="0" y="11239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7658100" y="42291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852410" y="45186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动机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9391650" y="3467100"/>
              <a:ext cx="1371600" cy="1123950"/>
            </a:xfrm>
            <a:custGeom>
              <a:avLst/>
              <a:gdLst/>
              <a:ahLst/>
              <a:cxnLst/>
              <a:rect l="l" t="t" r="r" b="b"/>
              <a:pathLst>
                <a:path w="1371600" h="1123950">
                  <a:moveTo>
                    <a:pt x="0" y="0"/>
                  </a:moveTo>
                  <a:lnTo>
                    <a:pt x="1371600" y="11239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9" name="Ellipse 29"/>
            <p:cNvSpPr/>
            <p:nvPr/>
          </p:nvSpPr>
          <p:spPr>
            <a:xfrm>
              <a:off x="10401300" y="42291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0637672" y="4518660"/>
              <a:ext cx="2511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ICT</a:t>
              </a:r>
            </a:p>
          </p:txBody>
        </p:sp>
      </p:grpSp>
      <p:grpSp>
        <p:nvGrpSpPr>
          <p:cNvPr id="34" name="p04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32" name="Line 32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04647" y="6333649"/>
              <a:ext cx="32421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04 / 25 · 初始条件与环境结构共同决定可能到达的状态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05-header"/>
          <p:cNvGrpSpPr/>
          <p:nvPr/>
        </p:nvGrpSpPr>
        <p:grpSpPr>
          <a:xfrm>
            <a:off x="594360" y="507206"/>
            <a:ext cx="3669602" cy="860584"/>
            <a:chOff x="594360" y="507206"/>
            <a:chExt cx="3669602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15578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论文 · Section 2.1.2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3669602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Hopfield 能量函数</a:t>
              </a:r>
            </a:p>
          </p:txBody>
        </p:sp>
      </p:grpSp>
      <p:grpSp>
        <p:nvGrpSpPr>
          <p:cNvPr id="12" name="p05-defs"/>
          <p:cNvGrpSpPr/>
          <p:nvPr/>
        </p:nvGrpSpPr>
        <p:grpSpPr>
          <a:xfrm>
            <a:off x="609600" y="1752600"/>
            <a:ext cx="2381250" cy="3638550"/>
            <a:chOff x="609600" y="1752600"/>
            <a:chExt cx="2381250" cy="3638550"/>
          </a:xfrm>
        </p:grpSpPr>
        <p:sp>
          <p:nvSpPr>
            <p:cNvPr id="5" name="Rectangle 5"/>
            <p:cNvSpPr/>
            <p:nvPr/>
          </p:nvSpPr>
          <p:spPr>
            <a:xfrm>
              <a:off x="609600" y="1752600"/>
              <a:ext cx="2381250" cy="36385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7918" y="197453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状态变量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3346" y="2277428"/>
              <a:ext cx="41508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55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sᵢ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9823" y="2777014"/>
              <a:ext cx="1532890" cy="5351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学习因素或 outcome</a:t>
              </a:r>
              <a:br/>
              <a:r>
                <a:rPr lang="zh-CN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论文计算中取 0 / 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67918" y="366998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能量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65632" y="4021455"/>
              <a:ext cx="96469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E({sᵢ})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69823" y="4491514"/>
              <a:ext cx="1313434" cy="5351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用于比较状态</a:t>
              </a:r>
              <a:br/>
              <a:r>
                <a:rPr lang="zh-CN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不是物理能量测量</a:t>
              </a:r>
            </a:p>
          </p:txBody>
        </p:sp>
      </p:grpSp>
      <p:grpSp>
        <p:nvGrpSpPr>
          <p:cNvPr id="15" name="p05-energy"/>
          <p:cNvGrpSpPr/>
          <p:nvPr/>
        </p:nvGrpSpPr>
        <p:grpSpPr>
          <a:xfrm>
            <a:off x="3333750" y="1752600"/>
            <a:ext cx="8248650" cy="1200150"/>
            <a:chOff x="3333750" y="1752600"/>
            <a:chExt cx="8248650" cy="1200150"/>
          </a:xfrm>
        </p:grpSpPr>
        <p:sp>
          <p:nvSpPr>
            <p:cNvPr id="13" name="Rectangle 13"/>
            <p:cNvSpPr/>
            <p:nvPr/>
          </p:nvSpPr>
          <p:spPr>
            <a:xfrm>
              <a:off x="3333750" y="1752600"/>
              <a:ext cx="8248650" cy="1200150"/>
            </a:xfrm>
            <a:prstGeom prst="roundRect">
              <a:avLst>
                <a:gd name="adj" fmla="val 11111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798564" y="2187512"/>
              <a:ext cx="531902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2550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E({sᵢ}) = Σᵢ hᵢsᵢ + Σᵢ≠ⱼ Jᵢⱼsᵢsⱼ</a:t>
              </a:r>
            </a:p>
          </p:txBody>
        </p:sp>
      </p:grpSp>
      <p:grpSp>
        <p:nvGrpSpPr>
          <p:cNvPr id="22" name="p05-params"/>
          <p:cNvGrpSpPr/>
          <p:nvPr/>
        </p:nvGrpSpPr>
        <p:grpSpPr>
          <a:xfrm>
            <a:off x="3333750" y="3219450"/>
            <a:ext cx="8248650" cy="2171700"/>
            <a:chOff x="3333750" y="3219450"/>
            <a:chExt cx="8248650" cy="2171700"/>
          </a:xfrm>
        </p:grpSpPr>
        <p:sp>
          <p:nvSpPr>
            <p:cNvPr id="16" name="Rectangle 16"/>
            <p:cNvSpPr/>
            <p:nvPr/>
          </p:nvSpPr>
          <p:spPr>
            <a:xfrm>
              <a:off x="3333750" y="3219450"/>
              <a:ext cx="3857625" cy="21717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629787" y="3452336"/>
              <a:ext cx="125919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hᵢ · 节点项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31692" y="3892868"/>
              <a:ext cx="1728216" cy="5878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单个变量对能量的贡献</a:t>
              </a:r>
              <a:br/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表示局部倾向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486650" y="3219450"/>
              <a:ext cx="4095750" cy="217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782687" y="3452336"/>
              <a:ext cx="201057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Jᵢⱼ · pairwise 项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784592" y="3892868"/>
              <a:ext cx="2071116" cy="5878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两个节点同时取值时的贡献</a:t>
              </a:r>
              <a:br/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统计耦合，不自动等于因果</a:t>
              </a:r>
            </a:p>
          </p:txBody>
        </p:sp>
      </p:grpSp>
      <p:grpSp>
        <p:nvGrpSpPr>
          <p:cNvPr id="25" name="p05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23" name="Line 23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04647" y="6333649"/>
              <a:ext cx="31583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05 / 25 · 用 h 与 J 把多变量状态映射到一个标量能量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06-header"/>
          <p:cNvGrpSpPr/>
          <p:nvPr/>
        </p:nvGrpSpPr>
        <p:grpSpPr>
          <a:xfrm>
            <a:off x="594360" y="507206"/>
            <a:ext cx="3444240" cy="860584"/>
            <a:chOff x="594360" y="507206"/>
            <a:chExt cx="3444240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13822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论文 · Section 2.2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344424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不确定性与最大熵</a:t>
              </a:r>
            </a:p>
          </p:txBody>
        </p:sp>
      </p:grpSp>
      <p:grpSp>
        <p:nvGrpSpPr>
          <p:cNvPr id="8" name="p06-uncertainty"/>
          <p:cNvGrpSpPr/>
          <p:nvPr/>
        </p:nvGrpSpPr>
        <p:grpSpPr>
          <a:xfrm>
            <a:off x="609600" y="1676400"/>
            <a:ext cx="4095750" cy="3771900"/>
            <a:chOff x="609600" y="1676400"/>
            <a:chExt cx="4095750" cy="3771900"/>
          </a:xfrm>
        </p:grpSpPr>
        <p:sp>
          <p:nvSpPr>
            <p:cNvPr id="5" name="Rectangle 5"/>
            <p:cNvSpPr/>
            <p:nvPr/>
          </p:nvSpPr>
          <p:spPr>
            <a:xfrm>
              <a:off x="609600" y="1676400"/>
              <a:ext cx="4095750" cy="3771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7918" y="1917382"/>
              <a:ext cx="24601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为什么不能只取最低能量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9442" y="2502218"/>
              <a:ext cx="2414016" cy="17118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个体差异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不同起点可能停在不同局部状态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参数不确定性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学习者无法完全知道 h 与 J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因此群体需要一个状态概率分布</a:t>
              </a:r>
            </a:p>
          </p:txBody>
        </p:sp>
      </p:grpSp>
      <p:grpSp>
        <p:nvGrpSpPr>
          <p:cNvPr id="11" name="p06-entropy"/>
          <p:cNvGrpSpPr/>
          <p:nvPr/>
        </p:nvGrpSpPr>
        <p:grpSpPr>
          <a:xfrm>
            <a:off x="5124450" y="1866900"/>
            <a:ext cx="6457950" cy="1238250"/>
            <a:chOff x="5124450" y="1866900"/>
            <a:chExt cx="6457950" cy="1238250"/>
          </a:xfrm>
        </p:grpSpPr>
        <p:sp>
          <p:nvSpPr>
            <p:cNvPr id="9" name="Rectangle 9"/>
            <p:cNvSpPr/>
            <p:nvPr/>
          </p:nvSpPr>
          <p:spPr>
            <a:xfrm>
              <a:off x="5124450" y="1866900"/>
              <a:ext cx="6457950" cy="1238250"/>
            </a:xfrm>
            <a:prstGeom prst="roundRect">
              <a:avLst>
                <a:gd name="adj" fmla="val 1076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476084" y="2320862"/>
              <a:ext cx="375468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2550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 = − Σ p({sᵢ}) ln p({sᵢ})</a:t>
              </a:r>
            </a:p>
          </p:txBody>
        </p:sp>
      </p:grpSp>
      <p:grpSp>
        <p:nvGrpSpPr>
          <p:cNvPr id="15" name="p06-explain"/>
          <p:cNvGrpSpPr/>
          <p:nvPr/>
        </p:nvGrpSpPr>
        <p:grpSpPr>
          <a:xfrm>
            <a:off x="5124450" y="3390900"/>
            <a:ext cx="6457950" cy="2057400"/>
            <a:chOff x="5124450" y="3390900"/>
            <a:chExt cx="6457950" cy="2057400"/>
          </a:xfrm>
        </p:grpSpPr>
        <p:sp>
          <p:nvSpPr>
            <p:cNvPr id="12" name="Rectangle 12"/>
            <p:cNvSpPr/>
            <p:nvPr/>
          </p:nvSpPr>
          <p:spPr>
            <a:xfrm>
              <a:off x="5124450" y="3390900"/>
              <a:ext cx="6457950" cy="20574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420487" y="3642836"/>
              <a:ext cx="260064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Maximum Entropy 原则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422392" y="4102418"/>
              <a:ext cx="3271266" cy="8736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在满足已知约束的所有分布中，</a:t>
              </a:r>
              <a:br/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选择熵最大的分布。</a:t>
              </a:r>
              <a:br/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含义：不为数据没有约束的结构额外下注。</a:t>
              </a:r>
            </a:p>
          </p:txBody>
        </p:sp>
      </p:grpSp>
      <p:grpSp>
        <p:nvGrpSpPr>
          <p:cNvPr id="18" name="p06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16" name="Line 16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04647" y="6333649"/>
              <a:ext cx="32421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06 / 25 · 不确定性把单一最优状态转化为状态概率分布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07-header"/>
          <p:cNvGrpSpPr/>
          <p:nvPr/>
        </p:nvGrpSpPr>
        <p:grpSpPr>
          <a:xfrm>
            <a:off x="594360" y="507206"/>
            <a:ext cx="5967222" cy="860584"/>
            <a:chOff x="594360" y="507206"/>
            <a:chExt cx="5967222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13822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论文 · Section 2.3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5967222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自由能与 Boltzmann 联合分布</a:t>
              </a:r>
            </a:p>
          </p:txBody>
        </p:sp>
      </p:grpSp>
      <p:grpSp>
        <p:nvGrpSpPr>
          <p:cNvPr id="16" name="p07-chain"/>
          <p:cNvGrpSpPr/>
          <p:nvPr/>
        </p:nvGrpSpPr>
        <p:grpSpPr>
          <a:xfrm>
            <a:off x="609600" y="1562100"/>
            <a:ext cx="10972800" cy="1066800"/>
            <a:chOff x="609600" y="1562100"/>
            <a:chExt cx="10972800" cy="1066800"/>
          </a:xfrm>
        </p:grpSpPr>
        <p:sp>
          <p:nvSpPr>
            <p:cNvPr id="5" name="Rectangle 5"/>
            <p:cNvSpPr/>
            <p:nvPr/>
          </p:nvSpPr>
          <p:spPr>
            <a:xfrm>
              <a:off x="609600" y="1562100"/>
              <a:ext cx="3143250" cy="10668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454197" y="1786890"/>
              <a:ext cx="145405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最小化 〈E〉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852041" y="21564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优化表现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3752850" y="2095500"/>
              <a:ext cx="762000" cy="9525"/>
            </a:xfrm>
            <a:custGeom>
              <a:avLst/>
              <a:gdLst/>
              <a:ahLst/>
              <a:cxnLst/>
              <a:rect l="l" t="t" r="r" b="b"/>
              <a:pathLst>
                <a:path w="762000" h="9525">
                  <a:moveTo>
                    <a:pt x="0" y="0"/>
                  </a:moveTo>
                  <a:lnTo>
                    <a:pt x="762000" y="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4514850" y="1562100"/>
              <a:ext cx="3143250" cy="10668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599603" y="1786890"/>
              <a:ext cx="97374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最大化 S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595747" y="215646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保留不确定性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7658100" y="2095500"/>
              <a:ext cx="762000" cy="9525"/>
            </a:xfrm>
            <a:custGeom>
              <a:avLst/>
              <a:gdLst/>
              <a:ahLst/>
              <a:cxnLst/>
              <a:rect l="l" t="t" r="r" b="b"/>
              <a:pathLst>
                <a:path w="762000" h="9525">
                  <a:moveTo>
                    <a:pt x="0" y="0"/>
                  </a:moveTo>
                  <a:lnTo>
                    <a:pt x="762000" y="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8420100" y="1562100"/>
              <a:ext cx="3162300" cy="1066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514378" y="1786890"/>
              <a:ext cx="97374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最小化 F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72066" y="21564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两者平衡</a:t>
              </a:r>
            </a:p>
          </p:txBody>
        </p:sp>
      </p:grpSp>
      <p:grpSp>
        <p:nvGrpSpPr>
          <p:cNvPr id="19" name="p07-free"/>
          <p:cNvGrpSpPr/>
          <p:nvPr/>
        </p:nvGrpSpPr>
        <p:grpSpPr>
          <a:xfrm>
            <a:off x="609600" y="2952750"/>
            <a:ext cx="4095750" cy="1028700"/>
            <a:chOff x="609600" y="2952750"/>
            <a:chExt cx="4095750" cy="1028700"/>
          </a:xfrm>
        </p:grpSpPr>
        <p:sp>
          <p:nvSpPr>
            <p:cNvPr id="17" name="Rectangle 17"/>
            <p:cNvSpPr/>
            <p:nvPr/>
          </p:nvSpPr>
          <p:spPr>
            <a:xfrm>
              <a:off x="609600" y="2952750"/>
              <a:ext cx="4095750" cy="1028700"/>
            </a:xfrm>
            <a:prstGeom prst="roundRect">
              <a:avLst>
                <a:gd name="adj" fmla="val 12963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314660" y="3321368"/>
              <a:ext cx="2685631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250" dirty="0">
                  <a:solidFill>
                    <a:schemeClr val="accent1"/>
                  </a:solidFill>
                  <a:latin typeface="Arial"/>
                  <a:ea typeface="Arial Unicode MS"/>
                  <a:cs typeface="Arial"/>
                </a:rPr>
                <a:t>F = (1−t)〈E〉 − tS</a:t>
              </a:r>
            </a:p>
          </p:txBody>
        </p:sp>
      </p:grpSp>
      <p:grpSp>
        <p:nvGrpSpPr>
          <p:cNvPr id="22" name="p07-boltz"/>
          <p:cNvGrpSpPr/>
          <p:nvPr/>
        </p:nvGrpSpPr>
        <p:grpSpPr>
          <a:xfrm>
            <a:off x="5010150" y="2952750"/>
            <a:ext cx="6572250" cy="1428750"/>
            <a:chOff x="5010150" y="2952750"/>
            <a:chExt cx="6572250" cy="1428750"/>
          </a:xfrm>
        </p:grpSpPr>
        <p:sp>
          <p:nvSpPr>
            <p:cNvPr id="20" name="Rectangle 20"/>
            <p:cNvSpPr/>
            <p:nvPr/>
          </p:nvSpPr>
          <p:spPr>
            <a:xfrm>
              <a:off x="5010150" y="2952750"/>
              <a:ext cx="6572250" cy="1428750"/>
            </a:xfrm>
            <a:prstGeom prst="roundRect">
              <a:avLst>
                <a:gd name="adj" fmla="val 933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145363" y="3550539"/>
              <a:ext cx="43018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800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p({sᵢ}) = e⁻ᴱ⁽ˢ⁾/ᵀ / Z · Z = Σ e⁻ᴱ⁽ˢ⁾/ᵀ</a:t>
              </a:r>
            </a:p>
          </p:txBody>
        </p:sp>
      </p:grpSp>
      <p:grpSp>
        <p:nvGrpSpPr>
          <p:cNvPr id="26" name="p07-note"/>
          <p:cNvGrpSpPr/>
          <p:nvPr/>
        </p:nvGrpSpPr>
        <p:grpSpPr>
          <a:xfrm>
            <a:off x="609600" y="4705350"/>
            <a:ext cx="10972800" cy="933450"/>
            <a:chOff x="609600" y="4705350"/>
            <a:chExt cx="10972800" cy="933450"/>
          </a:xfrm>
        </p:grpSpPr>
        <p:sp>
          <p:nvSpPr>
            <p:cNvPr id="23" name="Rectangle 23"/>
            <p:cNvSpPr/>
            <p:nvPr/>
          </p:nvSpPr>
          <p:spPr>
            <a:xfrm>
              <a:off x="609600" y="4705350"/>
              <a:ext cx="10972800" cy="93345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68299" y="4925854"/>
              <a:ext cx="276854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论文的关键理论结果 · Eq. 7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69061" y="5275421"/>
              <a:ext cx="51758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它把状态能量转成完整联合概率，并允许计算任意阶统计量。</a:t>
              </a:r>
            </a:p>
          </p:txBody>
        </p:sp>
      </p:grpSp>
      <p:grpSp>
        <p:nvGrpSpPr>
          <p:cNvPr id="29" name="p07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27" name="Line 27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04647" y="6333649"/>
              <a:ext cx="29782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07 / 25 · 优化与不确定性在同一个概率分布中统一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08-header"/>
          <p:cNvGrpSpPr/>
          <p:nvPr/>
        </p:nvGrpSpPr>
        <p:grpSpPr>
          <a:xfrm>
            <a:off x="594360" y="507206"/>
            <a:ext cx="5577840" cy="860584"/>
            <a:chOff x="594360" y="507206"/>
            <a:chExt cx="5577840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2084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论文 · Section 2.3.1–2.3.2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557784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能量主导、熵主导与临界状态</a:t>
              </a:r>
            </a:p>
          </p:txBody>
        </p:sp>
      </p:grpSp>
      <p:grpSp>
        <p:nvGrpSpPr>
          <p:cNvPr id="30" name="p08-axis"/>
          <p:cNvGrpSpPr/>
          <p:nvPr/>
        </p:nvGrpSpPr>
        <p:grpSpPr>
          <a:xfrm>
            <a:off x="781050" y="2038350"/>
            <a:ext cx="10629900" cy="2531745"/>
            <a:chOff x="781050" y="2038350"/>
            <a:chExt cx="10629900" cy="2531745"/>
          </a:xfrm>
        </p:grpSpPr>
        <p:sp>
          <p:nvSpPr>
            <p:cNvPr id="5" name="Line 5"/>
            <p:cNvSpPr/>
            <p:nvPr/>
          </p:nvSpPr>
          <p:spPr>
            <a:xfrm>
              <a:off x="1143000" y="4000500"/>
              <a:ext cx="9906000" cy="9525"/>
            </a:xfrm>
            <a:custGeom>
              <a:avLst/>
              <a:gdLst/>
              <a:ahLst/>
              <a:cxnLst/>
              <a:rect l="l" t="t" r="r" b="b"/>
              <a:pathLst>
                <a:path w="9906000" h="9525">
                  <a:moveTo>
                    <a:pt x="0" y="0"/>
                  </a:moveTo>
                  <a:lnTo>
                    <a:pt x="99060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</p:sp>
        <p:sp>
          <p:nvSpPr>
            <p:cNvPr id="6" name="Line 6"/>
            <p:cNvSpPr/>
            <p:nvPr/>
          </p:nvSpPr>
          <p:spPr>
            <a:xfrm>
              <a:off x="1143000" y="3886200"/>
              <a:ext cx="9525" cy="228600"/>
            </a:xfrm>
            <a:custGeom>
              <a:avLst/>
              <a:gdLst/>
              <a:ahLst/>
              <a:cxnLst/>
              <a:rect l="l" t="t" r="r" b="b"/>
              <a:pathLst>
                <a:path w="9525"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7" name="Line 7"/>
            <p:cNvSpPr/>
            <p:nvPr/>
          </p:nvSpPr>
          <p:spPr>
            <a:xfrm>
              <a:off x="6096000" y="38100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47625">
              <a:solidFill>
                <a:schemeClr val="accent2"/>
              </a:solidFill>
            </a:ln>
          </p:spPr>
        </p:sp>
        <p:sp>
          <p:nvSpPr>
            <p:cNvPr id="8" name="Line 8"/>
            <p:cNvSpPr/>
            <p:nvPr/>
          </p:nvSpPr>
          <p:spPr>
            <a:xfrm>
              <a:off x="11049000" y="3886200"/>
              <a:ext cx="9525" cy="228600"/>
            </a:xfrm>
            <a:custGeom>
              <a:avLst/>
              <a:gdLst/>
              <a:ahLst/>
              <a:cxnLst/>
              <a:rect l="l" t="t" r="r" b="b"/>
              <a:pathLst>
                <a:path w="9525"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39203" y="4276725"/>
              <a:ext cx="4075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低 T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684520" y="42767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临界区域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845203" y="4276725"/>
              <a:ext cx="4075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高 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81050" y="2038350"/>
              <a:ext cx="3333750" cy="14287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976069" y="2214086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能量主导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407566" y="2624614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概率集中在少数低能量状态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1447800" y="3028950"/>
              <a:ext cx="266700" cy="2667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1866900" y="2781300"/>
              <a:ext cx="266700" cy="5143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2286000" y="2381250"/>
              <a:ext cx="266700" cy="914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2705100" y="3048000"/>
              <a:ext cx="266700" cy="2476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4429125" y="2038350"/>
              <a:ext cx="3333750" cy="14287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739917" y="2214086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高响应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883328" y="2624614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微小参数变化带来最大统计变化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4953000" y="2209800"/>
              <a:ext cx="2286000" cy="1028700"/>
            </a:xfrm>
            <a:custGeom>
              <a:avLst/>
              <a:gdLst/>
              <a:ahLst/>
              <a:cxnLst/>
              <a:rect l="l" t="t" r="r" b="b"/>
              <a:pathLst>
                <a:path w="2286000" h="1028700">
                  <a:moveTo>
                    <a:pt x="0" y="1028700"/>
                  </a:moveTo>
                  <a:cubicBezTo>
                    <a:pt x="428625" y="933450"/>
                    <a:pt x="666750" y="76200"/>
                    <a:pt x="1143000" y="0"/>
                  </a:cubicBezTo>
                  <a:cubicBezTo>
                    <a:pt x="1619250" y="76200"/>
                    <a:pt x="1857375" y="933450"/>
                    <a:pt x="2286000" y="1028700"/>
                  </a:cubicBezTo>
                </a:path>
              </a:pathLst>
            </a:custGeom>
            <a:noFill/>
            <a:ln w="47625">
              <a:solidFill>
                <a:schemeClr val="accent2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8077200" y="2038350"/>
              <a:ext cx="3333750" cy="142875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387992" y="2214086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熵主导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789873" y="262461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概率在许多状态间更平坦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782050" y="2857500"/>
              <a:ext cx="266700" cy="4381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9201150" y="2819400"/>
              <a:ext cx="266700" cy="4762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9620250" y="2895600"/>
              <a:ext cx="266700" cy="4000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10039350" y="2838450"/>
              <a:ext cx="266700" cy="457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</p:grpSp>
      <p:grpSp>
        <p:nvGrpSpPr>
          <p:cNvPr id="33" name="p08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31" name="Line 31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04647" y="6333649"/>
              <a:ext cx="34021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08 / 25 · T 控制概率集中程度；T=1 是拟合模型的参照点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09-header"/>
          <p:cNvGrpSpPr/>
          <p:nvPr/>
        </p:nvGrpSpPr>
        <p:grpSpPr>
          <a:xfrm>
            <a:off x="594360" y="507206"/>
            <a:ext cx="7061606" cy="860584"/>
            <a:chOff x="594360" y="507206"/>
            <a:chExt cx="7061606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13822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论文 · Section 3.1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7061606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PISA 2018 trial model 的数据范围</a:t>
              </a:r>
            </a:p>
          </p:txBody>
        </p:sp>
      </p:grpSp>
      <p:grpSp>
        <p:nvGrpSpPr>
          <p:cNvPr id="12" name="p09-hero"/>
          <p:cNvGrpSpPr/>
          <p:nvPr/>
        </p:nvGrpSpPr>
        <p:grpSpPr>
          <a:xfrm>
            <a:off x="609600" y="1607820"/>
            <a:ext cx="2857500" cy="4011930"/>
            <a:chOff x="609600" y="1607820"/>
            <a:chExt cx="2857500" cy="4011930"/>
          </a:xfrm>
        </p:grpSpPr>
        <p:sp>
          <p:nvSpPr>
            <p:cNvPr id="5" name="Rectangle 5"/>
            <p:cNvSpPr/>
            <p:nvPr/>
          </p:nvSpPr>
          <p:spPr>
            <a:xfrm>
              <a:off x="609600" y="1619250"/>
              <a:ext cx="2857500" cy="4000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95350" y="1607820"/>
              <a:ext cx="877725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40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15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906780" y="2447925"/>
              <a:ext cx="2339340" cy="636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个 trial models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5 个经济体 × 3 个 outcome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95350" y="3201352"/>
              <a:ext cx="667819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050" b="1" dirty="0">
                  <a:solidFill>
                    <a:schemeClr val="accent3"/>
                  </a:solidFill>
                  <a:latin typeface="+mn-lt"/>
                  <a:ea typeface="Arial Unicode MS"/>
                  <a:cs typeface="+mn-cs"/>
                </a:rPr>
                <a:t>19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07542" y="385476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每个模型的节点数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02970" y="4519612"/>
              <a:ext cx="194700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2,010–6,572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07923" y="496776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各地区有效样本量</a:t>
              </a:r>
            </a:p>
          </p:txBody>
        </p:sp>
      </p:grpSp>
      <p:grpSp>
        <p:nvGrpSpPr>
          <p:cNvPr id="21" name="p09-countries"/>
          <p:cNvGrpSpPr/>
          <p:nvPr/>
        </p:nvGrpSpPr>
        <p:grpSpPr>
          <a:xfrm>
            <a:off x="3896106" y="1767840"/>
            <a:ext cx="7686294" cy="2975610"/>
            <a:chOff x="3896106" y="1767840"/>
            <a:chExt cx="7686294" cy="2975610"/>
          </a:xfrm>
        </p:grpSpPr>
        <p:sp>
          <p:nvSpPr>
            <p:cNvPr id="13" name="TextBox 13"/>
            <p:cNvSpPr txBox="1"/>
            <p:nvPr/>
          </p:nvSpPr>
          <p:spPr>
            <a:xfrm>
              <a:off x="3896106" y="1767840"/>
              <a:ext cx="209433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经济体与 outcome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3905250" y="2133600"/>
              <a:ext cx="7677150" cy="9525"/>
            </a:xfrm>
            <a:custGeom>
              <a:avLst/>
              <a:gdLst/>
              <a:ahLst/>
              <a:cxnLst/>
              <a:rect l="l" t="t" r="r" b="b"/>
              <a:pathLst>
                <a:path w="7677150" h="9525">
                  <a:moveTo>
                    <a:pt x="0" y="0"/>
                  </a:moveTo>
                  <a:lnTo>
                    <a:pt x="7677150" y="0"/>
                  </a:lnTo>
                </a:path>
              </a:pathLst>
            </a:custGeom>
            <a:noFill/>
            <a:ln w="9525">
              <a:solidFill>
                <a:srgbClr val="B8C9C3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897630" y="2447925"/>
              <a:ext cx="2120265" cy="2198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750"/>
                </a:lnSpc>
              </a:pPr>
              <a:r>
                <a:rPr lang="en-US" sz="1500" dirty="0">
                  <a:solidFill>
                    <a:schemeClr val="accent5"/>
                  </a:solidFill>
                  <a:latin typeface="+mn-lt"/>
                  <a:ea typeface="Arial Unicode MS"/>
                  <a:cs typeface="+mn-cs"/>
                </a:rPr>
                <a:t>Chinese Taipei · 6,572</a:t>
              </a:r>
              <a:br/>
              <a:r>
                <a:rPr lang="en-US" sz="1500" dirty="0">
                  <a:solidFill>
                    <a:schemeClr val="accent5"/>
                  </a:solidFill>
                  <a:latin typeface="+mn-lt"/>
                  <a:ea typeface="Arial Unicode MS"/>
                  <a:cs typeface="+mn-cs"/>
                </a:rPr>
                <a:t>Hong Kong · 5,119</a:t>
              </a:r>
              <a:br/>
              <a:r>
                <a:rPr lang="en-US" sz="1500" dirty="0">
                  <a:solidFill>
                    <a:schemeClr val="accent5"/>
                  </a:solidFill>
                  <a:latin typeface="+mn-lt"/>
                  <a:ea typeface="Arial Unicode MS"/>
                  <a:cs typeface="+mn-cs"/>
                </a:rPr>
                <a:t>Germany · 2,010</a:t>
              </a:r>
              <a:br/>
              <a:r>
                <a:rPr lang="en-US" sz="1500" dirty="0">
                  <a:solidFill>
                    <a:schemeClr val="accent5"/>
                  </a:solidFill>
                  <a:latin typeface="+mn-lt"/>
                  <a:ea typeface="Arial Unicode MS"/>
                  <a:cs typeface="+mn-cs"/>
                </a:rPr>
                <a:t>United States · 3,899</a:t>
              </a:r>
              <a:br/>
              <a:r>
                <a:rPr lang="en-US" sz="1500" dirty="0">
                  <a:solidFill>
                    <a:schemeClr val="accent5"/>
                  </a:solidFill>
                  <a:latin typeface="+mn-lt"/>
                  <a:ea typeface="Arial Unicode MS"/>
                  <a:cs typeface="+mn-cs"/>
                </a:rPr>
                <a:t>United Kingdom · 5,495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8210550" y="2495550"/>
              <a:ext cx="3371850" cy="2247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81135" y="277177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每个地区分别拟合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551127" y="3180398"/>
              <a:ext cx="69069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95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Math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386415" y="3618548"/>
              <a:ext cx="102012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950" b="1" dirty="0">
                  <a:solidFill>
                    <a:schemeClr val="accent3"/>
                  </a:solidFill>
                  <a:latin typeface="+mn-lt"/>
                  <a:ea typeface="Arial Unicode MS"/>
                  <a:cs typeface="+mn-cs"/>
                </a:rPr>
                <a:t>Science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386415" y="4056698"/>
              <a:ext cx="102012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950" b="1" dirty="0">
                  <a:solidFill>
                    <a:srgbClr val="345995"/>
                  </a:solidFill>
                  <a:latin typeface="+mn-lt"/>
                  <a:ea typeface="Arial Unicode MS"/>
                  <a:cs typeface="+mn-cs"/>
                </a:rPr>
                <a:t>Reading</a:t>
              </a:r>
            </a:p>
          </p:txBody>
        </p:sp>
      </p:grpSp>
      <p:grpSp>
        <p:nvGrpSpPr>
          <p:cNvPr id="24" name="p09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22" name="Line 22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04647" y="6333649"/>
              <a:ext cx="245056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09 / 25 · 理论模型进入可检验的数据实例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0-header"/>
          <p:cNvGrpSpPr/>
          <p:nvPr/>
        </p:nvGrpSpPr>
        <p:grpSpPr>
          <a:xfrm>
            <a:off x="594360" y="507206"/>
            <a:ext cx="4205935" cy="860584"/>
            <a:chOff x="594360" y="507206"/>
            <a:chExt cx="4205935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17333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论文 · Section 3.1–3.2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4205935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从变量到 19 节点模型</a:t>
              </a:r>
            </a:p>
          </p:txBody>
        </p:sp>
      </p:grpSp>
      <p:grpSp>
        <p:nvGrpSpPr>
          <p:cNvPr id="26" name="p10-network"/>
          <p:cNvGrpSpPr/>
          <p:nvPr/>
        </p:nvGrpSpPr>
        <p:grpSpPr>
          <a:xfrm>
            <a:off x="1028700" y="1828800"/>
            <a:ext cx="5753100" cy="3581400"/>
            <a:chOff x="1028700" y="1828800"/>
            <a:chExt cx="5753100" cy="3581400"/>
          </a:xfrm>
        </p:grpSpPr>
        <p:sp>
          <p:nvSpPr>
            <p:cNvPr id="5" name="Ellipse 5"/>
            <p:cNvSpPr/>
            <p:nvPr/>
          </p:nvSpPr>
          <p:spPr>
            <a:xfrm>
              <a:off x="3219450" y="2933700"/>
              <a:ext cx="1371600" cy="1371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3397248" y="3365182"/>
              <a:ext cx="10160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Outcome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3652799" y="3728085"/>
              <a:ext cx="5049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1 node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1524000" y="2324100"/>
              <a:ext cx="2381250" cy="1295400"/>
            </a:xfrm>
            <a:custGeom>
              <a:avLst/>
              <a:gdLst/>
              <a:ahLst/>
              <a:cxnLst/>
              <a:rect l="l" t="t" r="r" b="b"/>
              <a:pathLst>
                <a:path w="2381250" h="1295400">
                  <a:moveTo>
                    <a:pt x="2381250" y="1295400"/>
                  </a:moveTo>
                  <a:lnTo>
                    <a:pt x="0" y="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1028700" y="1828800"/>
              <a:ext cx="990600" cy="990600"/>
            </a:xfrm>
            <a:prstGeom prst="ellipse">
              <a:avLst/>
            </a:prstGeom>
            <a:solidFill>
              <a:schemeClr val="lt2"/>
            </a:solidFill>
            <a:ln w="19050">
              <a:solidFill>
                <a:srgbClr val="B8C9C3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94816" y="22517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家庭资源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524000" y="3619500"/>
              <a:ext cx="2381250" cy="9525"/>
            </a:xfrm>
            <a:custGeom>
              <a:avLst/>
              <a:gdLst/>
              <a:ahLst/>
              <a:cxnLst/>
              <a:rect l="l" t="t" r="r" b="b"/>
              <a:pathLst>
                <a:path w="2381250" h="9525">
                  <a:moveTo>
                    <a:pt x="2381250" y="0"/>
                  </a:moveTo>
                  <a:lnTo>
                    <a:pt x="0" y="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1028700" y="3124200"/>
              <a:ext cx="990600" cy="990600"/>
            </a:xfrm>
            <a:prstGeom prst="ellipse">
              <a:avLst/>
            </a:prstGeom>
            <a:solidFill>
              <a:schemeClr val="lt2"/>
            </a:solidFill>
            <a:ln w="19050">
              <a:solidFill>
                <a:srgbClr val="B8C9C3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194816" y="35471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课堂教学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1524000" y="3619500"/>
              <a:ext cx="2381250" cy="1295400"/>
            </a:xfrm>
            <a:custGeom>
              <a:avLst/>
              <a:gdLst/>
              <a:ahLst/>
              <a:cxnLst/>
              <a:rect l="l" t="t" r="r" b="b"/>
              <a:pathLst>
                <a:path w="2381250" h="1295400">
                  <a:moveTo>
                    <a:pt x="2381250" y="0"/>
                  </a:moveTo>
                  <a:lnTo>
                    <a:pt x="0" y="129540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1028700" y="4419600"/>
              <a:ext cx="990600" cy="990600"/>
            </a:xfrm>
            <a:prstGeom prst="ellipse">
              <a:avLst/>
            </a:prstGeom>
            <a:solidFill>
              <a:schemeClr val="lt2"/>
            </a:solidFill>
            <a:ln w="19050">
              <a:solidFill>
                <a:srgbClr val="B8C9C3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114044" y="48425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动机与情绪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3905250" y="2324100"/>
              <a:ext cx="2381250" cy="1295400"/>
            </a:xfrm>
            <a:custGeom>
              <a:avLst/>
              <a:gdLst/>
              <a:ahLst/>
              <a:cxnLst/>
              <a:rect l="l" t="t" r="r" b="b"/>
              <a:pathLst>
                <a:path w="2381250" h="1295400">
                  <a:moveTo>
                    <a:pt x="0" y="1295400"/>
                  </a:moveTo>
                  <a:lnTo>
                    <a:pt x="2381250" y="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5791200" y="1828800"/>
              <a:ext cx="990600" cy="990600"/>
            </a:xfrm>
            <a:prstGeom prst="ellipse">
              <a:avLst/>
            </a:prstGeom>
            <a:solidFill>
              <a:schemeClr val="lt2"/>
            </a:solidFill>
            <a:ln w="19050">
              <a:solidFill>
                <a:srgbClr val="B8C9C3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973775" y="2251710"/>
              <a:ext cx="6254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ICT 资源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3905250" y="3619500"/>
              <a:ext cx="2381250" cy="9525"/>
            </a:xfrm>
            <a:custGeom>
              <a:avLst/>
              <a:gdLst/>
              <a:ahLst/>
              <a:cxnLst/>
              <a:rect l="l" t="t" r="r" b="b"/>
              <a:pathLst>
                <a:path w="2381250" h="9525">
                  <a:moveTo>
                    <a:pt x="0" y="0"/>
                  </a:moveTo>
                  <a:lnTo>
                    <a:pt x="2381250" y="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1" name="Ellipse 21"/>
            <p:cNvSpPr/>
            <p:nvPr/>
          </p:nvSpPr>
          <p:spPr>
            <a:xfrm>
              <a:off x="5791200" y="3124200"/>
              <a:ext cx="990600" cy="990600"/>
            </a:xfrm>
            <a:prstGeom prst="ellipse">
              <a:avLst/>
            </a:prstGeom>
            <a:solidFill>
              <a:schemeClr val="lt2"/>
            </a:solidFill>
            <a:ln w="19050">
              <a:solidFill>
                <a:srgbClr val="B8C9C3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973775" y="3547110"/>
              <a:ext cx="6254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ICT 使用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3905250" y="3619500"/>
              <a:ext cx="2381250" cy="1295400"/>
            </a:xfrm>
            <a:custGeom>
              <a:avLst/>
              <a:gdLst/>
              <a:ahLst/>
              <a:cxnLst/>
              <a:rect l="l" t="t" r="r" b="b"/>
              <a:pathLst>
                <a:path w="2381250" h="1295400">
                  <a:moveTo>
                    <a:pt x="0" y="0"/>
                  </a:moveTo>
                  <a:lnTo>
                    <a:pt x="2381250" y="129540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5791200" y="4419600"/>
              <a:ext cx="990600" cy="990600"/>
            </a:xfrm>
            <a:prstGeom prst="ellipse">
              <a:avLst/>
            </a:prstGeom>
            <a:solidFill>
              <a:schemeClr val="lt2"/>
            </a:solidFill>
            <a:ln w="19050">
              <a:solidFill>
                <a:srgbClr val="B8C9C3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957316" y="48425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其他因素</a:t>
              </a:r>
            </a:p>
          </p:txBody>
        </p:sp>
      </p:grpSp>
      <p:grpSp>
        <p:nvGrpSpPr>
          <p:cNvPr id="36" name="p10-count"/>
          <p:cNvGrpSpPr/>
          <p:nvPr/>
        </p:nvGrpSpPr>
        <p:grpSpPr>
          <a:xfrm>
            <a:off x="7848600" y="1676400"/>
            <a:ext cx="3733800" cy="3905250"/>
            <a:chOff x="7848600" y="1676400"/>
            <a:chExt cx="3733800" cy="3905250"/>
          </a:xfrm>
        </p:grpSpPr>
        <p:sp>
          <p:nvSpPr>
            <p:cNvPr id="27" name="Rectangle 27"/>
            <p:cNvSpPr/>
            <p:nvPr/>
          </p:nvSpPr>
          <p:spPr>
            <a:xfrm>
              <a:off x="7848600" y="1676400"/>
              <a:ext cx="3733800" cy="39052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145018" y="19173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一个模型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34350" y="2229802"/>
              <a:ext cx="1641020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05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18 + 1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146542" y="284511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节点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135874" y="3304222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3"/>
                  </a:solidFill>
                  <a:latin typeface="+mn-lt"/>
                  <a:ea typeface="Arial Unicode MS"/>
                  <a:cs typeface="+mn-cs"/>
                </a:rPr>
                <a:t>19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850249" y="3506629"/>
              <a:ext cx="54137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个 hᵢ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135874" y="4028122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171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55049" y="4230529"/>
              <a:ext cx="68885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个 Jᵢⱼ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146923" y="4891564"/>
              <a:ext cx="1882394" cy="5351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28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每个地区 × 每个 outcome</a:t>
              </a:r>
              <a:br/>
              <a:r>
                <a:rPr lang="zh-CN" sz="128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独立拟合一组参数</a:t>
              </a:r>
            </a:p>
          </p:txBody>
        </p:sp>
      </p:grpSp>
      <p:grpSp>
        <p:nvGrpSpPr>
          <p:cNvPr id="39" name="p10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37" name="Line 37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04647" y="6333649"/>
              <a:ext cx="284634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10 / 25 · 节点集合决定模型能够表达的学习结构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1-header"/>
          <p:cNvGrpSpPr/>
          <p:nvPr/>
        </p:nvGrpSpPr>
        <p:grpSpPr>
          <a:xfrm>
            <a:off x="594360" y="507206"/>
            <a:ext cx="5151120" cy="860584"/>
            <a:chOff x="594360" y="507206"/>
            <a:chExt cx="5151120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2544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论文 · Section 3.2.1 / Appendix A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515112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论文的数据标准化与二值化</a:t>
              </a:r>
            </a:p>
          </p:txBody>
        </p:sp>
      </p:grpSp>
      <p:grpSp>
        <p:nvGrpSpPr>
          <p:cNvPr id="9" name="p11-stage-0"/>
          <p:cNvGrpSpPr/>
          <p:nvPr/>
        </p:nvGrpSpPr>
        <p:grpSpPr>
          <a:xfrm>
            <a:off x="609600" y="1962150"/>
            <a:ext cx="3048000" cy="2800350"/>
            <a:chOff x="609600" y="1962150"/>
            <a:chExt cx="3048000" cy="2800350"/>
          </a:xfrm>
        </p:grpSpPr>
        <p:sp>
          <p:nvSpPr>
            <p:cNvPr id="5" name="Rectangle 5"/>
            <p:cNvSpPr/>
            <p:nvPr/>
          </p:nvSpPr>
          <p:spPr>
            <a:xfrm>
              <a:off x="609600" y="1962150"/>
              <a:ext cx="3048000" cy="2800350"/>
            </a:xfrm>
            <a:prstGeom prst="rect">
              <a:avLst/>
            </a:prstGeom>
            <a:solidFill>
              <a:schemeClr val="lt2"/>
            </a:solidFill>
            <a:ln w="19050">
              <a:solidFill>
                <a:srgbClr val="B8C9C3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59536" y="2044065"/>
              <a:ext cx="2900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1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477137" y="2156936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原始变量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9442" y="2997518"/>
              <a:ext cx="1042416" cy="645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000"/>
                </a:lnSpc>
              </a:pPr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不同量纲</a:t>
              </a:r>
              <a:br/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缺失值先处理</a:t>
              </a:r>
            </a:p>
          </p:txBody>
        </p:sp>
      </p:grpSp>
      <p:grpSp>
        <p:nvGrpSpPr>
          <p:cNvPr id="12" name="p11-arrow-0"/>
          <p:cNvGrpSpPr/>
          <p:nvPr/>
        </p:nvGrpSpPr>
        <p:grpSpPr>
          <a:xfrm>
            <a:off x="3752850" y="3124200"/>
            <a:ext cx="476250" cy="190500"/>
            <a:chOff x="3752850" y="3124200"/>
            <a:chExt cx="476250" cy="190500"/>
          </a:xfrm>
        </p:grpSpPr>
        <p:sp>
          <p:nvSpPr>
            <p:cNvPr id="10" name="Line 10"/>
            <p:cNvSpPr/>
            <p:nvPr/>
          </p:nvSpPr>
          <p:spPr>
            <a:xfrm>
              <a:off x="3752850" y="3219450"/>
              <a:ext cx="438150" cy="9525"/>
            </a:xfrm>
            <a:custGeom>
              <a:avLst/>
              <a:gdLst/>
              <a:ahLst/>
              <a:cxnLst/>
              <a:rect l="l" t="t" r="r" b="b"/>
              <a:pathLst>
                <a:path w="438150" h="9525">
                  <a:moveTo>
                    <a:pt x="0" y="0"/>
                  </a:moveTo>
                  <a:lnTo>
                    <a:pt x="438150" y="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4095750" y="3124200"/>
              <a:ext cx="133350" cy="190500"/>
            </a:xfrm>
            <a:custGeom>
              <a:avLst/>
              <a:gdLst/>
              <a:ahLst/>
              <a:cxnLst/>
              <a:rect l="l" t="t" r="r" b="b"/>
              <a:pathLst>
                <a:path w="133350" h="190500">
                  <a:moveTo>
                    <a:pt x="0" y="0"/>
                  </a:moveTo>
                  <a:lnTo>
                    <a:pt x="133350" y="95250"/>
                  </a:lnTo>
                  <a:lnTo>
                    <a:pt x="0" y="19050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</p:grpSp>
      <p:grpSp>
        <p:nvGrpSpPr>
          <p:cNvPr id="17" name="p11-stage-1"/>
          <p:cNvGrpSpPr/>
          <p:nvPr/>
        </p:nvGrpSpPr>
        <p:grpSpPr>
          <a:xfrm>
            <a:off x="4286250" y="1962150"/>
            <a:ext cx="3048000" cy="2800350"/>
            <a:chOff x="4286250" y="1962150"/>
            <a:chExt cx="3048000" cy="2800350"/>
          </a:xfrm>
        </p:grpSpPr>
        <p:sp>
          <p:nvSpPr>
            <p:cNvPr id="13" name="Rectangle 13"/>
            <p:cNvSpPr/>
            <p:nvPr/>
          </p:nvSpPr>
          <p:spPr>
            <a:xfrm>
              <a:off x="4286250" y="1962150"/>
              <a:ext cx="3048000" cy="280035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536186" y="2044065"/>
              <a:ext cx="2900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153787" y="2156936"/>
              <a:ext cx="95355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z-score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46092" y="2997518"/>
              <a:ext cx="1539621" cy="645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000"/>
                </a:lnSpc>
              </a:pPr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按每次 repeat 计算</a:t>
              </a:r>
              <a:br/>
              <a:r>
                <a:rPr lang="el-GR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z=(x−μ)/σ</a:t>
              </a:r>
            </a:p>
          </p:txBody>
        </p:sp>
      </p:grpSp>
      <p:grpSp>
        <p:nvGrpSpPr>
          <p:cNvPr id="20" name="p11-arrow-1"/>
          <p:cNvGrpSpPr/>
          <p:nvPr/>
        </p:nvGrpSpPr>
        <p:grpSpPr>
          <a:xfrm>
            <a:off x="7429500" y="3124200"/>
            <a:ext cx="476250" cy="190500"/>
            <a:chOff x="7429500" y="3124200"/>
            <a:chExt cx="476250" cy="190500"/>
          </a:xfrm>
        </p:grpSpPr>
        <p:sp>
          <p:nvSpPr>
            <p:cNvPr id="18" name="Line 18"/>
            <p:cNvSpPr/>
            <p:nvPr/>
          </p:nvSpPr>
          <p:spPr>
            <a:xfrm>
              <a:off x="7429500" y="3219450"/>
              <a:ext cx="438150" cy="9525"/>
            </a:xfrm>
            <a:custGeom>
              <a:avLst/>
              <a:gdLst/>
              <a:ahLst/>
              <a:cxnLst/>
              <a:rect l="l" t="t" r="r" b="b"/>
              <a:pathLst>
                <a:path w="438150" h="9525">
                  <a:moveTo>
                    <a:pt x="0" y="0"/>
                  </a:moveTo>
                  <a:lnTo>
                    <a:pt x="438150" y="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7772400" y="3124200"/>
              <a:ext cx="133350" cy="190500"/>
            </a:xfrm>
            <a:custGeom>
              <a:avLst/>
              <a:gdLst/>
              <a:ahLst/>
              <a:cxnLst/>
              <a:rect l="l" t="t" r="r" b="b"/>
              <a:pathLst>
                <a:path w="133350" h="190500">
                  <a:moveTo>
                    <a:pt x="0" y="0"/>
                  </a:moveTo>
                  <a:lnTo>
                    <a:pt x="133350" y="95250"/>
                  </a:lnTo>
                  <a:lnTo>
                    <a:pt x="0" y="19050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</p:grpSp>
      <p:grpSp>
        <p:nvGrpSpPr>
          <p:cNvPr id="25" name="p11-stage-2"/>
          <p:cNvGrpSpPr/>
          <p:nvPr/>
        </p:nvGrpSpPr>
        <p:grpSpPr>
          <a:xfrm>
            <a:off x="7962900" y="1962150"/>
            <a:ext cx="3048000" cy="2800350"/>
            <a:chOff x="7962900" y="1962150"/>
            <a:chExt cx="3048000" cy="2800350"/>
          </a:xfrm>
        </p:grpSpPr>
        <p:sp>
          <p:nvSpPr>
            <p:cNvPr id="21" name="Rectangle 21"/>
            <p:cNvSpPr/>
            <p:nvPr/>
          </p:nvSpPr>
          <p:spPr>
            <a:xfrm>
              <a:off x="7962900" y="1962150"/>
              <a:ext cx="3048000" cy="28003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212836" y="2044065"/>
              <a:ext cx="2900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830437" y="2156936"/>
              <a:ext cx="122098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paper_std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222742" y="2997518"/>
              <a:ext cx="1059561" cy="645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000"/>
                </a:lnSpc>
              </a:pPr>
              <a:r>
                <a:rPr lang="zh-CN" sz="135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状态 1：z &gt; 1</a:t>
              </a:r>
              <a:br/>
              <a:r>
                <a:rPr lang="zh-CN" sz="135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否则状态 0</a:t>
              </a:r>
            </a:p>
          </p:txBody>
        </p:sp>
      </p:grpSp>
      <p:grpSp>
        <p:nvGrpSpPr>
          <p:cNvPr id="28" name="p11-note"/>
          <p:cNvGrpSpPr/>
          <p:nvPr/>
        </p:nvGrpSpPr>
        <p:grpSpPr>
          <a:xfrm>
            <a:off x="609600" y="5067300"/>
            <a:ext cx="10972800" cy="685800"/>
            <a:chOff x="609600" y="5067300"/>
            <a:chExt cx="10972800" cy="685800"/>
          </a:xfrm>
        </p:grpSpPr>
        <p:sp>
          <p:nvSpPr>
            <p:cNvPr id="26" name="Rectangle 26"/>
            <p:cNvSpPr/>
            <p:nvPr/>
          </p:nvSpPr>
          <p:spPr>
            <a:xfrm>
              <a:off x="609600" y="5067300"/>
              <a:ext cx="10972800" cy="6858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69442" y="5331142"/>
              <a:ext cx="72946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Appendix A：二值化改变了节点语义，因此阈值范围、样本范围与列顺序必须随模型保存。</a:t>
              </a:r>
            </a:p>
          </p:txBody>
        </p:sp>
      </p:grpSp>
      <p:grpSp>
        <p:nvGrpSpPr>
          <p:cNvPr id="31" name="p11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29" name="Line 29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04647" y="6333649"/>
              <a:ext cx="257589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11 / 25 · 0/1 状态是论文模型定义的一部分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2-header"/>
          <p:cNvGrpSpPr/>
          <p:nvPr/>
        </p:nvGrpSpPr>
        <p:grpSpPr>
          <a:xfrm>
            <a:off x="594360" y="507206"/>
            <a:ext cx="3779215" cy="860584"/>
            <a:chOff x="594360" y="507206"/>
            <a:chExt cx="3779215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15578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论文 · Section 3.2.2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3779215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KL 散度与梯度迭代</a:t>
              </a:r>
            </a:p>
          </p:txBody>
        </p:sp>
      </p:grpSp>
      <p:grpSp>
        <p:nvGrpSpPr>
          <p:cNvPr id="7" name="p12-kl"/>
          <p:cNvGrpSpPr/>
          <p:nvPr/>
        </p:nvGrpSpPr>
        <p:grpSpPr>
          <a:xfrm>
            <a:off x="609600" y="1676400"/>
            <a:ext cx="5715000" cy="1200150"/>
            <a:chOff x="609600" y="1676400"/>
            <a:chExt cx="5715000" cy="1200150"/>
          </a:xfrm>
        </p:grpSpPr>
        <p:sp>
          <p:nvSpPr>
            <p:cNvPr id="5" name="Rectangle 5"/>
            <p:cNvSpPr/>
            <p:nvPr/>
          </p:nvSpPr>
          <p:spPr>
            <a:xfrm>
              <a:off x="609600" y="1676400"/>
              <a:ext cx="5715000" cy="1200150"/>
            </a:xfrm>
            <a:prstGeom prst="roundRect">
              <a:avLst>
                <a:gd name="adj" fmla="val 11111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207987" y="2159889"/>
              <a:ext cx="451822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800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Dᴷᴸ = Σₛ Pdata(s) ln[Pdata(s)/Pmodel(s)]</a:t>
              </a:r>
            </a:p>
          </p:txBody>
        </p:sp>
      </p:grpSp>
      <p:grpSp>
        <p:nvGrpSpPr>
          <p:cNvPr id="13" name="p12-grads"/>
          <p:cNvGrpSpPr/>
          <p:nvPr/>
        </p:nvGrpSpPr>
        <p:grpSpPr>
          <a:xfrm>
            <a:off x="6705600" y="1676400"/>
            <a:ext cx="4876800" cy="2095500"/>
            <a:chOff x="6705600" y="1676400"/>
            <a:chExt cx="4876800" cy="2095500"/>
          </a:xfrm>
        </p:grpSpPr>
        <p:sp>
          <p:nvSpPr>
            <p:cNvPr id="8" name="Rectangle 8"/>
            <p:cNvSpPr/>
            <p:nvPr/>
          </p:nvSpPr>
          <p:spPr>
            <a:xfrm>
              <a:off x="6705600" y="1676400"/>
              <a:ext cx="4876800" cy="2095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002018" y="1917382"/>
              <a:ext cx="20469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梯度 = moment gap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001256" y="2434590"/>
              <a:ext cx="313582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∂D/∂hᵢ = mᵢdata − mᵢmodel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001256" y="2910840"/>
              <a:ext cx="351466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∂D/∂Jᵢⱼ = Cᵢⱼdata − Cᵢⱼmodel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003923" y="3348514"/>
              <a:ext cx="21943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6"/>
                  </a:solidFill>
                  <a:latin typeface="Arial"/>
                  <a:ea typeface="Arial Unicode MS"/>
                  <a:cs typeface="Arial"/>
                </a:rPr>
                <a:t>mᵢ=〈sᵢ〉，Cᵢⱼ=〈sᵢsⱼ〉</a:t>
              </a:r>
            </a:p>
          </p:txBody>
        </p:sp>
      </p:grpSp>
      <p:grpSp>
        <p:nvGrpSpPr>
          <p:cNvPr id="28" name="p12-loop"/>
          <p:cNvGrpSpPr/>
          <p:nvPr/>
        </p:nvGrpSpPr>
        <p:grpSpPr>
          <a:xfrm>
            <a:off x="609600" y="3200400"/>
            <a:ext cx="5715000" cy="2476500"/>
            <a:chOff x="609600" y="3200400"/>
            <a:chExt cx="5715000" cy="2476500"/>
          </a:xfrm>
        </p:grpSpPr>
        <p:sp>
          <p:nvSpPr>
            <p:cNvPr id="14" name="Rectangle 14"/>
            <p:cNvSpPr/>
            <p:nvPr/>
          </p:nvSpPr>
          <p:spPr>
            <a:xfrm>
              <a:off x="609600" y="3200400"/>
              <a:ext cx="5715000" cy="24765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67918" y="342233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迭代流程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838200" y="4114800"/>
              <a:ext cx="800100" cy="800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172323" y="4410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03097" y="5090160"/>
              <a:ext cx="10703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数据 moments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2266950" y="4114800"/>
              <a:ext cx="800100" cy="8001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601073" y="4410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131847" y="5090160"/>
              <a:ext cx="10703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模型 moments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3695700" y="4114800"/>
              <a:ext cx="800100" cy="800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029823" y="4410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766147" y="5090160"/>
              <a:ext cx="6592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更新 h,J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124450" y="4114800"/>
              <a:ext cx="800100" cy="800100"/>
            </a:xfrm>
            <a:prstGeom prst="ellipse">
              <a:avLst/>
            </a:prstGeom>
            <a:solidFill>
              <a:srgbClr val="345995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458573" y="44100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199355" y="5090160"/>
              <a:ext cx="6502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检查 gap</a:t>
              </a:r>
            </a:p>
          </p:txBody>
        </p:sp>
      </p:grpSp>
      <p:grpSp>
        <p:nvGrpSpPr>
          <p:cNvPr id="32" name="p12-stop"/>
          <p:cNvGrpSpPr/>
          <p:nvPr/>
        </p:nvGrpSpPr>
        <p:grpSpPr>
          <a:xfrm>
            <a:off x="6705600" y="4095750"/>
            <a:ext cx="4876800" cy="1581150"/>
            <a:chOff x="6705600" y="4095750"/>
            <a:chExt cx="4876800" cy="1581150"/>
          </a:xfrm>
        </p:grpSpPr>
        <p:sp>
          <p:nvSpPr>
            <p:cNvPr id="29" name="Rectangle 29"/>
            <p:cNvSpPr/>
            <p:nvPr/>
          </p:nvSpPr>
          <p:spPr>
            <a:xfrm>
              <a:off x="6705600" y="4095750"/>
              <a:ext cx="4876800" cy="15811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002399" y="434482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停止条件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002018" y="4774882"/>
              <a:ext cx="2025846" cy="7227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150"/>
                </a:lnSpc>
              </a:pPr>
              <a:r>
                <a:rPr lang="en-US" sz="1650" dirty="0">
                  <a:solidFill>
                    <a:srgbClr val="B8C9C3"/>
                  </a:solidFill>
                  <a:latin typeface="Arial"/>
                  <a:ea typeface="Arial"/>
                  <a:cs typeface="Arial"/>
                </a:rPr>
                <a:t>mdata − mmodel → 0</a:t>
              </a:r>
              <a:br/>
              <a:r>
                <a:rPr lang="en-US" sz="1650" dirty="0">
                  <a:solidFill>
                    <a:srgbClr val="B8C9C3"/>
                  </a:solidFill>
                  <a:latin typeface="Arial"/>
                  <a:ea typeface="Arial"/>
                  <a:cs typeface="Arial"/>
                </a:rPr>
                <a:t>Cdata − Cmodel → 0</a:t>
              </a:r>
            </a:p>
          </p:txBody>
        </p:sp>
      </p:grpSp>
      <p:grpSp>
        <p:nvGrpSpPr>
          <p:cNvPr id="35" name="p12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33" name="Line 33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04647" y="6333649"/>
              <a:ext cx="348619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12 / 25 · 训练的数学核心是缩小一阶与二阶 moments 差异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3-header"/>
          <p:cNvGrpSpPr/>
          <p:nvPr/>
        </p:nvGrpSpPr>
        <p:grpSpPr>
          <a:xfrm>
            <a:off x="594360" y="507206"/>
            <a:ext cx="4724400" cy="860584"/>
            <a:chOff x="594360" y="507206"/>
            <a:chExt cx="4724400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15578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论文 · Section 3.2.2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472440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论文实验协议与模型数量</a:t>
              </a:r>
            </a:p>
          </p:txBody>
        </p:sp>
      </p:grpSp>
      <p:grpSp>
        <p:nvGrpSpPr>
          <p:cNvPr id="15" name="p13-models"/>
          <p:cNvGrpSpPr/>
          <p:nvPr/>
        </p:nvGrpSpPr>
        <p:grpSpPr>
          <a:xfrm>
            <a:off x="590550" y="1800225"/>
            <a:ext cx="10991850" cy="1352550"/>
            <a:chOff x="590550" y="1800225"/>
            <a:chExt cx="10991850" cy="1352550"/>
          </a:xfrm>
        </p:grpSpPr>
        <p:sp>
          <p:nvSpPr>
            <p:cNvPr id="5" name="TextBox 5"/>
            <p:cNvSpPr txBox="1"/>
            <p:nvPr/>
          </p:nvSpPr>
          <p:spPr>
            <a:xfrm>
              <a:off x="601980" y="180022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最终分析单位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0550" y="2159318"/>
              <a:ext cx="376282" cy="8477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35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5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115568" y="245078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经济体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3224022" y="2321242"/>
              <a:ext cx="25052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×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076700" y="2159318"/>
              <a:ext cx="376282" cy="8477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35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3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601718" y="2450782"/>
              <a:ext cx="108961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outcomes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053072" y="2321242"/>
              <a:ext cx="25052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=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943850" y="2159318"/>
              <a:ext cx="714465" cy="8477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350" b="1" dirty="0">
                  <a:solidFill>
                    <a:schemeClr val="accent3"/>
                  </a:solidFill>
                  <a:latin typeface="+mn-lt"/>
                  <a:ea typeface="Arial Unicode MS"/>
                  <a:cs typeface="+mn-cs"/>
                </a:rPr>
                <a:t>15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792718" y="245078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个模型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609600" y="31432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9050">
              <a:solidFill>
                <a:srgbClr val="B8C9C3"/>
              </a:solidFill>
            </a:ln>
          </p:spPr>
        </p:sp>
      </p:grpSp>
      <p:grpSp>
        <p:nvGrpSpPr>
          <p:cNvPr id="21" name="p13-repeats"/>
          <p:cNvGrpSpPr/>
          <p:nvPr/>
        </p:nvGrpSpPr>
        <p:grpSpPr>
          <a:xfrm>
            <a:off x="609600" y="3790950"/>
            <a:ext cx="10972800" cy="1790700"/>
            <a:chOff x="609600" y="3790950"/>
            <a:chExt cx="10972800" cy="1790700"/>
          </a:xfrm>
        </p:grpSpPr>
        <p:sp>
          <p:nvSpPr>
            <p:cNvPr id="16" name="Rectangle 16"/>
            <p:cNvSpPr/>
            <p:nvPr/>
          </p:nvSpPr>
          <p:spPr>
            <a:xfrm>
              <a:off x="609600" y="3790950"/>
              <a:ext cx="10972800" cy="1790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68680" y="401002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稳定性检验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59536" y="4463415"/>
              <a:ext cx="2902247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15 × 16 = 240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087368" y="464153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次训练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089392" y="4140518"/>
              <a:ext cx="1985391" cy="9879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zh-CN" sz="135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每次随机抽取 1,200 行</a:t>
              </a:r>
              <a:br/>
              <a:r>
                <a:rPr lang="zh-CN" sz="135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检查 h 与 J 的重复稳定性</a:t>
              </a:r>
              <a:br/>
              <a:r>
                <a:rPr lang="zh-CN" sz="135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论文报告参数相关约 0.99</a:t>
              </a:r>
            </a:p>
          </p:txBody>
        </p:sp>
      </p:grpSp>
      <p:grpSp>
        <p:nvGrpSpPr>
          <p:cNvPr id="24" name="p13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22" name="Line 22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04647" y="6333649"/>
              <a:ext cx="432393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13 / 25 · 240 次训练是重复实验；论文解释对象仍是 15 个地区-学科模型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4-header"/>
          <p:cNvGrpSpPr/>
          <p:nvPr/>
        </p:nvGrpSpPr>
        <p:grpSpPr>
          <a:xfrm>
            <a:off x="594360" y="507206"/>
            <a:ext cx="6470752" cy="860584"/>
            <a:chOff x="594360" y="507206"/>
            <a:chExt cx="6470752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1120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论文 · Figure 3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6470752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一阶与二阶 moments 的拟合验证</a:t>
              </a:r>
            </a:p>
          </p:txBody>
        </p:sp>
      </p:grpSp>
      <p:grpSp>
        <p:nvGrpSpPr>
          <p:cNvPr id="20" name="p14-graph"/>
          <p:cNvGrpSpPr/>
          <p:nvPr/>
        </p:nvGrpSpPr>
        <p:grpSpPr>
          <a:xfrm>
            <a:off x="609600" y="1676400"/>
            <a:ext cx="7239000" cy="3943350"/>
            <a:chOff x="609600" y="1676400"/>
            <a:chExt cx="7239000" cy="3943350"/>
          </a:xfrm>
        </p:grpSpPr>
        <p:sp>
          <p:nvSpPr>
            <p:cNvPr id="5" name="Rectangle 5"/>
            <p:cNvSpPr/>
            <p:nvPr/>
          </p:nvSpPr>
          <p:spPr>
            <a:xfrm>
              <a:off x="609600" y="1676400"/>
              <a:ext cx="7239000" cy="394335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7918" y="1860232"/>
              <a:ext cx="211618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Figure 3 的读取方式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1352550" y="4953000"/>
              <a:ext cx="5600700" cy="9525"/>
            </a:xfrm>
            <a:custGeom>
              <a:avLst/>
              <a:gdLst/>
              <a:ahLst/>
              <a:cxnLst/>
              <a:rect l="l" t="t" r="r" b="b"/>
              <a:pathLst>
                <a:path w="5600700" h="9525">
                  <a:moveTo>
                    <a:pt x="0" y="0"/>
                  </a:moveTo>
                  <a:lnTo>
                    <a:pt x="5600700" y="0"/>
                  </a:lnTo>
                </a:path>
              </a:pathLst>
            </a:custGeom>
            <a:noFill/>
            <a:ln w="19050">
              <a:solidFill>
                <a:srgbClr val="5C6B66"/>
              </a:solidFill>
            </a:ln>
          </p:spPr>
        </p:sp>
        <p:sp>
          <p:nvSpPr>
            <p:cNvPr id="8" name="Line 8"/>
            <p:cNvSpPr/>
            <p:nvPr/>
          </p:nvSpPr>
          <p:spPr>
            <a:xfrm>
              <a:off x="1352550" y="2305050"/>
              <a:ext cx="9525" cy="2647950"/>
            </a:xfrm>
            <a:custGeom>
              <a:avLst/>
              <a:gdLst/>
              <a:ahLst/>
              <a:cxnLst/>
              <a:rect l="l" t="t" r="r" b="b"/>
              <a:pathLst>
                <a:path w="9525" h="2647950">
                  <a:moveTo>
                    <a:pt x="0" y="264795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5C6B66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1352550" y="2476500"/>
              <a:ext cx="5295900" cy="2476500"/>
            </a:xfrm>
            <a:custGeom>
              <a:avLst/>
              <a:gdLst/>
              <a:ahLst/>
              <a:cxnLst/>
              <a:rect l="l" t="t" r="r" b="b"/>
              <a:pathLst>
                <a:path w="5295900" h="2476500">
                  <a:moveTo>
                    <a:pt x="0" y="2476500"/>
                  </a:moveTo>
                  <a:lnTo>
                    <a:pt x="5295900" y="0"/>
                  </a:lnTo>
                </a:path>
              </a:pathLst>
            </a:custGeom>
            <a:noFill/>
            <a:ln w="28575">
              <a:solidFill>
                <a:srgbClr val="B8C9C3"/>
              </a:solidFill>
              <a:custDash>
                <a:ds d="266667" sp="200000"/>
              </a:custDash>
            </a:ln>
          </p:spPr>
        </p:sp>
        <p:sp>
          <p:nvSpPr>
            <p:cNvPr id="10" name="Ellipse 10"/>
            <p:cNvSpPr/>
            <p:nvPr/>
          </p:nvSpPr>
          <p:spPr>
            <a:xfrm>
              <a:off x="1743075" y="4619625"/>
              <a:ext cx="133350" cy="1333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2314575" y="4295775"/>
              <a:ext cx="133350" cy="1333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2981325" y="4105275"/>
              <a:ext cx="133350" cy="1333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3600450" y="3790950"/>
              <a:ext cx="133350" cy="1333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4295775" y="3362325"/>
              <a:ext cx="133350" cy="1333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4981575" y="3171825"/>
              <a:ext cx="133350" cy="1333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5838825" y="2714625"/>
              <a:ext cx="133350" cy="1333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6410325" y="2581275"/>
              <a:ext cx="133350" cy="1333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318170" y="5196364"/>
              <a:ext cx="15551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observed moments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94350" y="3481864"/>
              <a:ext cx="4782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model</a:t>
              </a:r>
            </a:p>
          </p:txBody>
        </p:sp>
      </p:grpSp>
      <p:grpSp>
        <p:nvGrpSpPr>
          <p:cNvPr id="28" name="p14-metrics"/>
          <p:cNvGrpSpPr/>
          <p:nvPr/>
        </p:nvGrpSpPr>
        <p:grpSpPr>
          <a:xfrm>
            <a:off x="8210550" y="1676400"/>
            <a:ext cx="3371850" cy="3943350"/>
            <a:chOff x="8210550" y="1676400"/>
            <a:chExt cx="3371850" cy="3943350"/>
          </a:xfrm>
        </p:grpSpPr>
        <p:sp>
          <p:nvSpPr>
            <p:cNvPr id="21" name="Rectangle 21"/>
            <p:cNvSpPr/>
            <p:nvPr/>
          </p:nvSpPr>
          <p:spPr>
            <a:xfrm>
              <a:off x="8210550" y="1676400"/>
              <a:ext cx="3371850" cy="39433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488299" y="190642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论文报告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481822" y="2473642"/>
              <a:ext cx="182164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85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r = 0.999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489823" y="2967514"/>
              <a:ext cx="1589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一阶 magnetization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481822" y="3616642"/>
              <a:ext cx="182164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850" b="1" dirty="0">
                  <a:solidFill>
                    <a:schemeClr val="accent3"/>
                  </a:solidFill>
                  <a:latin typeface="+mn-lt"/>
                  <a:ea typeface="Arial Unicode MS"/>
                  <a:cs typeface="+mn-cs"/>
                </a:rPr>
                <a:t>r = 0.982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489823" y="4110514"/>
              <a:ext cx="13656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二阶 correlation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489823" y="4815364"/>
              <a:ext cx="1638554" cy="554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zh-CN" sz="128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两者都参与训练</a:t>
              </a:r>
              <a:br/>
              <a:r>
                <a:rPr lang="zh-CN" sz="128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因此主要验证优化收敛</a:t>
              </a:r>
            </a:p>
          </p:txBody>
        </p:sp>
      </p:grpSp>
      <p:grpSp>
        <p:nvGrpSpPr>
          <p:cNvPr id="31" name="p14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29" name="Line 29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04647" y="6333649"/>
              <a:ext cx="34070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14 / 25 · 训练目标应落在 observed=model 的对角线附近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5-header"/>
          <p:cNvGrpSpPr/>
          <p:nvPr/>
        </p:nvGrpSpPr>
        <p:grpSpPr>
          <a:xfrm>
            <a:off x="594360" y="507206"/>
            <a:ext cx="7324192" cy="860584"/>
            <a:chOff x="594360" y="507206"/>
            <a:chExt cx="7324192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1120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论文 · Figure 4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7324192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三阶与四阶 moments 的外部结构检验</a:t>
              </a:r>
            </a:p>
          </p:txBody>
        </p:sp>
      </p:grpSp>
      <p:grpSp>
        <p:nvGrpSpPr>
          <p:cNvPr id="18" name="p15-combo"/>
          <p:cNvGrpSpPr/>
          <p:nvPr/>
        </p:nvGrpSpPr>
        <p:grpSpPr>
          <a:xfrm>
            <a:off x="609600" y="1676400"/>
            <a:ext cx="6381750" cy="3943350"/>
            <a:chOff x="609600" y="1676400"/>
            <a:chExt cx="6381750" cy="3943350"/>
          </a:xfrm>
        </p:grpSpPr>
        <p:sp>
          <p:nvSpPr>
            <p:cNvPr id="5" name="Rectangle 5"/>
            <p:cNvSpPr/>
            <p:nvPr/>
          </p:nvSpPr>
          <p:spPr>
            <a:xfrm>
              <a:off x="609600" y="1676400"/>
              <a:ext cx="6381750" cy="39433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7918" y="1898332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没有直接参与训练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5632" y="2554605"/>
              <a:ext cx="25262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2"/>
                  </a:solidFill>
                  <a:latin typeface="Arial"/>
                  <a:ea typeface="Arial Unicode MS"/>
                  <a:cs typeface="Arial"/>
                </a:rPr>
                <a:t>Cᵢⱼₖ = 〈sᵢsⱼsₖ〉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5632" y="3126105"/>
              <a:ext cx="298736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2"/>
                  </a:solidFill>
                  <a:latin typeface="Arial"/>
                  <a:ea typeface="Arial Unicode MS"/>
                  <a:cs typeface="Arial"/>
                </a:rPr>
                <a:t>Cᵢⱼₖₗ = 〈sᵢsⱼsₖsₗ〉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1676400" y="4019550"/>
              <a:ext cx="647700" cy="647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904303" y="4280535"/>
              <a:ext cx="1918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s1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2552700" y="4019550"/>
              <a:ext cx="647700" cy="647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2780603" y="4280535"/>
              <a:ext cx="1918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s2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3429000" y="4019550"/>
              <a:ext cx="647700" cy="647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656903" y="4280535"/>
              <a:ext cx="1918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s3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4305300" y="4019550"/>
              <a:ext cx="647700" cy="647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33203" y="4280535"/>
              <a:ext cx="1918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s4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2000250" y="4343400"/>
              <a:ext cx="2628900" cy="9525"/>
            </a:xfrm>
            <a:custGeom>
              <a:avLst/>
              <a:gdLst/>
              <a:ahLst/>
              <a:cxnLst/>
              <a:rect l="l" t="t" r="r" b="b"/>
              <a:pathLst>
                <a:path w="2628900" h="9525">
                  <a:moveTo>
                    <a:pt x="0" y="0"/>
                  </a:moveTo>
                  <a:lnTo>
                    <a:pt x="2628900" y="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</p:grpSp>
      <p:grpSp>
        <p:nvGrpSpPr>
          <p:cNvPr id="26" name="p15-metrics"/>
          <p:cNvGrpSpPr/>
          <p:nvPr/>
        </p:nvGrpSpPr>
        <p:grpSpPr>
          <a:xfrm>
            <a:off x="7410450" y="1676400"/>
            <a:ext cx="4171950" cy="3943350"/>
            <a:chOff x="7410450" y="1676400"/>
            <a:chExt cx="4171950" cy="3943350"/>
          </a:xfrm>
        </p:grpSpPr>
        <p:sp>
          <p:nvSpPr>
            <p:cNvPr id="19" name="Rectangle 19"/>
            <p:cNvSpPr/>
            <p:nvPr/>
          </p:nvSpPr>
          <p:spPr>
            <a:xfrm>
              <a:off x="7410450" y="1676400"/>
              <a:ext cx="4171950" cy="394335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706868" y="1898332"/>
              <a:ext cx="14498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论文 Figure 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708392" y="274986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三阶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100894" y="2636520"/>
              <a:ext cx="153401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accent3"/>
                  </a:solidFill>
                  <a:latin typeface="+mn-lt"/>
                  <a:ea typeface="Arial Unicode MS"/>
                  <a:cs typeface="+mn-cs"/>
                </a:rPr>
                <a:t>r = 0.982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708392" y="375951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四阶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100894" y="3646170"/>
              <a:ext cx="153401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345995"/>
                  </a:solidFill>
                  <a:latin typeface="+mn-lt"/>
                  <a:ea typeface="Arial Unicode MS"/>
                  <a:cs typeface="+mn-cs"/>
                </a:rPr>
                <a:t>r = 0.946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708392" y="4673918"/>
              <a:ext cx="2071116" cy="5878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350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高阶统计来自同一联合分布</a:t>
              </a:r>
              <a:br/>
              <a:r>
                <a:rPr lang="zh-CN" sz="1350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因此构成更严格的结构检验</a:t>
              </a:r>
            </a:p>
          </p:txBody>
        </p:sp>
      </p:grpSp>
      <p:grpSp>
        <p:nvGrpSpPr>
          <p:cNvPr id="29" name="p15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27" name="Line 27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04647" y="6333649"/>
              <a:ext cx="39545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15 / 25 · pairwise 训练能否保留更高阶结构，是更有信息量的检验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6-header"/>
          <p:cNvGrpSpPr/>
          <p:nvPr/>
        </p:nvGrpSpPr>
        <p:grpSpPr>
          <a:xfrm>
            <a:off x="594360" y="507206"/>
            <a:ext cx="3479978" cy="860584"/>
            <a:chOff x="594360" y="507206"/>
            <a:chExt cx="3479978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1840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论文 · Figure 5 / Table 3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347997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J 分布的长尾结构</a:t>
              </a:r>
            </a:p>
          </p:txBody>
        </p:sp>
      </p:grpSp>
      <p:grpSp>
        <p:nvGrpSpPr>
          <p:cNvPr id="25" name="p16-hist"/>
          <p:cNvGrpSpPr/>
          <p:nvPr/>
        </p:nvGrpSpPr>
        <p:grpSpPr>
          <a:xfrm>
            <a:off x="609600" y="1676400"/>
            <a:ext cx="6191250" cy="3943350"/>
            <a:chOff x="609600" y="1676400"/>
            <a:chExt cx="6191250" cy="3943350"/>
          </a:xfrm>
        </p:grpSpPr>
        <p:sp>
          <p:nvSpPr>
            <p:cNvPr id="5" name="Rectangle 5"/>
            <p:cNvSpPr/>
            <p:nvPr/>
          </p:nvSpPr>
          <p:spPr>
            <a:xfrm>
              <a:off x="609600" y="1676400"/>
              <a:ext cx="6191250" cy="394335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7918" y="1898332"/>
              <a:ext cx="191452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171 个 Jᵢⱼ 的分布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1104900" y="4667250"/>
              <a:ext cx="190500" cy="2857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1390650" y="3524250"/>
              <a:ext cx="190500" cy="14287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1676400" y="4429125"/>
              <a:ext cx="190500" cy="52387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1962150" y="4143375"/>
              <a:ext cx="190500" cy="80962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2247900" y="3810000"/>
              <a:ext cx="190500" cy="114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2533650" y="3429000"/>
              <a:ext cx="190500" cy="1524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2819400" y="3143250"/>
              <a:ext cx="190500" cy="18097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3105150" y="2952750"/>
              <a:ext cx="190500" cy="20002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3390900" y="3286125"/>
              <a:ext cx="190500" cy="166687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3676650" y="3600450"/>
              <a:ext cx="190500" cy="13525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3962400" y="3952875"/>
              <a:ext cx="190500" cy="100012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4248150" y="4191000"/>
              <a:ext cx="190500" cy="762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4533900" y="4400550"/>
              <a:ext cx="190500" cy="5524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819650" y="4552950"/>
              <a:ext cx="190500" cy="4000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105400" y="3638550"/>
              <a:ext cx="190500" cy="13144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91150" y="4705350"/>
              <a:ext cx="190500" cy="2476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3" name="Line 23"/>
            <p:cNvSpPr/>
            <p:nvPr/>
          </p:nvSpPr>
          <p:spPr>
            <a:xfrm>
              <a:off x="990600" y="4953000"/>
              <a:ext cx="4914900" cy="9525"/>
            </a:xfrm>
            <a:custGeom>
              <a:avLst/>
              <a:gdLst/>
              <a:ahLst/>
              <a:cxnLst/>
              <a:rect l="l" t="t" r="r" b="b"/>
              <a:pathLst>
                <a:path w="4914900" h="9525">
                  <a:moveTo>
                    <a:pt x="0" y="0"/>
                  </a:moveTo>
                  <a:lnTo>
                    <a:pt x="4914900" y="0"/>
                  </a:lnTo>
                </a:path>
              </a:pathLst>
            </a:custGeom>
            <a:noFill/>
            <a:ln w="19050">
              <a:solidFill>
                <a:srgbClr val="5C6B6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2302485" y="517731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多数接近中心，少数形成长尾</a:t>
              </a:r>
            </a:p>
          </p:txBody>
        </p:sp>
      </p:grpSp>
      <p:grpSp>
        <p:nvGrpSpPr>
          <p:cNvPr id="33" name="p16-stats"/>
          <p:cNvGrpSpPr/>
          <p:nvPr/>
        </p:nvGrpSpPr>
        <p:grpSpPr>
          <a:xfrm>
            <a:off x="7219950" y="1676400"/>
            <a:ext cx="4362450" cy="3943350"/>
            <a:chOff x="7219950" y="1676400"/>
            <a:chExt cx="4362450" cy="3943350"/>
          </a:xfrm>
        </p:grpSpPr>
        <p:sp>
          <p:nvSpPr>
            <p:cNvPr id="26" name="Rectangle 26"/>
            <p:cNvSpPr/>
            <p:nvPr/>
          </p:nvSpPr>
          <p:spPr>
            <a:xfrm>
              <a:off x="7219950" y="1676400"/>
              <a:ext cx="4362450" cy="39433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516368" y="1898332"/>
              <a:ext cx="19960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Figure 5 / Table 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517892" y="2654618"/>
              <a:ext cx="8497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skewness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509510" y="2895600"/>
              <a:ext cx="1090613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&gt; 2.8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17892" y="3759518"/>
              <a:ext cx="7679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kurtosis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09510" y="4000500"/>
              <a:ext cx="857383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3"/>
                  </a:solidFill>
                  <a:latin typeface="+mn-lt"/>
                  <a:ea typeface="Arial Unicode MS"/>
                  <a:cs typeface="+mn-cs"/>
                </a:rPr>
                <a:t>&gt; 11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518273" y="4872514"/>
              <a:ext cx="2313178" cy="5351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明显偏离 Gaussian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提示 interaction 存在内部结构</a:t>
              </a:r>
            </a:p>
          </p:txBody>
        </p:sp>
      </p:grpSp>
      <p:grpSp>
        <p:nvGrpSpPr>
          <p:cNvPr id="36" name="p16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34" name="Line 34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04647" y="6333649"/>
              <a:ext cx="326192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16 / 25 · 少数强 interaction 使参数分布呈现明显长尾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7-header"/>
          <p:cNvGrpSpPr/>
          <p:nvPr/>
        </p:nvGrpSpPr>
        <p:grpSpPr>
          <a:xfrm>
            <a:off x="594360" y="507206"/>
            <a:ext cx="6224134" cy="860584"/>
            <a:chOff x="594360" y="507206"/>
            <a:chExt cx="6224134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15578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论文 · Section 4.0.1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622413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Effective interaction 的定义</a:t>
              </a:r>
            </a:p>
          </p:txBody>
        </p:sp>
      </p:grpSp>
      <p:grpSp>
        <p:nvGrpSpPr>
          <p:cNvPr id="18" name="p17-original"/>
          <p:cNvGrpSpPr/>
          <p:nvPr/>
        </p:nvGrpSpPr>
        <p:grpSpPr>
          <a:xfrm>
            <a:off x="609600" y="1714500"/>
            <a:ext cx="4000500" cy="3676650"/>
            <a:chOff x="609600" y="1714500"/>
            <a:chExt cx="4000500" cy="3676650"/>
          </a:xfrm>
        </p:grpSpPr>
        <p:sp>
          <p:nvSpPr>
            <p:cNvPr id="5" name="Rectangle 5"/>
            <p:cNvSpPr/>
            <p:nvPr/>
          </p:nvSpPr>
          <p:spPr>
            <a:xfrm>
              <a:off x="609600" y="1714500"/>
              <a:ext cx="4000500" cy="36766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7918" y="193643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原模型</a:t>
              </a:r>
            </a:p>
          </p:txBody>
        </p:sp>
        <p:sp>
          <p:nvSpPr>
            <p:cNvPr id="7" name="Ellipse 7"/>
            <p:cNvSpPr/>
            <p:nvPr/>
          </p:nvSpPr>
          <p:spPr>
            <a:xfrm>
              <a:off x="2095500" y="2876550"/>
              <a:ext cx="1028700" cy="1028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2216574" y="3321368"/>
              <a:ext cx="7865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outcome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428750" y="2724150"/>
              <a:ext cx="1181100" cy="666750"/>
            </a:xfrm>
            <a:custGeom>
              <a:avLst/>
              <a:gdLst/>
              <a:ahLst/>
              <a:cxnLst/>
              <a:rect l="l" t="t" r="r" b="b"/>
              <a:pathLst>
                <a:path w="1181100" h="666750">
                  <a:moveTo>
                    <a:pt x="1181100" y="666750"/>
                  </a:moveTo>
                  <a:lnTo>
                    <a:pt x="0" y="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1162050" y="245745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1428750" y="3390900"/>
              <a:ext cx="1181100" cy="704850"/>
            </a:xfrm>
            <a:custGeom>
              <a:avLst/>
              <a:gdLst/>
              <a:ahLst/>
              <a:cxnLst/>
              <a:rect l="l" t="t" r="r" b="b"/>
              <a:pathLst>
                <a:path w="1181100" h="704850">
                  <a:moveTo>
                    <a:pt x="1181100" y="0"/>
                  </a:moveTo>
                  <a:lnTo>
                    <a:pt x="0" y="7048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1162050" y="382905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2609850" y="2724150"/>
              <a:ext cx="1104900" cy="666750"/>
            </a:xfrm>
            <a:custGeom>
              <a:avLst/>
              <a:gdLst/>
              <a:ahLst/>
              <a:cxnLst/>
              <a:rect l="l" t="t" r="r" b="b"/>
              <a:pathLst>
                <a:path w="1104900" h="666750">
                  <a:moveTo>
                    <a:pt x="0" y="666750"/>
                  </a:moveTo>
                  <a:lnTo>
                    <a:pt x="1104900" y="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3448050" y="245745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2609850" y="3390900"/>
              <a:ext cx="1104900" cy="704850"/>
            </a:xfrm>
            <a:custGeom>
              <a:avLst/>
              <a:gdLst/>
              <a:ahLst/>
              <a:cxnLst/>
              <a:rect l="l" t="t" r="r" b="b"/>
              <a:pathLst>
                <a:path w="1104900" h="704850">
                  <a:moveTo>
                    <a:pt x="0" y="0"/>
                  </a:moveTo>
                  <a:lnTo>
                    <a:pt x="1104900" y="7048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3448050" y="3829050"/>
              <a:ext cx="533400" cy="5334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69442" y="484536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所有节点自由变化</a:t>
              </a:r>
            </a:p>
          </p:txBody>
        </p:sp>
      </p:grpSp>
      <p:grpSp>
        <p:nvGrpSpPr>
          <p:cNvPr id="32" name="p17-frozen"/>
          <p:cNvGrpSpPr/>
          <p:nvPr/>
        </p:nvGrpSpPr>
        <p:grpSpPr>
          <a:xfrm>
            <a:off x="5105400" y="1714500"/>
            <a:ext cx="4000500" cy="3676650"/>
            <a:chOff x="5105400" y="1714500"/>
            <a:chExt cx="4000500" cy="3676650"/>
          </a:xfrm>
        </p:grpSpPr>
        <p:sp>
          <p:nvSpPr>
            <p:cNvPr id="19" name="Rectangle 19"/>
            <p:cNvSpPr/>
            <p:nvPr/>
          </p:nvSpPr>
          <p:spPr>
            <a:xfrm>
              <a:off x="5105400" y="1714500"/>
              <a:ext cx="4000500" cy="367665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363718" y="1936432"/>
              <a:ext cx="136005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冻结节点 k=0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6591300" y="2876550"/>
              <a:ext cx="1028700" cy="1028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712374" y="3321368"/>
              <a:ext cx="7865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outcome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5924550" y="2724150"/>
              <a:ext cx="1181100" cy="666750"/>
            </a:xfrm>
            <a:custGeom>
              <a:avLst/>
              <a:gdLst/>
              <a:ahLst/>
              <a:cxnLst/>
              <a:rect l="l" t="t" r="r" b="b"/>
              <a:pathLst>
                <a:path w="1181100" h="666750">
                  <a:moveTo>
                    <a:pt x="1181100" y="666750"/>
                  </a:moveTo>
                  <a:lnTo>
                    <a:pt x="0" y="0"/>
                  </a:lnTo>
                </a:path>
              </a:pathLst>
            </a:custGeom>
            <a:noFill/>
            <a:ln w="28575">
              <a:solidFill>
                <a:srgbClr val="B8C9C3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5657850" y="2457450"/>
              <a:ext cx="533400" cy="533400"/>
            </a:xfrm>
            <a:prstGeom prst="ellipse">
              <a:avLst/>
            </a:prstGeom>
            <a:solidFill>
              <a:schemeClr val="accent2"/>
            </a:solidFill>
            <a:ln w="19050">
              <a:solidFill>
                <a:srgbClr val="B8C9C3"/>
              </a:solidFill>
            </a:ln>
          </p:spPr>
        </p:sp>
        <p:sp>
          <p:nvSpPr>
            <p:cNvPr id="25" name="Line 25"/>
            <p:cNvSpPr/>
            <p:nvPr/>
          </p:nvSpPr>
          <p:spPr>
            <a:xfrm>
              <a:off x="5924550" y="3390900"/>
              <a:ext cx="1181100" cy="704850"/>
            </a:xfrm>
            <a:custGeom>
              <a:avLst/>
              <a:gdLst/>
              <a:ahLst/>
              <a:cxnLst/>
              <a:rect l="l" t="t" r="r" b="b"/>
              <a:pathLst>
                <a:path w="1181100" h="704850">
                  <a:moveTo>
                    <a:pt x="1181100" y="0"/>
                  </a:moveTo>
                  <a:lnTo>
                    <a:pt x="0" y="704850"/>
                  </a:lnTo>
                </a:path>
              </a:pathLst>
            </a:custGeom>
            <a:noFill/>
            <a:ln w="28575">
              <a:solidFill>
                <a:srgbClr val="B8C9C3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5657850" y="3829050"/>
              <a:ext cx="533400" cy="533400"/>
            </a:xfrm>
            <a:prstGeom prst="ellipse">
              <a:avLst/>
            </a:prstGeom>
            <a:solidFill>
              <a:schemeClr val="lt2"/>
            </a:solidFill>
            <a:ln w="19050">
              <a:solidFill>
                <a:srgbClr val="B8C9C3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7105650" y="2724150"/>
              <a:ext cx="1104900" cy="666750"/>
            </a:xfrm>
            <a:custGeom>
              <a:avLst/>
              <a:gdLst/>
              <a:ahLst/>
              <a:cxnLst/>
              <a:rect l="l" t="t" r="r" b="b"/>
              <a:pathLst>
                <a:path w="1104900" h="666750">
                  <a:moveTo>
                    <a:pt x="0" y="666750"/>
                  </a:moveTo>
                  <a:lnTo>
                    <a:pt x="1104900" y="0"/>
                  </a:lnTo>
                </a:path>
              </a:pathLst>
            </a:custGeom>
            <a:noFill/>
            <a:ln w="28575">
              <a:solidFill>
                <a:srgbClr val="B8C9C3"/>
              </a:solidFill>
            </a:ln>
          </p:spPr>
        </p:sp>
        <p:sp>
          <p:nvSpPr>
            <p:cNvPr id="28" name="Ellipse 28"/>
            <p:cNvSpPr/>
            <p:nvPr/>
          </p:nvSpPr>
          <p:spPr>
            <a:xfrm>
              <a:off x="7943850" y="2457450"/>
              <a:ext cx="533400" cy="533400"/>
            </a:xfrm>
            <a:prstGeom prst="ellipse">
              <a:avLst/>
            </a:prstGeom>
            <a:solidFill>
              <a:schemeClr val="lt2"/>
            </a:solidFill>
            <a:ln w="19050">
              <a:solidFill>
                <a:srgbClr val="B8C9C3"/>
              </a:solidFill>
            </a:ln>
          </p:spPr>
        </p:sp>
        <p:sp>
          <p:nvSpPr>
            <p:cNvPr id="29" name="Line 29"/>
            <p:cNvSpPr/>
            <p:nvPr/>
          </p:nvSpPr>
          <p:spPr>
            <a:xfrm>
              <a:off x="7105650" y="3390900"/>
              <a:ext cx="1104900" cy="704850"/>
            </a:xfrm>
            <a:custGeom>
              <a:avLst/>
              <a:gdLst/>
              <a:ahLst/>
              <a:cxnLst/>
              <a:rect l="l" t="t" r="r" b="b"/>
              <a:pathLst>
                <a:path w="1104900" h="704850">
                  <a:moveTo>
                    <a:pt x="0" y="0"/>
                  </a:moveTo>
                  <a:lnTo>
                    <a:pt x="1104900" y="704850"/>
                  </a:lnTo>
                </a:path>
              </a:pathLst>
            </a:custGeom>
            <a:noFill/>
            <a:ln w="28575">
              <a:solidFill>
                <a:srgbClr val="B8C9C3"/>
              </a:solidFill>
            </a:ln>
          </p:spPr>
        </p:sp>
        <p:sp>
          <p:nvSpPr>
            <p:cNvPr id="30" name="Ellipse 30"/>
            <p:cNvSpPr/>
            <p:nvPr/>
          </p:nvSpPr>
          <p:spPr>
            <a:xfrm>
              <a:off x="7943850" y="3829050"/>
              <a:ext cx="533400" cy="533400"/>
            </a:xfrm>
            <a:prstGeom prst="ellipse">
              <a:avLst/>
            </a:prstGeom>
            <a:solidFill>
              <a:schemeClr val="lt2"/>
            </a:solidFill>
            <a:ln w="19050">
              <a:solidFill>
                <a:srgbClr val="B8C9C3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365242" y="484536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其他节点重新分布</a:t>
              </a:r>
            </a:p>
          </p:txBody>
        </p:sp>
      </p:grpSp>
      <p:grpSp>
        <p:nvGrpSpPr>
          <p:cNvPr id="36" name="p17-eps"/>
          <p:cNvGrpSpPr/>
          <p:nvPr/>
        </p:nvGrpSpPr>
        <p:grpSpPr>
          <a:xfrm>
            <a:off x="9448800" y="1714500"/>
            <a:ext cx="2133600" cy="3676650"/>
            <a:chOff x="9448800" y="1714500"/>
            <a:chExt cx="2133600" cy="3676650"/>
          </a:xfrm>
        </p:grpSpPr>
        <p:sp>
          <p:nvSpPr>
            <p:cNvPr id="33" name="Rectangle 33"/>
            <p:cNvSpPr/>
            <p:nvPr/>
          </p:nvSpPr>
          <p:spPr>
            <a:xfrm>
              <a:off x="9448800" y="1714500"/>
              <a:ext cx="2133600" cy="36766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094622" y="1915478"/>
              <a:ext cx="8419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255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εᵢ(k)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709023" y="2643664"/>
              <a:ext cx="1126490" cy="12209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= 冻结后有效场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− 原有效场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论文计算路径</a:t>
              </a:r>
              <a:br/>
              <a:r>
                <a:rPr lang="en-US" sz="128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Monte Carlo</a:t>
              </a:r>
            </a:p>
          </p:txBody>
        </p:sp>
      </p:grpSp>
      <p:grpSp>
        <p:nvGrpSpPr>
          <p:cNvPr id="39" name="p17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37" name="Line 37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04647" y="6333649"/>
              <a:ext cx="39677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17 / 25 · ε 衡量冻结节点后经整个网络传播到 outcome 的累计变化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8-header"/>
          <p:cNvGrpSpPr/>
          <p:nvPr/>
        </p:nvGrpSpPr>
        <p:grpSpPr>
          <a:xfrm>
            <a:off x="594360" y="507206"/>
            <a:ext cx="7504294" cy="860584"/>
            <a:chOff x="594360" y="507206"/>
            <a:chExt cx="7504294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1550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论文方法 · 我们的复现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750429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Effective interaction 的五地区结果</a:t>
              </a:r>
            </a:p>
          </p:txBody>
        </p:sp>
      </p:grpSp>
      <p:grpSp>
        <p:nvGrpSpPr>
          <p:cNvPr id="7" name="p18-evidence"/>
          <p:cNvGrpSpPr/>
          <p:nvPr/>
        </p:nvGrpSpPr>
        <p:grpSpPr>
          <a:xfrm>
            <a:off x="609600" y="1581150"/>
            <a:ext cx="7620000" cy="3390900"/>
            <a:chOff x="609600" y="1581150"/>
            <a:chExt cx="7620000" cy="3390900"/>
          </a:xfrm>
        </p:grpSpPr>
        <p:sp>
          <p:nvSpPr>
            <p:cNvPr id="5" name="Rectangle 5"/>
            <p:cNvSpPr/>
            <p:nvPr/>
          </p:nvSpPr>
          <p:spPr>
            <a:xfrm>
              <a:off x="609600" y="1581150"/>
              <a:ext cx="7620000" cy="33909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pic>
          <p:nvPicPr>
            <p:cNvPr id="6" name="Image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3900" y="1983105"/>
              <a:ext cx="7391400" cy="2586990"/>
            </a:xfrm>
            <a:prstGeom prst="rect">
              <a:avLst/>
            </a:prstGeom>
          </p:spPr>
        </p:pic>
      </p:grpSp>
      <p:grpSp>
        <p:nvGrpSpPr>
          <p:cNvPr id="11" name="p18-rule"/>
          <p:cNvGrpSpPr/>
          <p:nvPr/>
        </p:nvGrpSpPr>
        <p:grpSpPr>
          <a:xfrm>
            <a:off x="8572500" y="1581150"/>
            <a:ext cx="3009900" cy="3390900"/>
            <a:chOff x="8572500" y="1581150"/>
            <a:chExt cx="3009900" cy="3390900"/>
          </a:xfrm>
        </p:grpSpPr>
        <p:sp>
          <p:nvSpPr>
            <p:cNvPr id="8" name="Rectangle 8"/>
            <p:cNvSpPr/>
            <p:nvPr/>
          </p:nvSpPr>
          <p:spPr>
            <a:xfrm>
              <a:off x="8572500" y="1581150"/>
              <a:ext cx="3009900" cy="3390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831199" y="1811179"/>
              <a:ext cx="12922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论文判定口径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832342" y="2330768"/>
              <a:ext cx="1513904" cy="16356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相对模型内均值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用 mean ± sd 划分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左侧：facilitative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右侧：inhibitory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计算：Monte Carlo</a:t>
              </a:r>
            </a:p>
          </p:txBody>
        </p:sp>
      </p:grpSp>
      <p:grpSp>
        <p:nvGrpSpPr>
          <p:cNvPr id="15" name="p18-summary"/>
          <p:cNvGrpSpPr/>
          <p:nvPr/>
        </p:nvGrpSpPr>
        <p:grpSpPr>
          <a:xfrm>
            <a:off x="609600" y="5219700"/>
            <a:ext cx="10972800" cy="628650"/>
            <a:chOff x="609600" y="5219700"/>
            <a:chExt cx="10972800" cy="628650"/>
          </a:xfrm>
        </p:grpSpPr>
        <p:sp>
          <p:nvSpPr>
            <p:cNvPr id="12" name="Rectangle 12"/>
            <p:cNvSpPr/>
            <p:nvPr/>
          </p:nvSpPr>
          <p:spPr>
            <a:xfrm>
              <a:off x="609600" y="5219700"/>
              <a:ext cx="10972800" cy="6286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69823" y="5329714"/>
              <a:ext cx="84003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共同模式：Home possessions、Cultural possessions；教学、动机、欺凌和 ICT 使用呈现地区或学科差异。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70585" y="5603081"/>
              <a:ext cx="5115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图为我们按论文路径计算的复现结果；interaction 不解释为因果干预效应。</a:t>
              </a:r>
            </a:p>
          </p:txBody>
        </p:sp>
      </p:grpSp>
      <p:grpSp>
        <p:nvGrpSpPr>
          <p:cNvPr id="18" name="p18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16" name="Line 16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04647" y="6333649"/>
              <a:ext cx="388198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18 / 25 · 阈值分类用于摘要强 interaction，而不是现实干预结论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9-header"/>
          <p:cNvGrpSpPr/>
          <p:nvPr/>
        </p:nvGrpSpPr>
        <p:grpSpPr>
          <a:xfrm>
            <a:off x="594360" y="507206"/>
            <a:ext cx="4724400" cy="860584"/>
            <a:chOff x="594360" y="507206"/>
            <a:chExt cx="4724400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13822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论文 · Section 4.1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472440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一般因素与地区特异因素</a:t>
              </a:r>
            </a:p>
          </p:txBody>
        </p:sp>
      </p:grpSp>
      <p:grpSp>
        <p:nvGrpSpPr>
          <p:cNvPr id="12" name="p19-general"/>
          <p:cNvGrpSpPr/>
          <p:nvPr/>
        </p:nvGrpSpPr>
        <p:grpSpPr>
          <a:xfrm>
            <a:off x="609600" y="1695450"/>
            <a:ext cx="5143500" cy="3810000"/>
            <a:chOff x="609600" y="1695450"/>
            <a:chExt cx="5143500" cy="3810000"/>
          </a:xfrm>
        </p:grpSpPr>
        <p:sp>
          <p:nvSpPr>
            <p:cNvPr id="5" name="Rectangle 5"/>
            <p:cNvSpPr/>
            <p:nvPr/>
          </p:nvSpPr>
          <p:spPr>
            <a:xfrm>
              <a:off x="609600" y="1695450"/>
              <a:ext cx="5143500" cy="3810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05256" y="1939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一般因素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902208" y="2465070"/>
              <a:ext cx="88849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Var 0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087880" y="2562225"/>
              <a:ext cx="18242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Home possessions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02208" y="3112770"/>
              <a:ext cx="88849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3"/>
                  </a:solidFill>
                  <a:latin typeface="+mn-lt"/>
                  <a:ea typeface="Arial Unicode MS"/>
                  <a:cs typeface="+mn-cs"/>
                </a:rPr>
                <a:t>Var 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87880" y="3209925"/>
              <a:ext cx="214182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Cultural possessions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07542" y="4045268"/>
              <a:ext cx="2696908" cy="5878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35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在五个教育系统与多个 outcome 中</a:t>
              </a:r>
              <a:br/>
              <a:r>
                <a:rPr lang="zh-CN" sz="135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较稳定地出现在 facilitative 侧</a:t>
              </a:r>
            </a:p>
          </p:txBody>
        </p:sp>
      </p:grpSp>
      <p:grpSp>
        <p:nvGrpSpPr>
          <p:cNvPr id="18" name="p19-specific"/>
          <p:cNvGrpSpPr/>
          <p:nvPr/>
        </p:nvGrpSpPr>
        <p:grpSpPr>
          <a:xfrm>
            <a:off x="6182106" y="1882140"/>
            <a:ext cx="5400294" cy="3623310"/>
            <a:chOff x="6182106" y="1882140"/>
            <a:chExt cx="5400294" cy="3623310"/>
          </a:xfrm>
        </p:grpSpPr>
        <p:sp>
          <p:nvSpPr>
            <p:cNvPr id="13" name="TextBox 13"/>
            <p:cNvSpPr txBox="1"/>
            <p:nvPr/>
          </p:nvSpPr>
          <p:spPr>
            <a:xfrm>
              <a:off x="6182106" y="1882140"/>
              <a:ext cx="1472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地区特异因素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6191250" y="2247900"/>
              <a:ext cx="5391150" cy="9525"/>
            </a:xfrm>
            <a:custGeom>
              <a:avLst/>
              <a:gdLst/>
              <a:ahLst/>
              <a:cxnLst/>
              <a:rect l="l" t="t" r="r" b="b"/>
              <a:pathLst>
                <a:path w="5391150" h="9525">
                  <a:moveTo>
                    <a:pt x="0" y="0"/>
                  </a:moveTo>
                  <a:lnTo>
                    <a:pt x="5391150" y="0"/>
                  </a:lnTo>
                </a:path>
              </a:pathLst>
            </a:custGeom>
            <a:noFill/>
            <a:ln w="9525">
              <a:solidFill>
                <a:srgbClr val="B8C9C3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184392" y="2635568"/>
              <a:ext cx="3108389" cy="20928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600"/>
                </a:lnSpc>
              </a:pPr>
              <a:r>
                <a:rPr lang="en-US" sz="1350" dirty="0">
                  <a:solidFill>
                    <a:schemeClr val="accent5"/>
                  </a:solidFill>
                  <a:latin typeface="+mn-lt"/>
                  <a:ea typeface="Arial Unicode MS"/>
                  <a:cs typeface="+mn-cs"/>
                </a:rPr>
                <a:t>Var 5 · Disciplinary climate</a:t>
              </a:r>
              <a:br/>
              <a:r>
                <a:rPr lang="en-US" sz="1350" dirty="0">
                  <a:solidFill>
                    <a:schemeClr val="accent5"/>
                  </a:solidFill>
                  <a:latin typeface="+mn-lt"/>
                  <a:ea typeface="Arial Unicode MS"/>
                  <a:cs typeface="+mn-cs"/>
                </a:rPr>
                <a:t>Var 7 · Teacher-directed instruction</a:t>
              </a:r>
              <a:br/>
              <a:r>
                <a:rPr lang="en-US" sz="1350" dirty="0">
                  <a:solidFill>
                    <a:schemeClr val="accent5"/>
                  </a:solidFill>
                  <a:latin typeface="+mn-lt"/>
                  <a:ea typeface="Arial Unicode MS"/>
                  <a:cs typeface="+mn-cs"/>
                </a:rPr>
                <a:t>Var 10/11 · Motivation and mastery</a:t>
              </a:r>
              <a:br/>
              <a:r>
                <a:rPr lang="en-US" sz="1350" dirty="0">
                  <a:solidFill>
                    <a:schemeClr val="accent5"/>
                  </a:solidFill>
                  <a:latin typeface="+mn-lt"/>
                  <a:ea typeface="Arial Unicode MS"/>
                  <a:cs typeface="+mn-cs"/>
                </a:rPr>
                <a:t>Var 13 · Being bullied</a:t>
              </a:r>
              <a:br/>
              <a:r>
                <a:rPr lang="en-US" sz="1350" dirty="0">
                  <a:solidFill>
                    <a:schemeClr val="accent5"/>
                  </a:solidFill>
                  <a:latin typeface="+mn-lt"/>
                  <a:ea typeface="Arial Unicode MS"/>
                  <a:cs typeface="+mn-cs"/>
                </a:rPr>
                <a:t>Var 16/17 · ICT use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91250" y="4972050"/>
              <a:ext cx="5391150" cy="533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51473" y="5177314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地区差异可能来自文化、制度或模型误差。</a:t>
              </a:r>
            </a:p>
          </p:txBody>
        </p:sp>
      </p:grpSp>
      <p:grpSp>
        <p:nvGrpSpPr>
          <p:cNvPr id="21" name="p19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19" name="Line 19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04647" y="6333649"/>
              <a:ext cx="390177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19 / 25 · 模型揭示统计模式；解释原因仍需要教育理论与额外证据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0-header"/>
          <p:cNvGrpSpPr/>
          <p:nvPr/>
        </p:nvGrpSpPr>
        <p:grpSpPr>
          <a:xfrm>
            <a:off x="594360" y="507206"/>
            <a:ext cx="4724400" cy="860584"/>
            <a:chOff x="594360" y="507206"/>
            <a:chExt cx="4724400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1550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论文方法 · 我们的复现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472440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临界状态的温度响应证据</a:t>
              </a:r>
            </a:p>
          </p:txBody>
        </p:sp>
      </p:grpSp>
      <p:grpSp>
        <p:nvGrpSpPr>
          <p:cNvPr id="7" name="p20-evidence"/>
          <p:cNvGrpSpPr/>
          <p:nvPr/>
        </p:nvGrpSpPr>
        <p:grpSpPr>
          <a:xfrm>
            <a:off x="609600" y="1581150"/>
            <a:ext cx="7810500" cy="3695700"/>
            <a:chOff x="609600" y="1581150"/>
            <a:chExt cx="7810500" cy="3695700"/>
          </a:xfrm>
        </p:grpSpPr>
        <p:sp>
          <p:nvSpPr>
            <p:cNvPr id="5" name="Rectangle 5"/>
            <p:cNvSpPr/>
            <p:nvPr/>
          </p:nvSpPr>
          <p:spPr>
            <a:xfrm>
              <a:off x="609600" y="1581150"/>
              <a:ext cx="7810500" cy="36957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pic>
          <p:nvPicPr>
            <p:cNvPr id="6" name="Image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3900" y="2007394"/>
              <a:ext cx="7581900" cy="2843212"/>
            </a:xfrm>
            <a:prstGeom prst="rect">
              <a:avLst/>
            </a:prstGeom>
          </p:spPr>
        </p:pic>
      </p:grpSp>
      <p:grpSp>
        <p:nvGrpSpPr>
          <p:cNvPr id="12" name="p20-claim"/>
          <p:cNvGrpSpPr/>
          <p:nvPr/>
        </p:nvGrpSpPr>
        <p:grpSpPr>
          <a:xfrm>
            <a:off x="8763000" y="1581150"/>
            <a:ext cx="2819400" cy="3695700"/>
            <a:chOff x="8763000" y="1581150"/>
            <a:chExt cx="2819400" cy="3695700"/>
          </a:xfrm>
        </p:grpSpPr>
        <p:sp>
          <p:nvSpPr>
            <p:cNvPr id="8" name="Rectangle 8"/>
            <p:cNvSpPr/>
            <p:nvPr/>
          </p:nvSpPr>
          <p:spPr>
            <a:xfrm>
              <a:off x="8763000" y="1581150"/>
              <a:ext cx="2819400" cy="3695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021699" y="181117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论文结论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018270" y="2252662"/>
              <a:ext cx="1387945" cy="9925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350"/>
                </a:lnSpc>
              </a:pPr>
              <a:r>
                <a:rPr lang="zh-CN" sz="2250" b="1" dirty="0">
                  <a:solidFill>
                    <a:srgbClr val="FFFFFF"/>
                  </a:solidFill>
                  <a:latin typeface="Arial"/>
                  <a:ea typeface="Arial Unicode MS"/>
                  <a:cs typeface="Arial"/>
                </a:rPr>
                <a:t>d〈E〉/dT</a:t>
              </a:r>
              <a:br/>
              <a:r>
                <a:rPr lang="en-US" sz="22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dm/dT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023223" y="3653314"/>
              <a:ext cx="1102106" cy="14304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五地区峰值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都靠近 T = 1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Hong Kong 与</a:t>
              </a:r>
              <a:br/>
              <a:r>
                <a:rPr lang="en-US" sz="128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Chinese Taipei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略更接近峰值</a:t>
              </a:r>
            </a:p>
          </p:txBody>
        </p:sp>
      </p:grpSp>
      <p:grpSp>
        <p:nvGrpSpPr>
          <p:cNvPr id="15" name="p20-note"/>
          <p:cNvGrpSpPr/>
          <p:nvPr/>
        </p:nvGrpSpPr>
        <p:grpSpPr>
          <a:xfrm>
            <a:off x="609600" y="5524500"/>
            <a:ext cx="10972800" cy="419100"/>
            <a:chOff x="609600" y="5524500"/>
            <a:chExt cx="10972800" cy="419100"/>
          </a:xfrm>
        </p:grpSpPr>
        <p:sp>
          <p:nvSpPr>
            <p:cNvPr id="13" name="Rectangle 13"/>
            <p:cNvSpPr/>
            <p:nvPr/>
          </p:nvSpPr>
          <p:spPr>
            <a:xfrm>
              <a:off x="609600" y="5524500"/>
              <a:ext cx="10972800" cy="419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70204" y="5661660"/>
              <a:ext cx="50732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图为我们的温度扫描复现；固定学习到的 h、J，仅改变无量纲温度 T。</a:t>
              </a:r>
            </a:p>
          </p:txBody>
        </p:sp>
      </p:grpSp>
      <p:grpSp>
        <p:nvGrpSpPr>
          <p:cNvPr id="18" name="p20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16" name="Line 16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04647" y="6333649"/>
              <a:ext cx="37698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20 / 25 · 响应峰值靠近拟合点，是论文临界状态判断的主要证据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1-header"/>
          <p:cNvGrpSpPr/>
          <p:nvPr/>
        </p:nvGrpSpPr>
        <p:grpSpPr>
          <a:xfrm>
            <a:off x="594360" y="507206"/>
            <a:ext cx="7284720" cy="860584"/>
            <a:chOff x="594360" y="507206"/>
            <a:chExt cx="7284720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15578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论文 · Section 4.2.1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728472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参数不确定性为何推动系统接近临界点</a:t>
              </a:r>
            </a:p>
          </p:txBody>
        </p:sp>
      </p:grpSp>
      <p:grpSp>
        <p:nvGrpSpPr>
          <p:cNvPr id="20" name="p21-chain"/>
          <p:cNvGrpSpPr/>
          <p:nvPr/>
        </p:nvGrpSpPr>
        <p:grpSpPr>
          <a:xfrm>
            <a:off x="609600" y="2000250"/>
            <a:ext cx="10572750" cy="1428750"/>
            <a:chOff x="609600" y="2000250"/>
            <a:chExt cx="10572750" cy="1428750"/>
          </a:xfrm>
        </p:grpSpPr>
        <p:sp>
          <p:nvSpPr>
            <p:cNvPr id="5" name="Rectangle 5"/>
            <p:cNvSpPr/>
            <p:nvPr/>
          </p:nvSpPr>
          <p:spPr>
            <a:xfrm>
              <a:off x="609600" y="2000250"/>
              <a:ext cx="2343150" cy="14287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44296" y="2105978"/>
              <a:ext cx="22415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1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50392" y="2673668"/>
              <a:ext cx="15622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h、J 存在估计误差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2952750" y="2714625"/>
              <a:ext cx="381000" cy="9525"/>
            </a:xfrm>
            <a:custGeom>
              <a:avLst/>
              <a:gdLst/>
              <a:ahLst/>
              <a:cxnLst/>
              <a:rect l="l" t="t" r="r" b="b"/>
              <a:pathLst>
                <a:path w="381000" h="9525">
                  <a:moveTo>
                    <a:pt x="0" y="0"/>
                  </a:moveTo>
                  <a:lnTo>
                    <a:pt x="381000" y="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3352800" y="2000250"/>
              <a:ext cx="2343150" cy="14287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587496" y="2105978"/>
              <a:ext cx="22415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593592" y="26736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参数扰动改变自由能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5695950" y="2714625"/>
              <a:ext cx="381000" cy="9525"/>
            </a:xfrm>
            <a:custGeom>
              <a:avLst/>
              <a:gdLst/>
              <a:ahLst/>
              <a:cxnLst/>
              <a:rect l="l" t="t" r="r" b="b"/>
              <a:pathLst>
                <a:path w="381000" h="9525">
                  <a:moveTo>
                    <a:pt x="0" y="0"/>
                  </a:moveTo>
                  <a:lnTo>
                    <a:pt x="381000" y="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6096000" y="2000250"/>
              <a:ext cx="2343150" cy="14287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330696" y="2105978"/>
              <a:ext cx="22415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336792" y="2673668"/>
              <a:ext cx="16298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χ 衡量对扰动的响应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8439150" y="2714625"/>
              <a:ext cx="381000" cy="9525"/>
            </a:xfrm>
            <a:custGeom>
              <a:avLst/>
              <a:gdLst/>
              <a:ahLst/>
              <a:cxnLst/>
              <a:rect l="l" t="t" r="r" b="b"/>
              <a:pathLst>
                <a:path w="381000" h="9525">
                  <a:moveTo>
                    <a:pt x="0" y="0"/>
                  </a:moveTo>
                  <a:lnTo>
                    <a:pt x="381000" y="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8839200" y="2000250"/>
              <a:ext cx="2343150" cy="14287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073896" y="2105978"/>
              <a:ext cx="22415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079992" y="2673668"/>
              <a:ext cx="14380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临界附近 |χ| 最大</a:t>
              </a:r>
            </a:p>
          </p:txBody>
        </p:sp>
      </p:grpSp>
      <p:grpSp>
        <p:nvGrpSpPr>
          <p:cNvPr id="25" name="p21-eq"/>
          <p:cNvGrpSpPr/>
          <p:nvPr/>
        </p:nvGrpSpPr>
        <p:grpSpPr>
          <a:xfrm>
            <a:off x="609600" y="3905250"/>
            <a:ext cx="10972800" cy="1600200"/>
            <a:chOff x="609600" y="3905250"/>
            <a:chExt cx="10972800" cy="1600200"/>
          </a:xfrm>
        </p:grpSpPr>
        <p:sp>
          <p:nvSpPr>
            <p:cNvPr id="21" name="Rectangle 21"/>
            <p:cNvSpPr/>
            <p:nvPr/>
          </p:nvSpPr>
          <p:spPr>
            <a:xfrm>
              <a:off x="609600" y="3905250"/>
              <a:ext cx="10972800" cy="16002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68299" y="4135279"/>
              <a:ext cx="142344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Eq. 17 的含义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64870" y="4614862"/>
              <a:ext cx="3775347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chemeClr val="accent2"/>
                  </a:solidFill>
                  <a:latin typeface="Arial"/>
                  <a:ea typeface="Arial Unicode MS"/>
                  <a:cs typeface="Arial"/>
                </a:rPr>
                <a:t>〈F〉 ≈ F₀ + ½ Σᵢ χᵢᵢ σᵢ²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70142" y="4369118"/>
              <a:ext cx="2525458" cy="625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σᵢ²：参数不确定性的方差</a:t>
              </a:r>
              <a:br/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χᵢᵢ：变量对局部参数变化的响应</a:t>
              </a:r>
            </a:p>
          </p:txBody>
        </p:sp>
      </p:grpSp>
      <p:grpSp>
        <p:nvGrpSpPr>
          <p:cNvPr id="28" name="p21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26" name="Line 26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04647" y="6333649"/>
              <a:ext cx="469333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21 / 25 · 论文提出：不确定环境中，响应能力的收益可能推动系统接近临界区域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2-header"/>
          <p:cNvGrpSpPr/>
          <p:nvPr/>
        </p:nvGrpSpPr>
        <p:grpSpPr>
          <a:xfrm>
            <a:off x="594360" y="507206"/>
            <a:ext cx="5577840" cy="860584"/>
            <a:chOff x="594360" y="507206"/>
            <a:chExt cx="5577840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2153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论文 · Discussion / Summary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557784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论文的贡献、局限与解释边界</a:t>
              </a:r>
            </a:p>
          </p:txBody>
        </p:sp>
      </p:grpSp>
      <p:grpSp>
        <p:nvGrpSpPr>
          <p:cNvPr id="8" name="p22-strength"/>
          <p:cNvGrpSpPr/>
          <p:nvPr/>
        </p:nvGrpSpPr>
        <p:grpSpPr>
          <a:xfrm>
            <a:off x="600456" y="1844040"/>
            <a:ext cx="5114544" cy="2979611"/>
            <a:chOff x="600456" y="1844040"/>
            <a:chExt cx="5114544" cy="2979611"/>
          </a:xfrm>
        </p:grpSpPr>
        <p:sp>
          <p:nvSpPr>
            <p:cNvPr id="5" name="TextBox 5"/>
            <p:cNvSpPr txBox="1"/>
            <p:nvPr/>
          </p:nvSpPr>
          <p:spPr>
            <a:xfrm>
              <a:off x="600456" y="184404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论文贡献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09600" y="2209800"/>
              <a:ext cx="5105400" cy="9525"/>
            </a:xfrm>
            <a:custGeom>
              <a:avLst/>
              <a:gdLst/>
              <a:ahLst/>
              <a:cxnLst/>
              <a:rect l="l" t="t" r="r" b="b"/>
              <a:pathLst>
                <a:path w="5105400" h="9525">
                  <a:moveTo>
                    <a:pt x="0" y="0"/>
                  </a:moveTo>
                  <a:lnTo>
                    <a:pt x="5105400" y="0"/>
                  </a:lnTo>
                </a:path>
              </a:pathLst>
            </a:custGeom>
            <a:noFill/>
            <a:ln w="38100">
              <a:solidFill>
                <a:schemeClr val="accent3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602742" y="2578418"/>
              <a:ext cx="2388298" cy="22452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lnSpc>
                  <a:spcPts val="3900"/>
                </a:lnSpc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chemeClr val="accent5"/>
                  </a:solidFill>
                  <a:latin typeface="+mn-lt"/>
                  <a:ea typeface="Arial Unicode MS"/>
                  <a:cs typeface="+mn-cs"/>
                </a:rPr>
                <a:t>同时纳入大量相互依赖变量</a:t>
              </a:r>
            </a:p>
            <a:p>
              <a:pPr algn="l" marL="145732" indent="-145732">
                <a:lnSpc>
                  <a:spcPts val="3900"/>
                </a:lnSpc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chemeClr val="accent5"/>
                  </a:solidFill>
                  <a:latin typeface="+mn-lt"/>
                  <a:ea typeface="Arial Unicode MS"/>
                  <a:cs typeface="+mn-cs"/>
                </a:rPr>
                <a:t>构造完整联合概率分布</a:t>
              </a:r>
            </a:p>
            <a:p>
              <a:pPr algn="l" marL="145732" indent="-145732">
                <a:lnSpc>
                  <a:spcPts val="3900"/>
                </a:lnSpc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chemeClr val="accent5"/>
                  </a:solidFill>
                  <a:latin typeface="+mn-lt"/>
                  <a:ea typeface="Arial Unicode MS"/>
                  <a:cs typeface="+mn-cs"/>
                </a:rPr>
                <a:t>可计算任意阶统计量</a:t>
              </a:r>
            </a:p>
            <a:p>
              <a:pPr algn="l" marL="145732" indent="-145732">
                <a:lnSpc>
                  <a:spcPts val="3900"/>
                </a:lnSpc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chemeClr val="accent5"/>
                  </a:solidFill>
                  <a:latin typeface="+mn-lt"/>
                  <a:ea typeface="Arial Unicode MS"/>
                  <a:cs typeface="+mn-cs"/>
                </a:rPr>
                <a:t>提供冻结节点与温度响应分析</a:t>
              </a:r>
            </a:p>
            <a:p>
              <a:pPr algn="l" marL="145732" indent="-145732">
                <a:lnSpc>
                  <a:spcPts val="3900"/>
                </a:lnSpc>
                <a:buClr>
                  <a:schemeClr val="accent5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chemeClr val="accent5"/>
                  </a:solidFill>
                  <a:latin typeface="+mn-lt"/>
                  <a:ea typeface="Arial Unicode MS"/>
                  <a:cs typeface="+mn-cs"/>
                </a:rPr>
                <a:t>支持跨地区同一数学口径比较</a:t>
              </a:r>
            </a:p>
          </p:txBody>
        </p:sp>
      </p:grpSp>
      <p:grpSp>
        <p:nvGrpSpPr>
          <p:cNvPr id="13" name="p22-limits"/>
          <p:cNvGrpSpPr/>
          <p:nvPr/>
        </p:nvGrpSpPr>
        <p:grpSpPr>
          <a:xfrm>
            <a:off x="6191250" y="1676400"/>
            <a:ext cx="5391150" cy="3905250"/>
            <a:chOff x="6191250" y="1676400"/>
            <a:chExt cx="5391150" cy="3905250"/>
          </a:xfrm>
        </p:grpSpPr>
        <p:sp>
          <p:nvSpPr>
            <p:cNvPr id="9" name="Rectangle 9"/>
            <p:cNvSpPr/>
            <p:nvPr/>
          </p:nvSpPr>
          <p:spPr>
            <a:xfrm>
              <a:off x="6191250" y="1676400"/>
              <a:ext cx="5391150" cy="39052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486906" y="184404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论文局限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6496050" y="2209800"/>
              <a:ext cx="4781550" cy="9525"/>
            </a:xfrm>
            <a:custGeom>
              <a:avLst/>
              <a:gdLst/>
              <a:ahLst/>
              <a:cxnLst/>
              <a:rect l="l" t="t" r="r" b="b"/>
              <a:pathLst>
                <a:path w="4781550" h="9525">
                  <a:moveTo>
                    <a:pt x="0" y="0"/>
                  </a:moveTo>
                  <a:lnTo>
                    <a:pt x="4781550" y="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489192" y="2578418"/>
              <a:ext cx="2705481" cy="24547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lnSpc>
                  <a:spcPts val="3450"/>
                </a:lnSpc>
                <a:buClr>
                  <a:srgbClr val="FFFFFF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只选择 18 个背景变量</a:t>
              </a:r>
            </a:p>
            <a:p>
              <a:pPr algn="l" marL="145732" indent="-145732">
                <a:lnSpc>
                  <a:spcPts val="3450"/>
                </a:lnSpc>
                <a:buClr>
                  <a:srgbClr val="FFFFFF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所有变量与 outcome 被二值化</a:t>
              </a:r>
            </a:p>
            <a:p>
              <a:pPr algn="l" marL="145732" indent="-145732">
                <a:lnSpc>
                  <a:spcPts val="3450"/>
                </a:lnSpc>
                <a:buClr>
                  <a:srgbClr val="FFFFFF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依赖可靠数据与变量选择</a:t>
              </a:r>
            </a:p>
            <a:p>
              <a:pPr algn="l" marL="145732" indent="-145732">
                <a:lnSpc>
                  <a:spcPts val="3450"/>
                </a:lnSpc>
                <a:buClr>
                  <a:srgbClr val="FFFFFF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h、J 的来源仍需理论解释</a:t>
              </a:r>
            </a:p>
            <a:p>
              <a:pPr algn="l" marL="145732" indent="-145732">
                <a:lnSpc>
                  <a:spcPts val="3450"/>
                </a:lnSpc>
                <a:buClr>
                  <a:srgbClr val="FFFFFF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interaction 与冻结结果不是因果</a:t>
              </a:r>
            </a:p>
            <a:p>
              <a:pPr algn="l" marL="145732" indent="-145732">
                <a:lnSpc>
                  <a:spcPts val="3450"/>
                </a:lnSpc>
                <a:buClr>
                  <a:srgbClr val="FFFFFF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trial model 不等于完整学习机制</a:t>
              </a:r>
            </a:p>
          </p:txBody>
        </p:sp>
      </p:grpSp>
      <p:grpSp>
        <p:nvGrpSpPr>
          <p:cNvPr id="16" name="p22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14" name="Line 14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4647" y="6333649"/>
              <a:ext cx="390177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22 / 25 · 模型提供新的分析框架，但不能替代研究设计和教育理论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3-header"/>
          <p:cNvGrpSpPr/>
          <p:nvPr/>
        </p:nvGrpSpPr>
        <p:grpSpPr>
          <a:xfrm>
            <a:off x="594360" y="507206"/>
            <a:ext cx="6004560" cy="860584"/>
            <a:chOff x="594360" y="507206"/>
            <a:chExt cx="6004560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17020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我们的复现 · PISA 2018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600456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我们的复现：与论文结果的对照</a:t>
              </a:r>
            </a:p>
          </p:txBody>
        </p:sp>
      </p:grpSp>
      <p:grpSp>
        <p:nvGrpSpPr>
          <p:cNvPr id="9" name="p23-images"/>
          <p:cNvGrpSpPr/>
          <p:nvPr/>
        </p:nvGrpSpPr>
        <p:grpSpPr>
          <a:xfrm>
            <a:off x="609600" y="1466850"/>
            <a:ext cx="7524750" cy="4514850"/>
            <a:chOff x="609600" y="1466850"/>
            <a:chExt cx="7524750" cy="4514850"/>
          </a:xfrm>
        </p:grpSpPr>
        <p:sp>
          <p:nvSpPr>
            <p:cNvPr id="5" name="Rectangle 5"/>
            <p:cNvSpPr/>
            <p:nvPr/>
          </p:nvSpPr>
          <p:spPr>
            <a:xfrm>
              <a:off x="609600" y="1466850"/>
              <a:ext cx="7524750" cy="20955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pic>
          <p:nvPicPr>
            <p:cNvPr id="6" name="Image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76475" y="1562100"/>
              <a:ext cx="4191000" cy="1905000"/>
            </a:xfrm>
            <a:prstGeom prst="rect">
              <a:avLst/>
            </a:prstGeom>
          </p:spPr>
        </p:pic>
        <p:sp>
          <p:nvSpPr>
            <p:cNvPr id="7" name="Rectangle 7"/>
            <p:cNvSpPr/>
            <p:nvPr/>
          </p:nvSpPr>
          <p:spPr>
            <a:xfrm>
              <a:off x="609600" y="3771900"/>
              <a:ext cx="7524750" cy="22098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0745" y="3867150"/>
              <a:ext cx="4442460" cy="2019300"/>
            </a:xfrm>
            <a:prstGeom prst="rect">
              <a:avLst/>
            </a:prstGeom>
          </p:spPr>
        </p:pic>
      </p:grpSp>
      <p:grpSp>
        <p:nvGrpSpPr>
          <p:cNvPr id="21" name="p23-compare"/>
          <p:cNvGrpSpPr/>
          <p:nvPr/>
        </p:nvGrpSpPr>
        <p:grpSpPr>
          <a:xfrm>
            <a:off x="8477250" y="1466850"/>
            <a:ext cx="3105150" cy="4514850"/>
            <a:chOff x="8477250" y="1466850"/>
            <a:chExt cx="3105150" cy="4514850"/>
          </a:xfrm>
        </p:grpSpPr>
        <p:sp>
          <p:nvSpPr>
            <p:cNvPr id="10" name="Rectangle 10"/>
            <p:cNvSpPr/>
            <p:nvPr/>
          </p:nvSpPr>
          <p:spPr>
            <a:xfrm>
              <a:off x="8477250" y="1466850"/>
              <a:ext cx="3105150" cy="45148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735949" y="1696879"/>
              <a:ext cx="112363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论文 / 我们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737854" y="225171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一阶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734425" y="2483644"/>
              <a:ext cx="1932377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0.999 / ≈1.000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737854" y="31089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二阶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734425" y="3340894"/>
              <a:ext cx="1932377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0.982 / ≈0.999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737854" y="396621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三阶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734425" y="4198144"/>
              <a:ext cx="2078534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3"/>
                  </a:solidFill>
                  <a:latin typeface="+mn-lt"/>
                  <a:ea typeface="Arial Unicode MS"/>
                  <a:cs typeface="+mn-cs"/>
                </a:rPr>
                <a:t>0.982 / 0.97978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737854" y="48234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四阶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734425" y="5055394"/>
              <a:ext cx="2078534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0.946 / 0.93379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738616" y="5601652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数值接近但非逐点完全一致</a:t>
              </a:r>
            </a:p>
          </p:txBody>
        </p:sp>
      </p:grpSp>
      <p:grpSp>
        <p:nvGrpSpPr>
          <p:cNvPr id="24" name="p23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22" name="Line 22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04647" y="6333649"/>
              <a:ext cx="31497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23 / 25 · 复现结果总体支持论文的 moment 结构结论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4-header"/>
          <p:cNvGrpSpPr/>
          <p:nvPr/>
        </p:nvGrpSpPr>
        <p:grpSpPr>
          <a:xfrm>
            <a:off x="594360" y="507206"/>
            <a:ext cx="6311798" cy="860584"/>
            <a:chOff x="594360" y="507206"/>
            <a:chExt cx="6311798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23491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Package · Binary reproduction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631179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使用 learnenergy 复现论文模型</a:t>
              </a:r>
            </a:p>
          </p:txBody>
        </p:sp>
      </p:grpSp>
      <p:grpSp>
        <p:nvGrpSpPr>
          <p:cNvPr id="7" name="p24-code"/>
          <p:cNvGrpSpPr/>
          <p:nvPr/>
        </p:nvGrpSpPr>
        <p:grpSpPr>
          <a:xfrm>
            <a:off x="609600" y="1524000"/>
            <a:ext cx="7334250" cy="4552950"/>
            <a:chOff x="609600" y="1524000"/>
            <a:chExt cx="7334250" cy="4552950"/>
          </a:xfrm>
        </p:grpSpPr>
        <p:sp>
          <p:nvSpPr>
            <p:cNvPr id="5" name="Rectangle 5"/>
            <p:cNvSpPr/>
            <p:nvPr/>
          </p:nvSpPr>
          <p:spPr>
            <a:xfrm>
              <a:off x="609600" y="1524000"/>
              <a:ext cx="7334250" cy="45529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70585" y="1802606"/>
              <a:ext cx="4207226" cy="35728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112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from learnenergy import DataConfig, LearningModel</a:t>
              </a:r>
              <a:br/>
              <a:r>
                <a:rPr lang="en-US" sz="112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cfg = DataConfig(</a:t>
              </a:r>
              <a:br/>
              <a:r>
                <a:rPr lang="en-US" sz="112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feature_names=FEATURES, target_name="PV1MATH",</a:t>
              </a:r>
              <a:br/>
              <a:r>
                <a:rPr lang="en-US" sz="112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normalization="zscore",</a:t>
              </a:r>
              <a:br/>
              <a:r>
                <a:rPr lang="en-US" sz="112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threshold_method="paper_std",</a:t>
              </a:r>
              <a:br/>
              <a:r>
                <a:rPr lang="zh-CN" sz="112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)</a:t>
              </a:r>
              <a:br/>
              <a:r>
                <a:rPr lang="en-US" sz="112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model = LearningModel(cfg, calculation="exact",</a:t>
              </a:r>
              <a:br/>
              <a:r>
                <a:rPr lang="en-US" sz="112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max_exact_nodes=19, seed=7)</a:t>
              </a:r>
              <a:br/>
              <a:r>
                <a:rPr lang="en-US" sz="112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fit = model.fit(X, y, method="kl")</a:t>
              </a:r>
              <a:br/>
              <a:r>
                <a:rPr lang="en-US" sz="112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effects = model.effective_interaction_report(</a:t>
              </a:r>
              <a:br/>
              <a:r>
                <a:rPr lang="en-US" sz="112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calculation="monte_carlo")</a:t>
              </a:r>
              <a:br/>
              <a:r>
                <a:rPr lang="en-US" sz="112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model.save("TAP-PV1MATH.pt")</a:t>
              </a:r>
            </a:p>
          </p:txBody>
        </p:sp>
      </p:grpSp>
      <p:grpSp>
        <p:nvGrpSpPr>
          <p:cNvPr id="11" name="p24-map"/>
          <p:cNvGrpSpPr/>
          <p:nvPr/>
        </p:nvGrpSpPr>
        <p:grpSpPr>
          <a:xfrm>
            <a:off x="8297418" y="1688782"/>
            <a:ext cx="3284982" cy="3223546"/>
            <a:chOff x="8297418" y="1688782"/>
            <a:chExt cx="3284982" cy="3223546"/>
          </a:xfrm>
        </p:grpSpPr>
        <p:sp>
          <p:nvSpPr>
            <p:cNvPr id="8" name="TextBox 8"/>
            <p:cNvSpPr txBox="1"/>
            <p:nvPr/>
          </p:nvSpPr>
          <p:spPr>
            <a:xfrm>
              <a:off x="8297418" y="1688782"/>
              <a:ext cx="10894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论文 → API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8305800" y="2038350"/>
              <a:ext cx="3276600" cy="9525"/>
            </a:xfrm>
            <a:custGeom>
              <a:avLst/>
              <a:gdLst/>
              <a:ahLst/>
              <a:cxnLst/>
              <a:rect l="l" t="t" r="r" b="b"/>
              <a:pathLst>
                <a:path w="3276600" h="9525">
                  <a:moveTo>
                    <a:pt x="0" y="0"/>
                  </a:moveTo>
                  <a:lnTo>
                    <a:pt x="3276600" y="0"/>
                  </a:lnTo>
                </a:path>
              </a:pathLst>
            </a:custGeom>
            <a:noFill/>
            <a:ln w="9525">
              <a:solidFill>
                <a:srgbClr val="B8C9C3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299323" y="2396014"/>
              <a:ext cx="2394458" cy="25163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en-US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Appendix A</a:t>
              </a:r>
              <a:br/>
              <a:r>
                <a:rPr lang="en-US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DataConfig</a:t>
              </a:r>
              <a:br/>
              <a:r>
                <a:rPr lang="en-US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Eq. 10–11</a:t>
              </a:r>
              <a:br/>
              <a:r>
                <a:rPr lang="en-US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fit(method='kl')</a:t>
              </a:r>
              <a:br/>
              <a:r>
                <a:rPr lang="en-US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Eq. 15</a:t>
              </a:r>
              <a:br/>
              <a:r>
                <a:rPr lang="en-US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effective_interaction_report</a:t>
              </a:r>
              <a:br/>
              <a:r>
                <a:rPr lang="zh-CN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可复用结果</a:t>
              </a:r>
              <a:br/>
              <a:r>
                <a:rPr lang="en-US" sz="12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.pt model artifact</a:t>
              </a:r>
            </a:p>
          </p:txBody>
        </p:sp>
      </p:grpSp>
      <p:grpSp>
        <p:nvGrpSpPr>
          <p:cNvPr id="14" name="p24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12" name="Line 12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04647" y="6333649"/>
              <a:ext cx="337406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24 / 25 · 预处理、训练路径、随机种子和诊断均显式记录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5-header"/>
          <p:cNvGrpSpPr/>
          <p:nvPr/>
        </p:nvGrpSpPr>
        <p:grpSpPr>
          <a:xfrm>
            <a:off x="594360" y="507206"/>
            <a:ext cx="7494194" cy="860584"/>
            <a:chOff x="594360" y="507206"/>
            <a:chExt cx="7494194" cy="860584"/>
          </a:xfrm>
        </p:grpSpPr>
        <p:sp>
          <p:nvSpPr>
            <p:cNvPr id="2" name="TextBox 2"/>
            <p:cNvSpPr txBox="1"/>
            <p:nvPr/>
          </p:nvSpPr>
          <p:spPr>
            <a:xfrm>
              <a:off x="603885" y="507206"/>
              <a:ext cx="1680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Arial Unicode MS"/>
                  <a:cs typeface="+mn-cs"/>
                </a:rPr>
                <a:t>结论 · Scope boundary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360" y="781050"/>
              <a:ext cx="749419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Arial Unicode MS"/>
                  <a:cs typeface="+mj-cs"/>
                </a:rPr>
                <a:t>论文模型、Package 与连续扩展的边界</a:t>
              </a:r>
            </a:p>
          </p:txBody>
        </p:sp>
      </p:grpSp>
      <p:grpSp>
        <p:nvGrpSpPr>
          <p:cNvPr id="14" name="p25-layers"/>
          <p:cNvGrpSpPr/>
          <p:nvPr/>
        </p:nvGrpSpPr>
        <p:grpSpPr>
          <a:xfrm>
            <a:off x="609600" y="1619250"/>
            <a:ext cx="10972800" cy="3257550"/>
            <a:chOff x="609600" y="1619250"/>
            <a:chExt cx="10972800" cy="3257550"/>
          </a:xfrm>
        </p:grpSpPr>
        <p:sp>
          <p:nvSpPr>
            <p:cNvPr id="5" name="Rectangle 5"/>
            <p:cNvSpPr/>
            <p:nvPr/>
          </p:nvSpPr>
          <p:spPr>
            <a:xfrm>
              <a:off x="609600" y="1619250"/>
              <a:ext cx="3238500" cy="32575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7537" y="1871186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论文原始模型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9442" y="2426018"/>
              <a:ext cx="2859786" cy="16356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600"/>
                </a:lnSpc>
              </a:pPr>
              <a:r>
                <a:rPr lang="zh-CN" sz="135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二值 0/1 节点</a:t>
              </a:r>
              <a:br/>
              <a:r>
                <a:rPr lang="en-US" sz="135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Pairwise maximum entropy</a:t>
              </a:r>
              <a:br/>
              <a:r>
                <a:rPr lang="zh-CN" sz="135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KL-gradient 训练</a:t>
              </a:r>
              <a:br/>
              <a:r>
                <a:rPr lang="en-US" sz="1350" dirty="0">
                  <a:solidFill>
                    <a:srgbClr val="B8C9C3"/>
                  </a:solidFill>
                  <a:latin typeface="+mn-lt"/>
                  <a:ea typeface="Arial Unicode MS"/>
                  <a:cs typeface="+mn-cs"/>
                </a:rPr>
                <a:t>Monte Carlo effective interaction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4476750" y="1619250"/>
              <a:ext cx="3238500" cy="325755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4734687" y="1871186"/>
              <a:ext cx="196367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learnenergy 封装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736592" y="2426018"/>
              <a:ext cx="2062544" cy="16356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600"/>
                </a:lnSpc>
              </a:pPr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数据契约与模型 artifact</a:t>
              </a:r>
              <a:br/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Exact / Monte Carlo 路径</a:t>
              </a:r>
              <a:br/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训练、诊断、可视化</a:t>
              </a:r>
              <a:br/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保存与重新加载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343900" y="1619250"/>
              <a:ext cx="3238500" cy="325755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B8C9C3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01837" y="1871186"/>
              <a:ext cx="149774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Arial Unicode MS"/>
                  <a:cs typeface="+mn-cs"/>
                </a:rPr>
                <a:t>Package 扩展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603742" y="2426018"/>
              <a:ext cx="1942528" cy="16356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600"/>
                </a:lnSpc>
              </a:pPr>
              <a:r>
                <a:rPr lang="en-US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ContinuousEnergyModel</a:t>
              </a:r>
              <a:br/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Gaussian 二次能量</a:t>
              </a:r>
              <a:br/>
              <a:r>
                <a:rPr lang="en-US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conditional_mean</a:t>
              </a:r>
              <a:br/>
              <a:r>
                <a:rPr lang="zh-CN" sz="135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不属于论文原始模型</a:t>
              </a:r>
            </a:p>
          </p:txBody>
        </p:sp>
      </p:grpSp>
      <p:grpSp>
        <p:nvGrpSpPr>
          <p:cNvPr id="17" name="p25-flow"/>
          <p:cNvGrpSpPr/>
          <p:nvPr/>
        </p:nvGrpSpPr>
        <p:grpSpPr>
          <a:xfrm>
            <a:off x="609600" y="5219700"/>
            <a:ext cx="10972800" cy="742950"/>
            <a:chOff x="609600" y="5219700"/>
            <a:chExt cx="10972800" cy="742950"/>
          </a:xfrm>
        </p:grpSpPr>
        <p:sp>
          <p:nvSpPr>
            <p:cNvPr id="15" name="Rectangle 15"/>
            <p:cNvSpPr/>
            <p:nvPr/>
          </p:nvSpPr>
          <p:spPr>
            <a:xfrm>
              <a:off x="609600" y="5219700"/>
              <a:ext cx="10972800" cy="7429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177559" y="5534025"/>
              <a:ext cx="58368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Arial Unicode MS"/>
                  <a:cs typeface="+mn-cs"/>
                </a:rPr>
                <a:t>变量与状态空间 → 训练 → 收敛与采样诊断 → 复现验证 → 保存模型</a:t>
              </a:r>
            </a:p>
          </p:txBody>
        </p:sp>
      </p:grpSp>
      <p:grpSp>
        <p:nvGrpSpPr>
          <p:cNvPr id="20" name="p25-footer"/>
          <p:cNvGrpSpPr/>
          <p:nvPr/>
        </p:nvGrpSpPr>
        <p:grpSpPr>
          <a:xfrm>
            <a:off x="604647" y="6229350"/>
            <a:ext cx="10977753" cy="294989"/>
            <a:chOff x="604647" y="6229350"/>
            <a:chExt cx="10977753" cy="294989"/>
          </a:xfrm>
        </p:grpSpPr>
        <p:sp>
          <p:nvSpPr>
            <p:cNvPr id="18" name="Line 18"/>
            <p:cNvSpPr/>
            <p:nvPr/>
          </p:nvSpPr>
          <p:spPr>
            <a:xfrm>
              <a:off x="609600" y="6229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B8C9C3">
                  <a:alpha val="65000"/>
                </a:srgbClr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04647" y="6333649"/>
              <a:ext cx="284634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6"/>
                  </a:solidFill>
                  <a:latin typeface="+mn-lt"/>
                  <a:ea typeface="Arial Unicode MS"/>
                  <a:cs typeface="+mn-cs"/>
                </a:rPr>
                <a:t>25 / 25 · 论文、复现与新增能力保持可追溯边界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learnenergy-foundations-deck">
  <a:themeElements>
    <a:clrScheme name="learnenergy-foundations-deck">
      <a:dk1>
        <a:srgbClr val="12372E"/>
      </a:dk1>
      <a:lt1>
        <a:srgbClr val="F7F7F2"/>
      </a:lt1>
      <a:dk2>
        <a:srgbClr val="1F497D"/>
      </a:dk2>
      <a:lt2>
        <a:srgbClr val="E5F0EC"/>
      </a:lt2>
      <a:accent1>
        <a:srgbClr val="12372E"/>
      </a:accent1>
      <a:accent2>
        <a:srgbClr val="E85D3F"/>
      </a:accent2>
      <a:accent3>
        <a:srgbClr val="2A9D8F"/>
      </a:accent3>
      <a:accent4>
        <a:srgbClr val="12372E"/>
      </a:accent4>
      <a:accent5>
        <a:srgbClr val="18211E"/>
      </a:accent5>
      <a:accent6>
        <a:srgbClr val="5C6B66"/>
      </a:accent6>
      <a:hlink>
        <a:srgbClr val="E85D3F"/>
      </a:hlink>
      <a:folHlink>
        <a:srgbClr val="2A9D8F"/>
      </a:folHlink>
    </a:clrScheme>
    <a:fontScheme name="learnenergy-foundations-deck">
      <a:majorFont>
        <a:latin typeface="Arial Unicode MS"/>
        <a:ea typeface="Arial Unicode MS"/>
        <a:cs typeface="Arial Unicode MS"/>
        <a:font script="Jpan" typeface="Arial Unicode MS"/>
        <a:font script="Hang" typeface="Arial Unicode MS"/>
        <a:font script="Hans" typeface="Arial Unicode MS"/>
        <a:font script="Hant" typeface="Arial Unicode MS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Unicode MS"/>
        <a:ea typeface="Arial Unicode MS"/>
        <a:cs typeface="Arial Unicode MS"/>
        <a:font script="Jpan" typeface="Arial Unicode MS"/>
        <a:font script="Hang" typeface="Arial Unicode MS"/>
        <a:font script="Hans" typeface="Arial Unicode MS"/>
        <a:font script="Hant" typeface="Arial Unicode MS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earnenergy-foundations-de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learnenergy-foundations-deck">
  <a:themeElements>
    <a:clrScheme name="learnenergy-foundations-deck">
      <a:dk1>
        <a:srgbClr val="12372E"/>
      </a:dk1>
      <a:lt1>
        <a:srgbClr val="F7F7F2"/>
      </a:lt1>
      <a:dk2>
        <a:srgbClr val="1F497D"/>
      </a:dk2>
      <a:lt2>
        <a:srgbClr val="E5F0EC"/>
      </a:lt2>
      <a:accent1>
        <a:srgbClr val="12372E"/>
      </a:accent1>
      <a:accent2>
        <a:srgbClr val="E85D3F"/>
      </a:accent2>
      <a:accent3>
        <a:srgbClr val="2A9D8F"/>
      </a:accent3>
      <a:accent4>
        <a:srgbClr val="12372E"/>
      </a:accent4>
      <a:accent5>
        <a:srgbClr val="18211E"/>
      </a:accent5>
      <a:accent6>
        <a:srgbClr val="5C6B66"/>
      </a:accent6>
      <a:hlink>
        <a:srgbClr val="E85D3F"/>
      </a:hlink>
      <a:folHlink>
        <a:srgbClr val="2A9D8F"/>
      </a:folHlink>
    </a:clrScheme>
    <a:fontScheme name="learnenergy-foundations-deck">
      <a:majorFont>
        <a:latin typeface="Arial Unicode MS"/>
        <a:ea typeface="Arial Unicode MS"/>
        <a:cs typeface="Arial Unicode MS"/>
        <a:font script="Jpan" typeface="Arial Unicode MS"/>
        <a:font script="Hang" typeface="Arial Unicode MS"/>
        <a:font script="Hans" typeface="Arial Unicode MS"/>
        <a:font script="Hant" typeface="Arial Unicode MS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Unicode MS"/>
        <a:ea typeface="Arial Unicode MS"/>
        <a:cs typeface="Arial Unicode MS"/>
        <a:font script="Jpan" typeface="Arial Unicode MS"/>
        <a:font script="Hang" typeface="Arial Unicode MS"/>
        <a:font script="Hans" typeface="Arial Unicode MS"/>
        <a:font script="Hant" typeface="Arial Unicode MS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earnenergy-foundations-de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25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2026-09-22T11:44:57Z</dcterms:created>
  <dcterms:modified xsi:type="dcterms:W3CDTF">2026-09-22T11:44:57Z</dcterms:modified>
  <cp:category/>
  <cp:contentStatus/>
</cp:coreProperties>
</file>