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3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  <Relationship Id="rId3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本报告介绍 LearnEnergy 中两类联合分布模型：用于复现论文的二值 pairwise maximum-entropy 模型，以及面向连续变量的 Gaussian energy model。重点依次是概率表示、模型定义、训练计算、解释诊断、软件接口和复现验证。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全篇沿七个阶段推进。先建立概率语言，再定义能量模型；随后说明精确枚举与 Monte Carlo 如何计算模型统计量、优化器如何训练参数；最后讨论解释边界、连续扩展、Package 调用和 PISA 复现证据。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概率分布为每个可能状态分配概率。边缘概率只关注单个变量，联合概率描述多个变量同时取值，条件概率则在已知部分变量后重新计算目标状态的概率。后续能量模型学习的正是完整联合分布。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相关性描述共同变化；条件关系描述控制其他变量后仍存在的统计依赖；因果关系还需要干预假设或实验设计。LearnEnergy 的 interaction 与 effective interaction 都属于模型内统计结构，不能直接解释为政策干预效果。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能量模型先为状态定义能量，再通过指数变换得到非负权重，最后除以配分函数得到概率。低能量状态拥有更高概率。能量只是概率参数化方式，不代表物理能量。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论文模型把每个变量编码为 0 或 1，因此一个样本成为长度为 n 的状态向量。阈值方法决定每个节点的语义，必须与列顺序、标准化参数和目标变量一起保存，否则训练后的参数无法稳定复用。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最大熵原则是在满足已知约束时选择额外假设最少的分布。只约束一阶与二阶 moments，会得到包含节点偏置 h 和成对参数 J 的 pairwise 能量函数。h 描述单节点倾向，J 描述条件耦合，但都不是因果系数。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配分函数 Z 汇总所有状态的权重，使概率和为 1。精确计算需要枚举 2 的 n 次方个状态；19 个节点对应 524,288 个状态，仍可作为确定性的复现基准。节点数继续增加时，指数复杂度会迅速成为瓶颈。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训练要求模型的一阶均值与二阶共现接近数据统计量。联合模型拟合完成后，可以对其余节点求和得到目标节点的条件概率，因此它既能描述整体分布，也能进行条件预测。预测结果仍是关联性概率，不是因果结论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Monte Carlo 用有限样本近似无法直接求出的期望。Gibbs 采样逐个节点按照条件概率更新状态；经过 burn-in 后保留样本，并通过 thinning 降低连续样本的相关性。论文路径主要依赖这种采样计算模型 moments。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采样值只有在链混合充分时才可信。R-hat 比较链间与链内差异，ESS 衡量等价独立样本量，MCSE 量化采样误差。诊断不通过时，不能把参数或 effective interaction 当作稳定结果解释。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矩匹配直接用数据 moments 与模型 moments 的差值更新参数。若计算路径是 exact，梯度由完整状态空间确定；若使用 Monte Carlo，更新中还包含采样噪声。停止条件通常基于最大 moment gap。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KL 散度衡量经验分布与模型分布之间的信息差。对指数族模型求导后，梯度仍表现为数据 moments 减去模型 moments，因此 KL 优化和矩匹配在目标结构上相通，但损失记录与数值实现不同。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Adam 对梯度的一阶矩和二阶矩做指数滑动平均，再进行偏差修正和自适应步长更新。它适合带有 Monte Carlo 噪声的梯度，但学习率、采样量和随机种子都会影响轨迹，必须写入运行记录。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calculation 决定模型 moments 如何计算，method 决定参数如何更新。小规模验证优先 exact；大规模使用 Monte Carlo 并检查采样诊断。若目标是贴近公开原始代码，可选择 monte_carlo 加 adam；若目标是数值基准，可选择 exact 加 KL 或矩匹配。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h 和 J 是分布参数。effective interaction 比较原模型与冻结某节点后的 outcome 响应差异，论文采用 Monte Carlo 估计；小模型可以用 exact 结果做数值基准。冻结是模型诊断操作，不等于现实干预。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温度 T 重新缩放能量。低温使概率集中于少数低能量状态，高温使分布更平坦。能量或节点均值对温度的导数峰值表示模型最敏感区域，但不能自动解释为真实教育系统发生物理相变。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二值模型适合有明确高低或是否语义、并需要复现论文 pairwise 结构的任务。连续 Gaussian 模型保留数值距离，适合近似单峰、连续且关系接近线性的变量。两条路径使用不同分布假设，不应混为同一模型。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连续模型使用均值向量和协方差矩阵描述联合 Gaussian 分布。精度矩阵 K 是协方差的逆，二次能量可写为二次项与线性项。协方差描述共同变化，精度矩阵的非对角项对应条件耦合结构。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连续模型没有固定 target_name，因为同一个联合分布可以轮换查询任意变量。conditional_mean 通过 target_index 指定目标，并根据其余已知变量计算条件期望；sample 则从整个联合 Gaussian 分布生成模拟样本。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公开 API 之下分为数据契约、计算组件、结果与可视化、模型 artifact 四层。保存的 pt 文件包含参数、预处理状态、特征顺序、随机配置和包版本，不保存原始训练数据行。加载后应恢复相同的推理语义。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DataConfig 明确特征、目标、标准化与阈值策略；LearningModel 明确 exact 或 monte_carlo 计算路径。fit 返回训练结果，analyze 和 effective_interaction_report 生成解释与诊断，save 保存可复用模型 artifact。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ContinuousEnergyModel 直接拟合连续矩阵，不执行二值化。fit 估计联合分布，conditional_mean 指定目标索引进行条件查询，sample 生成模拟数据，save 保存连续模型。该接口适用于联合 Gaussian 假设，而非任意非线性关系。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复现实验包含五个经济体、三个结果变量和十六次重复，共 240 次拟合。234 次达到设定收敛阈值，285 组 Monte Carlo 诊断全部通过。三阶与四阶 moments 未参与训练，因此用于检验模型能否保留更高阶结构。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完整流程从概率表示开始，经由模型定义、计算与训练、解释诊断，再进入连续扩展和 Package 实现，最后以复现证据收束。任何结论都应建立在预处理可追溯、训练收敛、采样诊断通过和验证结果可复算的基础上。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earnenergy-foundations-de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earnenergy-foundations-de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github.com/sqsssq/edu-analysis" TargetMode="External"/>
  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sqsssq.github.io/edu-analysis/" TargetMode="External"/>
  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47fdc8132b94b13.png"/>
  <Relationship Id="rId3" Type="http://schemas.openxmlformats.org/officeDocument/2006/relationships/image" Target="../media/image_e8d3421f2a4ad2f7.png"/>
  <Relationship Id="rId4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9e9109d43d37be5.png"/>
  <Relationship Id="rId3" Type="http://schemas.openxmlformats.org/officeDocument/2006/relationships/image" Target="../media/image_7025ac01a04d5fe6.png"/>
  <Relationship Id="rId4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p01-title"/>
          <p:cNvGrpSpPr/>
          <p:nvPr/>
        </p:nvGrpSpPr>
        <p:grpSpPr>
          <a:xfrm>
            <a:off x="592074" y="643414"/>
            <a:ext cx="5781675" cy="1971770"/>
            <a:chOff x="592074" y="643414"/>
            <a:chExt cx="5781675" cy="1971770"/>
          </a:xfrm>
        </p:grpSpPr>
        <p:sp>
          <p:nvSpPr>
            <p:cNvPr id="2" name="TextBox 2"/>
            <p:cNvSpPr txBox="1"/>
            <p:nvPr/>
          </p:nvSpPr>
          <p:spPr>
            <a:xfrm>
              <a:off x="603123" y="643414"/>
              <a:ext cx="25625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spc="1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LEARNENERGY · 概念实验室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2074" y="1056322"/>
              <a:ext cx="4451604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多变量联合分布建模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2074" y="1608772"/>
              <a:ext cx="396087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与可解释能量模型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0456" y="2263140"/>
              <a:ext cx="57732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统一技术链：表示 → 定义 → 训练 → 解释 → 实现 → 验证</a:t>
              </a:r>
            </a:p>
          </p:txBody>
        </p:sp>
      </p:grpSp>
      <p:grpSp>
        <p:nvGrpSpPr>
          <p:cNvPr id="19" name="p01-network"/>
          <p:cNvGrpSpPr/>
          <p:nvPr/>
        </p:nvGrpSpPr>
        <p:grpSpPr>
          <a:xfrm>
            <a:off x="7581900" y="704850"/>
            <a:ext cx="3525495" cy="3605118"/>
            <a:chOff x="7581900" y="704850"/>
            <a:chExt cx="3525495" cy="3605118"/>
          </a:xfrm>
        </p:grpSpPr>
        <p:sp>
          <p:nvSpPr>
            <p:cNvPr id="7" name="Ellipse 7"/>
            <p:cNvSpPr/>
            <p:nvPr/>
          </p:nvSpPr>
          <p:spPr>
            <a:xfrm>
              <a:off x="7581900" y="704850"/>
              <a:ext cx="2628900" cy="2628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8191500" y="1428750"/>
              <a:ext cx="1695450" cy="381000"/>
            </a:xfrm>
            <a:custGeom>
              <a:avLst/>
              <a:gdLst/>
              <a:ahLst/>
              <a:cxnLst/>
              <a:rect l="l" t="t" r="r" b="b"/>
              <a:pathLst>
                <a:path w="1695450" h="381000">
                  <a:moveTo>
                    <a:pt x="0" y="381000"/>
                  </a:moveTo>
                  <a:lnTo>
                    <a:pt x="1695450" y="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8191500" y="1809750"/>
              <a:ext cx="1181100" cy="1238250"/>
            </a:xfrm>
            <a:custGeom>
              <a:avLst/>
              <a:gdLst/>
              <a:ahLst/>
              <a:cxnLst/>
              <a:rect l="l" t="t" r="r" b="b"/>
              <a:pathLst>
                <a:path w="1181100" h="1238250">
                  <a:moveTo>
                    <a:pt x="0" y="0"/>
                  </a:moveTo>
                  <a:lnTo>
                    <a:pt x="1181100" y="1238250"/>
                  </a:lnTo>
                </a:path>
              </a:pathLst>
            </a:cu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9372600" y="1428750"/>
              <a:ext cx="514350" cy="1619250"/>
            </a:xfrm>
            <a:custGeom>
              <a:avLst/>
              <a:gdLst/>
              <a:ahLst/>
              <a:cxnLst/>
              <a:rect l="l" t="t" r="r" b="b"/>
              <a:pathLst>
                <a:path w="514350" h="1619250">
                  <a:moveTo>
                    <a:pt x="514350" y="0"/>
                  </a:moveTo>
                  <a:lnTo>
                    <a:pt x="0" y="1619250"/>
                  </a:lnTo>
                </a:path>
              </a:pathLst>
            </a:custGeom>
            <a:noFill/>
            <a:ln w="47625">
              <a:solidFill>
                <a:schemeClr val="accent2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7810500" y="1428750"/>
              <a:ext cx="762000" cy="76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9505950" y="1047750"/>
              <a:ext cx="762000" cy="76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8991600" y="2667000"/>
              <a:ext cx="762000" cy="76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02905" y="1721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98355" y="13401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184005" y="29594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成绩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88199" y="3697129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单变量统计无法表达联合结构；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88199" y="4001929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联合分布刻画多变量共同出现模式。</a:t>
              </a:r>
            </a:p>
          </p:txBody>
        </p:sp>
      </p:grpSp>
      <p:grpSp>
        <p:nvGrpSpPr>
          <p:cNvPr id="31" name="p01-route"/>
          <p:cNvGrpSpPr/>
          <p:nvPr/>
        </p:nvGrpSpPr>
        <p:grpSpPr>
          <a:xfrm>
            <a:off x="677418" y="5334000"/>
            <a:ext cx="10371582" cy="594551"/>
            <a:chOff x="677418" y="5334000"/>
            <a:chExt cx="10371582" cy="594551"/>
          </a:xfrm>
        </p:grpSpPr>
        <p:sp>
          <p:nvSpPr>
            <p:cNvPr id="20" name="Line 20"/>
            <p:cNvSpPr/>
            <p:nvPr/>
          </p:nvSpPr>
          <p:spPr>
            <a:xfrm>
              <a:off x="819150" y="5429250"/>
              <a:ext cx="10229850" cy="9525"/>
            </a:xfrm>
            <a:custGeom>
              <a:avLst/>
              <a:gdLst/>
              <a:ahLst/>
              <a:cxnLst/>
              <a:rect l="l" t="t" r="r" b="b"/>
              <a:pathLst>
                <a:path w="10229850" h="9525">
                  <a:moveTo>
                    <a:pt x="0" y="0"/>
                  </a:moveTo>
                  <a:lnTo>
                    <a:pt x="10229850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952500" y="5334000"/>
              <a:ext cx="190500" cy="1905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333375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71500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809625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10477500" y="5334000"/>
              <a:ext cx="190500" cy="19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741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概率表示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5866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模型定义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3991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计算训练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2116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解释诊断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202418" y="5664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实现验证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604266" y="6516052"/>
            <a:ext cx="234296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01 / 25 · 面向非专业听众的技术导览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02-header"/>
          <p:cNvGrpSpPr/>
          <p:nvPr/>
        </p:nvGrpSpPr>
        <p:grpSpPr>
          <a:xfrm>
            <a:off x="593598" y="556260"/>
            <a:ext cx="6752844" cy="1009841"/>
            <a:chOff x="593598" y="556260"/>
            <a:chExt cx="6752844" cy="1009841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5549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00 全流程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75284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从数据到可复用模型的完整技术链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02742" y="1302068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每个阶段的输出，直接成为下一阶段的输入；后续页面按同一编号展开。</a:t>
              </a:r>
            </a:p>
          </p:txBody>
        </p:sp>
      </p:grpSp>
      <p:grpSp>
        <p:nvGrpSpPr>
          <p:cNvPr id="36" name="p02-row-one"/>
          <p:cNvGrpSpPr/>
          <p:nvPr/>
        </p:nvGrpSpPr>
        <p:grpSpPr>
          <a:xfrm>
            <a:off x="609600" y="1885950"/>
            <a:ext cx="10972800" cy="1409700"/>
            <a:chOff x="609600" y="1885950"/>
            <a:chExt cx="10972800" cy="1409700"/>
          </a:xfrm>
        </p:grpSpPr>
        <p:sp>
          <p:nvSpPr>
            <p:cNvPr id="6" name="Rectangle 6"/>
            <p:cNvSpPr/>
            <p:nvPr/>
          </p:nvSpPr>
          <p:spPr>
            <a:xfrm>
              <a:off x="609600" y="1885950"/>
              <a:ext cx="2381250" cy="1409700"/>
            </a:xfrm>
            <a:prstGeom prst="roundRect">
              <a:avLst>
                <a:gd name="adj" fmla="val 1216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42950" y="20193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19455" y="21278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92149" y="20778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概率表示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1723" y="25103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联合、边缘、条件概率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2104" y="28422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输出：概率语言与解释边界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2990850" y="25908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200400" y="2524125"/>
              <a:ext cx="95250" cy="133350"/>
            </a:xfrm>
            <a:custGeom>
              <a:avLst/>
              <a:gdLst/>
              <a:ahLst/>
              <a:cxnLst/>
              <a:rect l="l" t="t" r="r" b="b"/>
              <a:pathLst>
                <a:path w="95250" h="133350">
                  <a:moveTo>
                    <a:pt x="9525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3371850" y="1885950"/>
              <a:ext cx="2381250" cy="1409700"/>
            </a:xfrm>
            <a:prstGeom prst="roundRect">
              <a:avLst>
                <a:gd name="adj" fmla="val 1216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3505200" y="20193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581705" y="21278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54399" y="20778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模型定义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593973" y="2510314"/>
              <a:ext cx="21237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状态空间、能量、moments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94354" y="2842260"/>
              <a:ext cx="21869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输出：E(s)、p(s)、训练约束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5753100" y="25908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962650" y="2524125"/>
              <a:ext cx="95250" cy="133350"/>
            </a:xfrm>
            <a:custGeom>
              <a:avLst/>
              <a:gdLst/>
              <a:ahLst/>
              <a:cxnLst/>
              <a:rect l="l" t="t" r="r" b="b"/>
              <a:pathLst>
                <a:path w="95250" h="133350">
                  <a:moveTo>
                    <a:pt x="9525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34100" y="1885950"/>
              <a:ext cx="2381250" cy="1409700"/>
            </a:xfrm>
            <a:prstGeom prst="roundRect">
              <a:avLst>
                <a:gd name="adj" fmla="val 1216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6267450" y="20193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43955" y="21278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16649" y="207787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计算与训练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56223" y="2510314"/>
              <a:ext cx="24054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Exact / MC；MM / KL / Adam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6604" y="2842260"/>
              <a:ext cx="21412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输出：拟合参数 h、J 或 μ、Σ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8515350" y="2590800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724900" y="2524125"/>
              <a:ext cx="95250" cy="133350"/>
            </a:xfrm>
            <a:custGeom>
              <a:avLst/>
              <a:gdLst/>
              <a:ahLst/>
              <a:cxnLst/>
              <a:rect l="l" t="t" r="r" b="b"/>
              <a:pathLst>
                <a:path w="95250" h="133350">
                  <a:moveTo>
                    <a:pt x="9525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896350" y="1885950"/>
              <a:ext cx="2686050" cy="1409700"/>
            </a:xfrm>
            <a:prstGeom prst="roundRect">
              <a:avLst>
                <a:gd name="adj" fmla="val 1216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9029700" y="20193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106205" y="212788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78899" y="207787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解释与诊断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18473" y="25103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参数、交互与敏感性响应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18854" y="2842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输出：有边界的模型结论</a:t>
              </a:r>
            </a:p>
          </p:txBody>
        </p:sp>
      </p:grpSp>
      <p:grpSp>
        <p:nvGrpSpPr>
          <p:cNvPr id="61" name="p02-row-two"/>
          <p:cNvGrpSpPr/>
          <p:nvPr/>
        </p:nvGrpSpPr>
        <p:grpSpPr>
          <a:xfrm>
            <a:off x="1657350" y="3295650"/>
            <a:ext cx="8877300" cy="1866900"/>
            <a:chOff x="1657350" y="3295650"/>
            <a:chExt cx="8877300" cy="1866900"/>
          </a:xfrm>
        </p:grpSpPr>
        <p:sp>
          <p:nvSpPr>
            <p:cNvPr id="37" name="Freeform 37"/>
            <p:cNvSpPr/>
            <p:nvPr/>
          </p:nvSpPr>
          <p:spPr>
            <a:xfrm>
              <a:off x="2971800" y="3295650"/>
              <a:ext cx="7267575" cy="438150"/>
            </a:xfrm>
            <a:custGeom>
              <a:avLst/>
              <a:gdLst/>
              <a:ahLst/>
              <a:cxnLst/>
              <a:rect l="l" t="t" r="r" b="b"/>
              <a:pathLst>
                <a:path w="7267575" h="438150">
                  <a:moveTo>
                    <a:pt x="7267575" y="0"/>
                  </a:moveTo>
                  <a:lnTo>
                    <a:pt x="7267575" y="266700"/>
                  </a:lnTo>
                  <a:lnTo>
                    <a:pt x="0" y="266700"/>
                  </a:lnTo>
                  <a:lnTo>
                    <a:pt x="0" y="4381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905125" y="3714750"/>
              <a:ext cx="133350" cy="95250"/>
            </a:xfrm>
            <a:custGeom>
              <a:avLst/>
              <a:gdLst/>
              <a:ahLst/>
              <a:cxnLst/>
              <a:rect l="l" t="t" r="r" b="b"/>
              <a:pathLst>
                <a:path w="133350" h="95250">
                  <a:moveTo>
                    <a:pt x="66675" y="95250"/>
                  </a:moveTo>
                  <a:lnTo>
                    <a:pt x="0" y="0"/>
                  </a:lnTo>
                  <a:lnTo>
                    <a:pt x="13335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1657350" y="3810000"/>
              <a:ext cx="2628900" cy="1352550"/>
            </a:xfrm>
            <a:prstGeom prst="roundRect">
              <a:avLst>
                <a:gd name="adj" fmla="val 1267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790700" y="394335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867205" y="40519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239899" y="40019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连续模型扩展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879473" y="4434364"/>
              <a:ext cx="24194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Binary → Gaussian joint model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879854" y="47663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同一联合建模框架，不同分布假设</a:t>
              </a:r>
            </a:p>
          </p:txBody>
        </p:sp>
        <p:sp>
          <p:nvSpPr>
            <p:cNvPr id="45" name="Line 45"/>
            <p:cNvSpPr/>
            <p:nvPr/>
          </p:nvSpPr>
          <p:spPr>
            <a:xfrm>
              <a:off x="4286250" y="4486275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4552950" y="4419600"/>
              <a:ext cx="95250" cy="133350"/>
            </a:xfrm>
            <a:custGeom>
              <a:avLst/>
              <a:gdLst/>
              <a:ahLst/>
              <a:cxnLst/>
              <a:rect l="l" t="t" r="r" b="b"/>
              <a:pathLst>
                <a:path w="95250" h="133350">
                  <a:moveTo>
                    <a:pt x="9525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724400" y="3810000"/>
              <a:ext cx="2628900" cy="1352550"/>
            </a:xfrm>
            <a:prstGeom prst="roundRect">
              <a:avLst>
                <a:gd name="adj" fmla="val 1267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4857750" y="394335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934255" y="40519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06949" y="40019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Package 实现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946523" y="4434364"/>
              <a:ext cx="26493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配置、fit、analyze、save / load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946904" y="4766310"/>
              <a:ext cx="21930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输出：可复用 `.pt` artifact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7353300" y="4486275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7620000" y="4419600"/>
              <a:ext cx="95250" cy="133350"/>
            </a:xfrm>
            <a:custGeom>
              <a:avLst/>
              <a:gdLst/>
              <a:ahLst/>
              <a:cxnLst/>
              <a:rect l="l" t="t" r="r" b="b"/>
              <a:pathLst>
                <a:path w="95250" h="133350">
                  <a:moveTo>
                    <a:pt x="95250" y="66675"/>
                  </a:move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791450" y="3810000"/>
              <a:ext cx="2743200" cy="1352550"/>
            </a:xfrm>
            <a:prstGeom prst="roundRect">
              <a:avLst>
                <a:gd name="adj" fmla="val 1267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7924800" y="394335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001305" y="4051935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73999" y="4001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复现验证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013573" y="4434364"/>
              <a:ext cx="21237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收敛、采样质量、moments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013954" y="476631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输出：可审计的复现证据</a:t>
              </a:r>
            </a:p>
          </p:txBody>
        </p:sp>
      </p:grpSp>
      <p:grpSp>
        <p:nvGrpSpPr>
          <p:cNvPr id="64" name="p02-thread"/>
          <p:cNvGrpSpPr/>
          <p:nvPr/>
        </p:nvGrpSpPr>
        <p:grpSpPr>
          <a:xfrm>
            <a:off x="609600" y="5467350"/>
            <a:ext cx="10972800" cy="419100"/>
            <a:chOff x="609600" y="5467350"/>
            <a:chExt cx="10972800" cy="419100"/>
          </a:xfrm>
        </p:grpSpPr>
        <p:sp>
          <p:nvSpPr>
            <p:cNvPr id="62" name="Rectangle 62"/>
            <p:cNvSpPr/>
            <p:nvPr/>
          </p:nvSpPr>
          <p:spPr>
            <a:xfrm>
              <a:off x="609600" y="5467350"/>
              <a:ext cx="10972800" cy="419100"/>
            </a:xfrm>
            <a:prstGeom prst="roundRect">
              <a:avLst>
                <a:gd name="adj" fmla="val 2272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2557094" y="5605939"/>
              <a:ext cx="70778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主线问题：如何把多变量数据转化为一个可训练、可解释、可验证、可复用的联合分布模型？</a:t>
              </a:r>
            </a:p>
          </p:txBody>
        </p:sp>
      </p:grpSp>
      <p:grpSp>
        <p:nvGrpSpPr>
          <p:cNvPr id="68" name="p02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65" name="Line 65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04266" y="6230302"/>
              <a:ext cx="19341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技术主线总览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3-header"/>
          <p:cNvGrpSpPr/>
          <p:nvPr/>
        </p:nvGrpSpPr>
        <p:grpSpPr>
          <a:xfrm>
            <a:off x="593598" y="556260"/>
            <a:ext cx="6304788" cy="881825"/>
            <a:chOff x="593598" y="556260"/>
            <a:chExt cx="63047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01 概率表示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3047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概率分布：从单变量到条件概率</a:t>
              </a:r>
            </a:p>
          </p:txBody>
        </p:sp>
      </p:grpSp>
      <p:grpSp>
        <p:nvGrpSpPr>
          <p:cNvPr id="16" name="p03-single"/>
          <p:cNvGrpSpPr/>
          <p:nvPr/>
        </p:nvGrpSpPr>
        <p:grpSpPr>
          <a:xfrm>
            <a:off x="609600" y="1695450"/>
            <a:ext cx="2857500" cy="3790950"/>
            <a:chOff x="609600" y="1695450"/>
            <a:chExt cx="285750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2857500" cy="379095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2547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单变量分布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823" y="2281714"/>
              <a:ext cx="20035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X ∈ {0,1}，概率总和为 1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104900" y="4324350"/>
              <a:ext cx="2000250" cy="9525"/>
            </a:xfrm>
            <a:custGeom>
              <a:avLst/>
              <a:gdLst/>
              <a:ahLst/>
              <a:cxnLst/>
              <a:rect l="l" t="t" r="r" b="b"/>
              <a:pathLst>
                <a:path w="2000250" h="9525">
                  <a:moveTo>
                    <a:pt x="0" y="0"/>
                  </a:moveTo>
                  <a:lnTo>
                    <a:pt x="200025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276350" y="3486150"/>
              <a:ext cx="533400" cy="838200"/>
            </a:xfrm>
            <a:prstGeom prst="roundRect">
              <a:avLst>
                <a:gd name="adj" fmla="val 10714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305050" y="2381250"/>
              <a:ext cx="533400" cy="1943100"/>
            </a:xfrm>
            <a:prstGeom prst="roundRect">
              <a:avLst>
                <a:gd name="adj" fmla="val 10714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77772" y="4483418"/>
              <a:ext cx="3305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X=0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06472" y="4483418"/>
              <a:ext cx="3305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X=1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6259" y="31499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0.3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414959" y="2045018"/>
              <a:ext cx="3135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0.7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96657" y="4892040"/>
              <a:ext cx="14833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Σₓ P(X=x)=1</a:t>
              </a:r>
            </a:p>
          </p:txBody>
        </p:sp>
      </p:grpSp>
      <p:grpSp>
        <p:nvGrpSpPr>
          <p:cNvPr id="32" name="p03-joint"/>
          <p:cNvGrpSpPr/>
          <p:nvPr/>
        </p:nvGrpSpPr>
        <p:grpSpPr>
          <a:xfrm>
            <a:off x="3579419" y="1849279"/>
            <a:ext cx="3450031" cy="3558349"/>
            <a:chOff x="3579419" y="1849279"/>
            <a:chExt cx="3450031" cy="3558349"/>
          </a:xfrm>
        </p:grpSpPr>
        <p:sp>
          <p:nvSpPr>
            <p:cNvPr id="17" name="TextBox 17"/>
            <p:cNvSpPr txBox="1"/>
            <p:nvPr/>
          </p:nvSpPr>
          <p:spPr>
            <a:xfrm>
              <a:off x="3706749" y="1849279"/>
              <a:ext cx="167586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联合分布 P(X,Y)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273" y="220551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同时描述两个变量，包含共同变化结构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095750" y="2743200"/>
              <a:ext cx="1466850" cy="933450"/>
            </a:xfrm>
            <a:prstGeom prst="rect">
              <a:avLst/>
            </a:prstGeom>
            <a:solidFill>
              <a:schemeClr val="lt2"/>
            </a:solidFill>
            <a:ln w="38100">
              <a:solidFill>
                <a:srgbClr val="FFFFFF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562600" y="2743200"/>
              <a:ext cx="1466850" cy="933450"/>
            </a:xfrm>
            <a:prstGeom prst="rect">
              <a:avLst/>
            </a:prstGeom>
            <a:solidFill>
              <a:schemeClr val="accent6"/>
            </a:solidFill>
            <a:ln w="38100">
              <a:solidFill>
                <a:srgbClr val="FFFFF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95750" y="3676650"/>
              <a:ext cx="1466850" cy="933450"/>
            </a:xfrm>
            <a:prstGeom prst="rect">
              <a:avLst/>
            </a:prstGeom>
            <a:solidFill>
              <a:schemeClr val="accent6"/>
            </a:solidFill>
            <a:ln w="38100">
              <a:solidFill>
                <a:srgbClr val="FFFFFF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562600" y="3676650"/>
              <a:ext cx="1466850" cy="933450"/>
            </a:xfrm>
            <a:prstGeom prst="rect">
              <a:avLst/>
            </a:prstGeom>
            <a:solidFill>
              <a:schemeClr val="accent3"/>
            </a:solidFill>
            <a:ln w="38100">
              <a:solidFill>
                <a:srgbClr val="FFFFF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87204" y="3106579"/>
              <a:ext cx="48394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0.15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054054" y="3106579"/>
              <a:ext cx="48394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0.10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87204" y="4040029"/>
              <a:ext cx="48394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0.20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54054" y="4040029"/>
              <a:ext cx="48394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0.55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82261" y="4766310"/>
              <a:ext cx="293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Y=0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49111" y="4766310"/>
              <a:ext cx="293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Y=1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79419" y="3108960"/>
              <a:ext cx="293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X=0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579419" y="4042410"/>
              <a:ext cx="2938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X=1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349928" y="5158264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高维能量模型是此联合表的推广</a:t>
              </a:r>
            </a:p>
          </p:txBody>
        </p:sp>
      </p:grpSp>
      <p:grpSp>
        <p:nvGrpSpPr>
          <p:cNvPr id="42" name="p03-derived"/>
          <p:cNvGrpSpPr/>
          <p:nvPr/>
        </p:nvGrpSpPr>
        <p:grpSpPr>
          <a:xfrm>
            <a:off x="8058150" y="1695450"/>
            <a:ext cx="3524250" cy="3790950"/>
            <a:chOff x="8058150" y="1695450"/>
            <a:chExt cx="3524250" cy="3790950"/>
          </a:xfrm>
        </p:grpSpPr>
        <p:sp>
          <p:nvSpPr>
            <p:cNvPr id="33" name="Rectangle 33"/>
            <p:cNvSpPr/>
            <p:nvPr/>
          </p:nvSpPr>
          <p:spPr>
            <a:xfrm>
              <a:off x="8058150" y="1695450"/>
              <a:ext cx="3524250" cy="1752600"/>
            </a:xfrm>
            <a:prstGeom prst="roundRect">
              <a:avLst>
                <a:gd name="adj" fmla="val 978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6849" y="19254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边缘概率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18373" y="23198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对另一个变量求和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15706" y="2758440"/>
              <a:ext cx="2721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P(X=x)=Σᵧ P(X=x,Y=y)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058150" y="3676650"/>
              <a:ext cx="3524250" cy="1809750"/>
            </a:xfrm>
            <a:prstGeom prst="roundRect">
              <a:avLst>
                <a:gd name="adj" fmla="val 947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16849" y="39066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条件概率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18373" y="4301014"/>
              <a:ext cx="175559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已知 X 后重新归一化 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15706" y="4739640"/>
              <a:ext cx="24889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P(Y|X)=P(X,Y)/P(X)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18754" y="51092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联合模型因此可以直接产生条件预测</a:t>
              </a:r>
            </a:p>
          </p:txBody>
        </p:sp>
      </p:grpSp>
      <p:grpSp>
        <p:nvGrpSpPr>
          <p:cNvPr id="45" name="p03-footer"/>
          <p:cNvGrpSpPr/>
          <p:nvPr/>
        </p:nvGrpSpPr>
        <p:grpSpPr>
          <a:xfrm>
            <a:off x="604266" y="6115050"/>
            <a:ext cx="10978134" cy="320611"/>
            <a:chOff x="604266" y="6115050"/>
            <a:chExt cx="10978134" cy="320611"/>
          </a:xfrm>
        </p:grpSpPr>
        <p:sp>
          <p:nvSpPr>
            <p:cNvPr id="43" name="Line 43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4266" y="6230302"/>
              <a:ext cx="31910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 / 25 · 输出：联合、边缘与条件概率的统一语言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5-header"/>
          <p:cNvGrpSpPr/>
          <p:nvPr/>
        </p:nvGrpSpPr>
        <p:grpSpPr>
          <a:xfrm>
            <a:off x="593598" y="556260"/>
            <a:ext cx="6752844" cy="881825"/>
            <a:chOff x="593598" y="556260"/>
            <a:chExt cx="675284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01 概率表示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75284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相关性、条件依赖与因果解释边界</a:t>
              </a:r>
            </a:p>
          </p:txBody>
        </p:sp>
      </p:grpSp>
      <p:grpSp>
        <p:nvGrpSpPr>
          <p:cNvPr id="25" name="p05-networks"/>
          <p:cNvGrpSpPr/>
          <p:nvPr/>
        </p:nvGrpSpPr>
        <p:grpSpPr>
          <a:xfrm>
            <a:off x="601218" y="1764982"/>
            <a:ext cx="5723382" cy="3245168"/>
            <a:chOff x="601218" y="1764982"/>
            <a:chExt cx="5723382" cy="3245168"/>
          </a:xfrm>
        </p:grpSpPr>
        <p:sp>
          <p:nvSpPr>
            <p:cNvPr id="5" name="TextBox 5"/>
            <p:cNvSpPr txBox="1"/>
            <p:nvPr/>
          </p:nvSpPr>
          <p:spPr>
            <a:xfrm>
              <a:off x="601218" y="1764982"/>
              <a:ext cx="36545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同样的 X–Y 相关，可以来自不同结构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324100"/>
              <a:ext cx="2628900" cy="2686050"/>
            </a:xfrm>
            <a:prstGeom prst="roundRect">
              <a:avLst>
                <a:gd name="adj" fmla="val 652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68680" y="2524125"/>
              <a:ext cx="2461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可能解释 A · 直接统计关系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352550" y="36957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819150" y="337185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2400300" y="337185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6886" y="3561398"/>
              <a:ext cx="212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18204" y="3561398"/>
              <a:ext cx="2118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442" y="44643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控制其他节点后，关系仍保留。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524250" y="2324100"/>
              <a:ext cx="2800350" cy="2686050"/>
            </a:xfrm>
            <a:prstGeom prst="roundRect">
              <a:avLst>
                <a:gd name="adj" fmla="val 638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783330" y="2524125"/>
              <a:ext cx="2057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可能解释 B · 共同关联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4229100" y="3276600"/>
              <a:ext cx="704850" cy="762000"/>
            </a:xfrm>
            <a:custGeom>
              <a:avLst/>
              <a:gdLst/>
              <a:ahLst/>
              <a:cxnLst/>
              <a:rect l="l" t="t" r="r" b="b"/>
              <a:pathLst>
                <a:path w="704850" h="762000">
                  <a:moveTo>
                    <a:pt x="704850" y="0"/>
                  </a:moveTo>
                  <a:lnTo>
                    <a:pt x="0" y="7620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4933950" y="3276600"/>
              <a:ext cx="704850" cy="762000"/>
            </a:xfrm>
            <a:custGeom>
              <a:avLst/>
              <a:gdLst/>
              <a:ahLst/>
              <a:cxnLst/>
              <a:rect l="l" t="t" r="r" b="b"/>
              <a:pathLst>
                <a:path w="704850" h="762000">
                  <a:moveTo>
                    <a:pt x="0" y="0"/>
                  </a:moveTo>
                  <a:lnTo>
                    <a:pt x="704850" y="7620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4610100" y="2819400"/>
              <a:ext cx="647700" cy="647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771900" y="3886200"/>
              <a:ext cx="647700" cy="647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448300" y="3886200"/>
              <a:ext cx="647700" cy="647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33511" y="3008948"/>
              <a:ext cx="2008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Z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9636" y="4075748"/>
              <a:ext cx="212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X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666204" y="4075748"/>
              <a:ext cx="21189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84092" y="4635818"/>
              <a:ext cx="2254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X 与 Y 可能被 Z 同时关联。</a:t>
              </a:r>
            </a:p>
          </p:txBody>
        </p:sp>
      </p:grpSp>
      <p:grpSp>
        <p:nvGrpSpPr>
          <p:cNvPr id="36" name="p05-ladder"/>
          <p:cNvGrpSpPr/>
          <p:nvPr/>
        </p:nvGrpSpPr>
        <p:grpSpPr>
          <a:xfrm>
            <a:off x="6800850" y="1752600"/>
            <a:ext cx="4781550" cy="3867150"/>
            <a:chOff x="6800850" y="1752600"/>
            <a:chExt cx="4781550" cy="3867150"/>
          </a:xfrm>
        </p:grpSpPr>
        <p:sp>
          <p:nvSpPr>
            <p:cNvPr id="26" name="Rectangle 26"/>
            <p:cNvSpPr/>
            <p:nvPr/>
          </p:nvSpPr>
          <p:spPr>
            <a:xfrm>
              <a:off x="6800850" y="1752600"/>
              <a:ext cx="4781550" cy="990600"/>
            </a:xfrm>
            <a:prstGeom prst="roundRect">
              <a:avLst>
                <a:gd name="adj" fmla="val 13462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076313" y="1915001"/>
              <a:ext cx="137100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 · 相关性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78980" y="231457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描述两个量的共同变化。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00850" y="2971800"/>
              <a:ext cx="4781550" cy="990600"/>
            </a:xfrm>
            <a:prstGeom prst="roundRect">
              <a:avLst>
                <a:gd name="adj" fmla="val 1346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076313" y="3134201"/>
              <a:ext cx="165832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 · 条件依赖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078980" y="353377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描述给定其他节点后的剩余关系。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800850" y="4191000"/>
              <a:ext cx="4781550" cy="1428750"/>
            </a:xfrm>
            <a:prstGeom prst="roundRect">
              <a:avLst>
                <a:gd name="adj" fmla="val 93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076313" y="4353401"/>
              <a:ext cx="165832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3 · 因果关系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78980" y="47529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需要额外实验设计或因果假设。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79361" y="5161121"/>
              <a:ext cx="39839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本 package 不把 J 或“冻结”结果宣称为因果。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604266" y="6516052"/>
            <a:ext cx="464698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04 / 25 · 本阶段输出：概率关系 + 解释边界 → 下一阶段：能量模型参数化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06-title"/>
          <p:cNvGrpSpPr/>
          <p:nvPr/>
        </p:nvGrpSpPr>
        <p:grpSpPr>
          <a:xfrm>
            <a:off x="593598" y="746760"/>
            <a:ext cx="3168396" cy="1510475"/>
            <a:chOff x="593598" y="746760"/>
            <a:chExt cx="3168396" cy="151047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7467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02 模型定义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1126808"/>
              <a:ext cx="27203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统计能量函数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93598" y="1641158"/>
              <a:ext cx="31683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与概率分布映射</a:t>
              </a:r>
            </a:p>
          </p:txBody>
        </p:sp>
      </p:grpSp>
      <p:grpSp>
        <p:nvGrpSpPr>
          <p:cNvPr id="15" name="p06-landscape"/>
          <p:cNvGrpSpPr/>
          <p:nvPr/>
        </p:nvGrpSpPr>
        <p:grpSpPr>
          <a:xfrm>
            <a:off x="609600" y="1619250"/>
            <a:ext cx="10972800" cy="4000500"/>
            <a:chOff x="609600" y="1619250"/>
            <a:chExt cx="10972800" cy="4000500"/>
          </a:xfrm>
        </p:grpSpPr>
        <p:sp>
          <p:nvSpPr>
            <p:cNvPr id="6" name="Freeform 6"/>
            <p:cNvSpPr/>
            <p:nvPr/>
          </p:nvSpPr>
          <p:spPr>
            <a:xfrm>
              <a:off x="609600" y="1619250"/>
              <a:ext cx="10972800" cy="4000500"/>
            </a:xfrm>
            <a:custGeom>
              <a:avLst/>
              <a:gdLst/>
              <a:ahLst/>
              <a:cxnLst/>
              <a:rect l="l" t="t" r="r" b="b"/>
              <a:pathLst>
                <a:path w="10972800" h="4000500">
                  <a:moveTo>
                    <a:pt x="0" y="2895600"/>
                  </a:moveTo>
                  <a:cubicBezTo>
                    <a:pt x="1200150" y="952500"/>
                    <a:pt x="2343150" y="3810000"/>
                    <a:pt x="3581400" y="2000250"/>
                  </a:cubicBezTo>
                  <a:cubicBezTo>
                    <a:pt x="4724400" y="342900"/>
                    <a:pt x="5867400" y="3390900"/>
                    <a:pt x="7124700" y="1619250"/>
                  </a:cubicBezTo>
                  <a:cubicBezTo>
                    <a:pt x="8343900" y="0"/>
                    <a:pt x="9525000" y="2857500"/>
                    <a:pt x="10972800" y="1085850"/>
                  </a:cubicBezTo>
                  <a:lnTo>
                    <a:pt x="10972800" y="4000500"/>
                  </a:lnTo>
                  <a:lnTo>
                    <a:pt x="0" y="4000500"/>
                  </a:lnTo>
                  <a:close/>
                </a:path>
              </a:pathLst>
            </a:custGeom>
            <a:solidFill>
              <a:schemeClr val="lt2">
                <a:alpha val="96000"/>
              </a:schemeClr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8820150" y="289560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4057650" y="35814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12430" y="313372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高能量 → 小权重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73730" y="3838575"/>
              <a:ext cx="14590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低能量 → 大权重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18" y="5041582"/>
              <a:ext cx="10940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完整状态 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96968" y="5041582"/>
              <a:ext cx="103203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E(s) 评分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087868" y="5041582"/>
              <a:ext cx="12522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exp[−E(s)]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88168" y="50415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归一化</a:t>
              </a:r>
            </a:p>
          </p:txBody>
        </p:sp>
      </p:grpSp>
      <p:grpSp>
        <p:nvGrpSpPr>
          <p:cNvPr id="19" name="p06-formula"/>
          <p:cNvGrpSpPr/>
          <p:nvPr/>
        </p:nvGrpSpPr>
        <p:grpSpPr>
          <a:xfrm>
            <a:off x="7239000" y="781050"/>
            <a:ext cx="4343400" cy="1333500"/>
            <a:chOff x="7239000" y="781050"/>
            <a:chExt cx="4343400" cy="1333500"/>
          </a:xfrm>
        </p:grpSpPr>
        <p:sp>
          <p:nvSpPr>
            <p:cNvPr id="16" name="Rectangle 16"/>
            <p:cNvSpPr/>
            <p:nvPr/>
          </p:nvSpPr>
          <p:spPr>
            <a:xfrm>
              <a:off x="7239000" y="781050"/>
              <a:ext cx="4343400" cy="1333500"/>
            </a:xfrm>
            <a:prstGeom prst="roundRect">
              <a:avLst>
                <a:gd name="adj" fmla="val 11429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561314" y="1115378"/>
              <a:ext cx="36987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p(s) = exp[−E(s)] / Z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040814" y="16640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对全部状态归一化后得到概率分布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04266" y="6516052"/>
            <a:ext cx="226521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05 / 25 · 状态 → 能量 → 权重 → 概率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6-header"/>
          <p:cNvGrpSpPr/>
          <p:nvPr/>
        </p:nvGrpSpPr>
        <p:grpSpPr>
          <a:xfrm>
            <a:off x="593598" y="556260"/>
            <a:ext cx="4512564" cy="881825"/>
            <a:chOff x="593598" y="556260"/>
            <a:chExt cx="4512564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02 模型定义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51256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二值状态与预处理契约</a:t>
              </a:r>
            </a:p>
          </p:txBody>
        </p:sp>
      </p:grpSp>
      <p:grpSp>
        <p:nvGrpSpPr>
          <p:cNvPr id="13" name="p06-state"/>
          <p:cNvGrpSpPr/>
          <p:nvPr/>
        </p:nvGrpSpPr>
        <p:grpSpPr>
          <a:xfrm>
            <a:off x="609600" y="1695450"/>
            <a:ext cx="3181350" cy="3790950"/>
            <a:chOff x="609600" y="1695450"/>
            <a:chExt cx="31813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3181350" cy="3790950"/>
            </a:xfrm>
            <a:prstGeom prst="roundRect">
              <a:avLst>
                <a:gd name="adj" fmla="val 538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25479"/>
              <a:ext cx="238760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一行数据 → 一个状态向量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823" y="2319814"/>
              <a:ext cx="28302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features 与 outcome 都是联合节点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76300" y="2800350"/>
              <a:ext cx="2647950" cy="838200"/>
            </a:xfrm>
            <a:prstGeom prst="roundRect">
              <a:avLst>
                <a:gd name="adj" fmla="val 13636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56107" y="3090862"/>
              <a:ext cx="268833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 = [0, 1, 0, 1]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442" y="3969068"/>
              <a:ext cx="23721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i 列决定 hᵢ 与 Jᵢⱼ 的语义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442" y="43500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列顺序必须固定并随模型保存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6394" y="48377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sᵢ ∈ {0,1}</a:t>
              </a:r>
            </a:p>
          </p:txBody>
        </p:sp>
      </p:grpSp>
      <p:grpSp>
        <p:nvGrpSpPr>
          <p:cNvPr id="26" name="p06-pipeline"/>
          <p:cNvGrpSpPr/>
          <p:nvPr/>
        </p:nvGrpSpPr>
        <p:grpSpPr>
          <a:xfrm>
            <a:off x="4030599" y="1830229"/>
            <a:ext cx="3913251" cy="3484721"/>
            <a:chOff x="4030599" y="1830229"/>
            <a:chExt cx="3913251" cy="3484721"/>
          </a:xfrm>
        </p:grpSpPr>
        <p:sp>
          <p:nvSpPr>
            <p:cNvPr id="14" name="TextBox 14"/>
            <p:cNvSpPr txBox="1"/>
            <p:nvPr/>
          </p:nvSpPr>
          <p:spPr>
            <a:xfrm>
              <a:off x="4030599" y="1830229"/>
              <a:ext cx="262157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预处理决定节点 0/1 的含义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038600" y="2247900"/>
              <a:ext cx="3905250" cy="6096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260342" y="2483168"/>
              <a:ext cx="298511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固定 feature order 与缺失值策略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991225" y="28575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038600" y="3067050"/>
              <a:ext cx="3905250" cy="609600"/>
            </a:xfrm>
            <a:prstGeom prst="roundRect">
              <a:avLst>
                <a:gd name="adj" fmla="val 1875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260342" y="3302318"/>
              <a:ext cx="23672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可选 z-score：z=(x−μ)/σ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5991225" y="367665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38600" y="3886200"/>
              <a:ext cx="3905250" cy="6096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260342" y="4121468"/>
              <a:ext cx="16947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阈值化：s=1[z&gt;θ]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5991225" y="44958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038600" y="4705350"/>
              <a:ext cx="3905250" cy="609600"/>
            </a:xfrm>
            <a:prstGeom prst="roundRect">
              <a:avLst>
                <a:gd name="adj" fmla="val 1875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260342" y="4940618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保存 μ、σ、θ 与列契约</a:t>
              </a:r>
            </a:p>
          </p:txBody>
        </p:sp>
      </p:grpSp>
      <p:grpSp>
        <p:nvGrpSpPr>
          <p:cNvPr id="37" name="p06-config"/>
          <p:cNvGrpSpPr/>
          <p:nvPr/>
        </p:nvGrpSpPr>
        <p:grpSpPr>
          <a:xfrm>
            <a:off x="8191500" y="1695450"/>
            <a:ext cx="3390900" cy="3790950"/>
            <a:chOff x="8191500" y="1695450"/>
            <a:chExt cx="3390900" cy="3790950"/>
          </a:xfrm>
        </p:grpSpPr>
        <p:sp>
          <p:nvSpPr>
            <p:cNvPr id="27" name="Rectangle 27"/>
            <p:cNvSpPr/>
            <p:nvPr/>
          </p:nvSpPr>
          <p:spPr>
            <a:xfrm>
              <a:off x="8191500" y="1695450"/>
              <a:ext cx="3390900" cy="1809750"/>
            </a:xfrm>
            <a:prstGeom prst="roundRect">
              <a:avLst>
                <a:gd name="adj" fmla="val 9474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50199" y="19254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一般数据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51723" y="2396014"/>
              <a:ext cx="2382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threshold_method="median"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51723" y="2757964"/>
              <a:ext cx="18825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 1：高于本列中位数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52104" y="3089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适合自有数据的默认工作流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191500" y="3714750"/>
              <a:ext cx="3390900" cy="1771650"/>
            </a:xfrm>
            <a:prstGeom prst="roundRect">
              <a:avLst>
                <a:gd name="adj" fmla="val 9677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50199" y="39447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论文复现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52104" y="4385310"/>
              <a:ext cx="19668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normalization="zscore"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452104" y="4690110"/>
              <a:ext cx="24999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threshold_method="paper_std"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51723" y="5043964"/>
              <a:ext cx="23305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 repeat 内严格使用 z &gt; 1</a:t>
              </a:r>
            </a:p>
          </p:txBody>
        </p:sp>
      </p:grpSp>
      <p:grpSp>
        <p:nvGrpSpPr>
          <p:cNvPr id="40" name="p06-footer"/>
          <p:cNvGrpSpPr/>
          <p:nvPr/>
        </p:nvGrpSpPr>
        <p:grpSpPr>
          <a:xfrm>
            <a:off x="604266" y="6115050"/>
            <a:ext cx="10978134" cy="320611"/>
            <a:chOff x="604266" y="6115050"/>
            <a:chExt cx="10978134" cy="320611"/>
          </a:xfrm>
        </p:grpSpPr>
        <p:sp>
          <p:nvSpPr>
            <p:cNvPr id="38" name="Line 38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4266" y="6230302"/>
              <a:ext cx="3756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 / 25 · 输出：有明确语义的二值矩阵与可复用预处理契约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7-header"/>
          <p:cNvGrpSpPr/>
          <p:nvPr/>
        </p:nvGrpSpPr>
        <p:grpSpPr>
          <a:xfrm>
            <a:off x="593598" y="556260"/>
            <a:ext cx="5778722" cy="881825"/>
            <a:chOff x="593598" y="556260"/>
            <a:chExt cx="5778722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02 模型定义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77872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最大熵与 Pairwise 能量模型</a:t>
              </a:r>
            </a:p>
          </p:txBody>
        </p:sp>
      </p:grpSp>
      <p:grpSp>
        <p:nvGrpSpPr>
          <p:cNvPr id="16" name="p07-principle"/>
          <p:cNvGrpSpPr/>
          <p:nvPr/>
        </p:nvGrpSpPr>
        <p:grpSpPr>
          <a:xfrm>
            <a:off x="609600" y="1695450"/>
            <a:ext cx="3257550" cy="3790950"/>
            <a:chOff x="609600" y="1695450"/>
            <a:chExt cx="32575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3257550" cy="379095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2547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最大熵原则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330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数据只约束：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8042" y="2692718"/>
              <a:ext cx="1340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一阶频率 ⟨sᵢ⟩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042" y="3035618"/>
              <a:ext cx="19041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45732" indent="-145732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二阶共同出现 ⟨sᵢsⱼ⟩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876300" y="3486150"/>
              <a:ext cx="2724150" cy="9525"/>
            </a:xfrm>
            <a:custGeom>
              <a:avLst/>
              <a:gdLst/>
              <a:ahLst/>
              <a:cxnLst/>
              <a:rect l="l" t="t" r="r" b="b"/>
              <a:pathLst>
                <a:path w="2724150" h="9525">
                  <a:moveTo>
                    <a:pt x="0" y="0"/>
                  </a:moveTo>
                  <a:lnTo>
                    <a:pt x="27241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69442" y="37404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在满足约束的所有分布中，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442" y="40643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选择熵最大的分布。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838200" y="4533900"/>
              <a:ext cx="2800350" cy="6858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98016" y="470106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不额外假设未被数据约束的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87271" y="49487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高阶结构</a:t>
              </a:r>
            </a:p>
          </p:txBody>
        </p:sp>
      </p:grpSp>
      <p:grpSp>
        <p:nvGrpSpPr>
          <p:cNvPr id="29" name="p07-formula"/>
          <p:cNvGrpSpPr/>
          <p:nvPr/>
        </p:nvGrpSpPr>
        <p:grpSpPr>
          <a:xfrm>
            <a:off x="4095574" y="1830229"/>
            <a:ext cx="4497500" cy="3465671"/>
            <a:chOff x="4095574" y="1830229"/>
            <a:chExt cx="4497500" cy="3465671"/>
          </a:xfrm>
        </p:grpSpPr>
        <p:sp>
          <p:nvSpPr>
            <p:cNvPr id="17" name="TextBox 17"/>
            <p:cNvSpPr txBox="1"/>
            <p:nvPr/>
          </p:nvSpPr>
          <p:spPr>
            <a:xfrm>
              <a:off x="4106799" y="1830229"/>
              <a:ext cx="29299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由约束得到 pairwise 能量形式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114800" y="2266950"/>
              <a:ext cx="4419600" cy="1390650"/>
            </a:xfrm>
            <a:prstGeom prst="roundRect">
              <a:avLst>
                <a:gd name="adj" fmla="val 1232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095574" y="2606516"/>
              <a:ext cx="4458052" cy="4547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32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E(s)=Σᵢ hᵢsᵢ + Σᵢ&lt;ⱼ Jᵢⱼsᵢsⱼ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99004" y="3177064"/>
              <a:ext cx="24511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完整状态 s 由所有节点共同定义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114800" y="3943350"/>
              <a:ext cx="2038350" cy="1352550"/>
            </a:xfrm>
            <a:prstGeom prst="roundRect">
              <a:avLst>
                <a:gd name="adj" fmla="val 1126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370070" y="4100512"/>
              <a:ext cx="37548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hᵢ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375023" y="4548664"/>
              <a:ext cx="13742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节点 i 的局部倾向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75404" y="48615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单节点贡献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81750" y="3943350"/>
              <a:ext cx="2152650" cy="1352550"/>
            </a:xfrm>
            <a:prstGeom prst="roundRect">
              <a:avLst>
                <a:gd name="adj" fmla="val 1126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37020" y="4100512"/>
              <a:ext cx="56949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Jᵢⱼ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41973" y="4548664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节点 i、j 的成对参数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42354" y="486156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条件关系，不自动等于因果</a:t>
              </a:r>
            </a:p>
          </p:txBody>
        </p:sp>
      </p:grpSp>
      <p:grpSp>
        <p:nvGrpSpPr>
          <p:cNvPr id="41" name="p07-output"/>
          <p:cNvGrpSpPr/>
          <p:nvPr/>
        </p:nvGrpSpPr>
        <p:grpSpPr>
          <a:xfrm>
            <a:off x="8782050" y="1695450"/>
            <a:ext cx="2800350" cy="3790950"/>
            <a:chOff x="8782050" y="1695450"/>
            <a:chExt cx="2800350" cy="3790950"/>
          </a:xfrm>
        </p:grpSpPr>
        <p:sp>
          <p:nvSpPr>
            <p:cNvPr id="30" name="Rectangle 30"/>
            <p:cNvSpPr/>
            <p:nvPr/>
          </p:nvSpPr>
          <p:spPr>
            <a:xfrm>
              <a:off x="8782050" y="1695450"/>
              <a:ext cx="2800350" cy="3790950"/>
            </a:xfrm>
            <a:prstGeom prst="roundRect">
              <a:avLst>
                <a:gd name="adj" fmla="val 6122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40749" y="19254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模型定义完成后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041892" y="24069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42273" y="2719864"/>
              <a:ext cx="1193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二值状态向量 s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048750" y="3124200"/>
              <a:ext cx="2266950" cy="9525"/>
            </a:xfrm>
            <a:custGeom>
              <a:avLst/>
              <a:gdLst/>
              <a:ahLst/>
              <a:cxnLst/>
              <a:rect l="l" t="t" r="r" b="b"/>
              <a:pathLst>
                <a:path w="2266950" h="9525">
                  <a:moveTo>
                    <a:pt x="0" y="0"/>
                  </a:moveTo>
                  <a:lnTo>
                    <a:pt x="22669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41892" y="33785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参数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42273" y="3691414"/>
              <a:ext cx="117574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 与对称矩阵 J</a:t>
              </a:r>
            </a:p>
          </p:txBody>
        </p:sp>
        <p:sp>
          <p:nvSpPr>
            <p:cNvPr id="37" name="Line 37"/>
            <p:cNvSpPr/>
            <p:nvPr/>
          </p:nvSpPr>
          <p:spPr>
            <a:xfrm>
              <a:off x="9048750" y="4095750"/>
              <a:ext cx="2266950" cy="9525"/>
            </a:xfrm>
            <a:custGeom>
              <a:avLst/>
              <a:gdLst/>
              <a:ahLst/>
              <a:cxnLst/>
              <a:rect l="l" t="t" r="r" b="b"/>
              <a:pathLst>
                <a:path w="2266950" h="9525">
                  <a:moveTo>
                    <a:pt x="0" y="0"/>
                  </a:moveTo>
                  <a:lnTo>
                    <a:pt x="22669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041892" y="43500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训练约束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042273" y="4662964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匹配一阶、二阶 moments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42654" y="509016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下一步：把能量归一化为概率</a:t>
              </a:r>
            </a:p>
          </p:txBody>
        </p:sp>
      </p:grpSp>
      <p:grpSp>
        <p:nvGrpSpPr>
          <p:cNvPr id="44" name="p07-footer"/>
          <p:cNvGrpSpPr/>
          <p:nvPr/>
        </p:nvGrpSpPr>
        <p:grpSpPr>
          <a:xfrm>
            <a:off x="604266" y="6115050"/>
            <a:ext cx="10978134" cy="320611"/>
            <a:chOff x="604266" y="6115050"/>
            <a:chExt cx="10978134" cy="320611"/>
          </a:xfrm>
        </p:grpSpPr>
        <p:sp>
          <p:nvSpPr>
            <p:cNvPr id="42" name="Line 4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4266" y="6230302"/>
              <a:ext cx="34525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 / 25 · 输出：能量函数、参数语义与 moments 约束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8-header"/>
          <p:cNvGrpSpPr/>
          <p:nvPr/>
        </p:nvGrpSpPr>
        <p:grpSpPr>
          <a:xfrm>
            <a:off x="593598" y="556260"/>
            <a:ext cx="6304788" cy="881825"/>
            <a:chOff x="593598" y="556260"/>
            <a:chExt cx="63047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02 模型定义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3047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配分函数、精确枚举与计算规模</a:t>
              </a:r>
            </a:p>
          </p:txBody>
        </p:sp>
      </p:grpSp>
      <p:grpSp>
        <p:nvGrpSpPr>
          <p:cNvPr id="13" name="p08-probability"/>
          <p:cNvGrpSpPr/>
          <p:nvPr/>
        </p:nvGrpSpPr>
        <p:grpSpPr>
          <a:xfrm>
            <a:off x="609600" y="1695450"/>
            <a:ext cx="3638550" cy="3790950"/>
            <a:chOff x="609600" y="1695450"/>
            <a:chExt cx="36385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3638550" cy="3790950"/>
            </a:xfrm>
            <a:prstGeom prst="roundRect">
              <a:avLst>
                <a:gd name="adj" fmla="val 4712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254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能量如何变成概率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37144" y="2546509"/>
              <a:ext cx="2983462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8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p(s)=exp[−E(s)] / Z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59967" y="3126105"/>
              <a:ext cx="233781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21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Z=Σₛ exp[−E(s)]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876300" y="3714750"/>
              <a:ext cx="3105150" cy="9525"/>
            </a:xfrm>
            <a:custGeom>
              <a:avLst/>
              <a:gdLst/>
              <a:ahLst/>
              <a:cxnLst/>
              <a:rect l="l" t="t" r="r" b="b"/>
              <a:pathLst>
                <a:path w="3105150" h="9525">
                  <a:moveTo>
                    <a:pt x="0" y="0"/>
                  </a:moveTo>
                  <a:lnTo>
                    <a:pt x="3105150" y="0"/>
                  </a:lnTo>
                </a:path>
              </a:pathLst>
            </a:custGeom>
            <a:noFill/>
            <a:ln w="9525">
              <a:solidFill>
                <a:srgbClr val="5C6B6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88118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Z 汇总全部状态权重，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442" y="4292918"/>
              <a:ext cx="14292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保证 Σₛp(s)=1。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0204" y="4880610"/>
              <a:ext cx="18376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低能量 → 大权重 → 高概率</a:t>
              </a:r>
            </a:p>
          </p:txBody>
        </p:sp>
      </p:grpSp>
      <p:grpSp>
        <p:nvGrpSpPr>
          <p:cNvPr id="25" name="p08-enumeration"/>
          <p:cNvGrpSpPr/>
          <p:nvPr/>
        </p:nvGrpSpPr>
        <p:grpSpPr>
          <a:xfrm>
            <a:off x="4487799" y="1830229"/>
            <a:ext cx="3265551" cy="3484721"/>
            <a:chOff x="4487799" y="1830229"/>
            <a:chExt cx="3265551" cy="3484721"/>
          </a:xfrm>
        </p:grpSpPr>
        <p:sp>
          <p:nvSpPr>
            <p:cNvPr id="14" name="TextBox 14"/>
            <p:cNvSpPr txBox="1"/>
            <p:nvPr/>
          </p:nvSpPr>
          <p:spPr>
            <a:xfrm>
              <a:off x="4487799" y="1830229"/>
              <a:ext cx="23091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Exact：计算定义式本身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495800" y="2266950"/>
              <a:ext cx="3257550" cy="609600"/>
            </a:xfrm>
            <a:prstGeom prst="roundRect">
              <a:avLst>
                <a:gd name="adj" fmla="val 1875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717542" y="250221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枚举 s ∈ {0,1}ⁿ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124575" y="287655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495800" y="3086100"/>
              <a:ext cx="3257550" cy="6096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717542" y="3321368"/>
              <a:ext cx="16001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计算 E(s) 与权重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6124575" y="36957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95800" y="3905250"/>
              <a:ext cx="3257550" cy="609600"/>
            </a:xfrm>
            <a:prstGeom prst="roundRect">
              <a:avLst>
                <a:gd name="adj" fmla="val 1875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717542" y="4140518"/>
              <a:ext cx="21578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求 Z、p(s) 与 moments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495800" y="4800600"/>
              <a:ext cx="3257550" cy="514350"/>
            </a:xfrm>
            <a:prstGeom prst="roundRect">
              <a:avLst>
                <a:gd name="adj" fmla="val 22222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054556" y="4978718"/>
              <a:ext cx="21400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无采样误差，但随 2ⁿ 增长</a:t>
              </a:r>
            </a:p>
          </p:txBody>
        </p:sp>
      </p:grpSp>
      <p:grpSp>
        <p:nvGrpSpPr>
          <p:cNvPr id="36" name="p08-scale"/>
          <p:cNvGrpSpPr/>
          <p:nvPr/>
        </p:nvGrpSpPr>
        <p:grpSpPr>
          <a:xfrm>
            <a:off x="8001000" y="1695450"/>
            <a:ext cx="3581400" cy="3790950"/>
            <a:chOff x="8001000" y="1695450"/>
            <a:chExt cx="3581400" cy="3790950"/>
          </a:xfrm>
        </p:grpSpPr>
        <p:sp>
          <p:nvSpPr>
            <p:cNvPr id="26" name="Rectangle 26"/>
            <p:cNvSpPr/>
            <p:nvPr/>
          </p:nvSpPr>
          <p:spPr>
            <a:xfrm>
              <a:off x="8001000" y="1695450"/>
              <a:ext cx="3581400" cy="1657350"/>
            </a:xfrm>
            <a:prstGeom prst="roundRect">
              <a:avLst>
                <a:gd name="adj" fmla="val 1034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59699" y="19254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论文规模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54746" y="2372678"/>
              <a:ext cx="283692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5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|S|=2¹⁹=524,288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61223" y="28913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可作为确定性的数值参考路径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001000" y="3581400"/>
              <a:ext cx="3581400" cy="1905000"/>
            </a:xfrm>
            <a:prstGeom prst="roundRect">
              <a:avLst>
                <a:gd name="adj" fmla="val 900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59699" y="3811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Package 实现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61223" y="4243864"/>
              <a:ext cx="13513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LearningModel(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51723" y="45486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51723" y="4853464"/>
              <a:ext cx="17188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max_exact_nodes=19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61223" y="512016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</p:grpSp>
      <p:grpSp>
        <p:nvGrpSpPr>
          <p:cNvPr id="39" name="p08-footer"/>
          <p:cNvGrpSpPr/>
          <p:nvPr/>
        </p:nvGrpSpPr>
        <p:grpSpPr>
          <a:xfrm>
            <a:off x="604266" y="6115050"/>
            <a:ext cx="10978134" cy="320611"/>
            <a:chOff x="604266" y="6115050"/>
            <a:chExt cx="10978134" cy="320611"/>
          </a:xfrm>
        </p:grpSpPr>
        <p:sp>
          <p:nvSpPr>
            <p:cNvPr id="37" name="Line 37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4266" y="6230302"/>
              <a:ext cx="32688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 / 25 · 输出：完整联合概率与精确模型 moments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09-header"/>
          <p:cNvGrpSpPr/>
          <p:nvPr/>
        </p:nvGrpSpPr>
        <p:grpSpPr>
          <a:xfrm>
            <a:off x="593598" y="556260"/>
            <a:ext cx="6165571" cy="881825"/>
            <a:chOff x="593598" y="556260"/>
            <a:chExt cx="6165571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02 模型定义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16557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Moments 训练目标与条件预测</a:t>
              </a:r>
            </a:p>
          </p:txBody>
        </p:sp>
      </p:grpSp>
      <p:grpSp>
        <p:nvGrpSpPr>
          <p:cNvPr id="15" name="p09-moments"/>
          <p:cNvGrpSpPr/>
          <p:nvPr/>
        </p:nvGrpSpPr>
        <p:grpSpPr>
          <a:xfrm>
            <a:off x="609600" y="1695450"/>
            <a:ext cx="3676650" cy="3790950"/>
            <a:chOff x="609600" y="1695450"/>
            <a:chExt cx="36766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3676650" cy="3790950"/>
            </a:xfrm>
            <a:prstGeom prst="roundRect">
              <a:avLst>
                <a:gd name="adj" fmla="val 466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2547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模型真正拟合的数据摘要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876300" y="2381250"/>
              <a:ext cx="3143250" cy="990600"/>
            </a:xfrm>
            <a:prstGeom prst="roundRect">
              <a:avLst>
                <a:gd name="adj" fmla="val 115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5375" y="2559844"/>
              <a:ext cx="133509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2"/>
                  </a:solidFill>
                  <a:latin typeface="Cambria Math"/>
                  <a:ea typeface="Microsoft YaHei"/>
                  <a:cs typeface="Cambria Math"/>
                </a:rPr>
                <a:t>一阶：⟨sᵢ⟩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423" y="2967514"/>
              <a:ext cx="1400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 为 1 的频率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76300" y="3600450"/>
              <a:ext cx="3143250" cy="990600"/>
            </a:xfrm>
            <a:prstGeom prst="roundRect">
              <a:avLst>
                <a:gd name="adj" fmla="val 115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95375" y="3779044"/>
              <a:ext cx="1613489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dirty="0">
                  <a:solidFill>
                    <a:schemeClr val="accent2"/>
                  </a:solidFill>
                  <a:latin typeface="Cambria Math"/>
                  <a:ea typeface="Microsoft YaHei"/>
                  <a:cs typeface="Cambria Math"/>
                </a:rPr>
                <a:t>二阶：⟨sᵢsⱼ⟩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98423" y="4186714"/>
              <a:ext cx="19687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i、j 同时为 1 的频率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442" y="4864418"/>
              <a:ext cx="32032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目标：momentsmodel ≈ momentsdata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0585" y="5155406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三、四阶 moments 留作外部验证</a:t>
              </a:r>
            </a:p>
          </p:txBody>
        </p:sp>
      </p:grpSp>
      <p:grpSp>
        <p:nvGrpSpPr>
          <p:cNvPr id="24" name="p09-model"/>
          <p:cNvGrpSpPr/>
          <p:nvPr/>
        </p:nvGrpSpPr>
        <p:grpSpPr>
          <a:xfrm>
            <a:off x="4525899" y="1830229"/>
            <a:ext cx="2341626" cy="3444049"/>
            <a:chOff x="4525899" y="1830229"/>
            <a:chExt cx="2341626" cy="3444049"/>
          </a:xfrm>
        </p:grpSpPr>
        <p:sp>
          <p:nvSpPr>
            <p:cNvPr id="16" name="TextBox 16"/>
            <p:cNvSpPr txBox="1"/>
            <p:nvPr/>
          </p:nvSpPr>
          <p:spPr>
            <a:xfrm>
              <a:off x="4525899" y="18302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训练后的联合模型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4886325" y="2152650"/>
              <a:ext cx="1981200" cy="1981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67417" y="2807018"/>
              <a:ext cx="819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拟合 h、J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78259" y="3104198"/>
              <a:ext cx="59733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95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p(s)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53507" y="35009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完整联合分布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5876925" y="4133850"/>
              <a:ext cx="9525" cy="552450"/>
            </a:xfrm>
            <a:custGeom>
              <a:avLst/>
              <a:gdLst/>
              <a:ahLst/>
              <a:cxnLst/>
              <a:rect l="l" t="t" r="r" b="b"/>
              <a:pathLst>
                <a:path w="9525" h="552450">
                  <a:moveTo>
                    <a:pt x="0" y="0"/>
                  </a:moveTo>
                  <a:lnTo>
                    <a:pt x="0" y="55245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800725" y="46672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76200" y="133350"/>
                  </a:moveTo>
                  <a:lnTo>
                    <a:pt x="0" y="0"/>
                  </a:lnTo>
                  <a:lnTo>
                    <a:pt x="1524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008880" y="5024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同一模型支持多种查询</a:t>
              </a:r>
            </a:p>
          </p:txBody>
        </p:sp>
      </p:grpSp>
      <p:grpSp>
        <p:nvGrpSpPr>
          <p:cNvPr id="34" name="p09-conditional"/>
          <p:cNvGrpSpPr/>
          <p:nvPr/>
        </p:nvGrpSpPr>
        <p:grpSpPr>
          <a:xfrm>
            <a:off x="7467600" y="1695450"/>
            <a:ext cx="4114800" cy="3790950"/>
            <a:chOff x="7467600" y="1695450"/>
            <a:chExt cx="4114800" cy="3790950"/>
          </a:xfrm>
        </p:grpSpPr>
        <p:sp>
          <p:nvSpPr>
            <p:cNvPr id="25" name="Rectangle 25"/>
            <p:cNvSpPr/>
            <p:nvPr/>
          </p:nvSpPr>
          <p:spPr>
            <a:xfrm>
              <a:off x="7467600" y="1695450"/>
              <a:ext cx="4114800" cy="3790950"/>
            </a:xfrm>
            <a:prstGeom prst="roundRect">
              <a:avLst>
                <a:gd name="adj" fmla="val 452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726299" y="192547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条件预测不是另一套模型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27823" y="2338864"/>
              <a:ext cx="27785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固定其他节点 x，仅比较 y=0 与 y=1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96200" y="2781300"/>
              <a:ext cx="3657600" cy="1219200"/>
            </a:xfrm>
            <a:prstGeom prst="roundRect">
              <a:avLst>
                <a:gd name="adj" fmla="val 937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03563" y="3082290"/>
              <a:ext cx="10428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P(y=1|x)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12092" y="3506629"/>
              <a:ext cx="282581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80" dirty="0">
                  <a:solidFill>
                    <a:srgbClr val="F4A58F"/>
                  </a:solidFill>
                  <a:latin typeface="Cambria Math"/>
                  <a:ea typeface="Cambria Math"/>
                  <a:cs typeface="Cambria Math"/>
                </a:rPr>
                <a:t>= 1 / [1+exp(hᵧ+ΣᵢJᵢᵧxᵢ)]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27442" y="42929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参数仍来自同一个联合分布：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956423" y="4662964"/>
              <a:ext cx="18136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hᵧ：outcome 局部倾向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56423" y="4967764"/>
              <a:ext cx="30359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Jᵢᵧ：feature 与 outcome 的成对参数</a:t>
              </a:r>
            </a:p>
          </p:txBody>
        </p:sp>
      </p:grpSp>
      <p:grpSp>
        <p:nvGrpSpPr>
          <p:cNvPr id="37" name="p09-footer"/>
          <p:cNvGrpSpPr/>
          <p:nvPr/>
        </p:nvGrpSpPr>
        <p:grpSpPr>
          <a:xfrm>
            <a:off x="604266" y="6115050"/>
            <a:ext cx="10978134" cy="320611"/>
            <a:chOff x="604266" y="6115050"/>
            <a:chExt cx="10978134" cy="320611"/>
          </a:xfrm>
        </p:grpSpPr>
        <p:sp>
          <p:nvSpPr>
            <p:cNvPr id="35" name="Line 35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04266" y="6230302"/>
              <a:ext cx="46257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 / 25 · 本阶段输出：联合分布定义与训练约束 → 下一阶段：计算与优化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5-header"/>
          <p:cNvGrpSpPr/>
          <p:nvPr/>
        </p:nvGrpSpPr>
        <p:grpSpPr>
          <a:xfrm>
            <a:off x="593598" y="556260"/>
            <a:ext cx="7443810" cy="881825"/>
            <a:chOff x="593598" y="556260"/>
            <a:chExt cx="744381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744381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Monte Carlo 估计与 Gibbs 采样实现</a:t>
              </a:r>
            </a:p>
          </p:txBody>
        </p:sp>
      </p:grpSp>
      <p:grpSp>
        <p:nvGrpSpPr>
          <p:cNvPr id="17" name="p15-concept"/>
          <p:cNvGrpSpPr/>
          <p:nvPr/>
        </p:nvGrpSpPr>
        <p:grpSpPr>
          <a:xfrm>
            <a:off x="609600" y="1638300"/>
            <a:ext cx="4762500" cy="3905250"/>
            <a:chOff x="609600" y="1638300"/>
            <a:chExt cx="4762500" cy="3905250"/>
          </a:xfrm>
        </p:grpSpPr>
        <p:sp>
          <p:nvSpPr>
            <p:cNvPr id="5" name="Rectangle 5"/>
            <p:cNvSpPr/>
            <p:nvPr/>
          </p:nvSpPr>
          <p:spPr>
            <a:xfrm>
              <a:off x="609600" y="1638300"/>
              <a:ext cx="4762500" cy="3905250"/>
            </a:xfrm>
            <a:prstGeom prst="roundRect">
              <a:avLst>
                <a:gd name="adj" fmla="val 439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868329"/>
              <a:ext cx="19555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Monte Carlo 是什么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355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一种数值估计方法：用样本平均值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212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近似难以直接计算的概率期望。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9823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精确求和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6775" y="3283744"/>
              <a:ext cx="293222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8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Eₚ[f(s)] = Σₛ p(s)f(s)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876300" y="3733800"/>
              <a:ext cx="4229100" cy="9525"/>
            </a:xfrm>
            <a:custGeom>
              <a:avLst/>
              <a:gdLst/>
              <a:ahLst/>
              <a:cxnLst/>
              <a:rect l="l" t="t" r="r" b="b"/>
              <a:pathLst>
                <a:path w="4229100" h="9525">
                  <a:moveTo>
                    <a:pt x="0" y="0"/>
                  </a:moveTo>
                  <a:lnTo>
                    <a:pt x="4229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823" y="3958114"/>
              <a:ext cx="14118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Monte Carlo 近似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6775" y="4255294"/>
              <a:ext cx="3376016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8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Eₚ[f(s)] ≈ 1/M Σₘ f(s⁽ᵐ⁾)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8200" y="4781550"/>
              <a:ext cx="4305300" cy="552450"/>
            </a:xfrm>
            <a:prstGeom prst="roundRect">
              <a:avLst>
                <a:gd name="adj" fmla="val 17241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19707" y="488203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前提：s⁽ᵐ⁾ 必须能代表目标分布 p(s)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52778" y="511730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不是随机猜测，而是受概率分布约束的估计</a:t>
              </a:r>
            </a:p>
          </p:txBody>
        </p:sp>
      </p:grpSp>
      <p:grpSp>
        <p:nvGrpSpPr>
          <p:cNvPr id="36" name="p15-implementation"/>
          <p:cNvGrpSpPr/>
          <p:nvPr/>
        </p:nvGrpSpPr>
        <p:grpSpPr>
          <a:xfrm>
            <a:off x="5592699" y="1773079"/>
            <a:ext cx="5989701" cy="3770471"/>
            <a:chOff x="5592699" y="1773079"/>
            <a:chExt cx="5989701" cy="3770471"/>
          </a:xfrm>
        </p:grpSpPr>
        <p:sp>
          <p:nvSpPr>
            <p:cNvPr id="18" name="TextBox 18"/>
            <p:cNvSpPr txBox="1"/>
            <p:nvPr/>
          </p:nvSpPr>
          <p:spPr>
            <a:xfrm>
              <a:off x="5592699" y="1773079"/>
              <a:ext cx="268076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Gibbs：生成样本的具体算法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600700" y="2114550"/>
              <a:ext cx="2724150" cy="1962150"/>
            </a:xfrm>
            <a:prstGeom prst="roundRect">
              <a:avLst>
                <a:gd name="adj" fmla="val 7767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22823" y="2319814"/>
              <a:ext cx="17533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初始化一个 0/1 状态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822823" y="2643664"/>
              <a:ext cx="21972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逐节点计算 P(sᵢ=1 | s₋ᵢ)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22823" y="2967514"/>
              <a:ext cx="1537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按该概率更新节点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22823" y="3291364"/>
              <a:ext cx="22099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④ 丢弃 burn-in；按间隔保留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22823" y="3615214"/>
              <a:ext cx="21496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⑤ 多链样本汇总为 moments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515350" y="2114550"/>
              <a:ext cx="3067050" cy="2343150"/>
            </a:xfrm>
            <a:prstGeom prst="roundRect">
              <a:avLst>
                <a:gd name="adj" fmla="val 650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737092" y="2311718"/>
              <a:ext cx="11374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配置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37854" y="2689860"/>
              <a:ext cx="12669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LearningModel(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28354" y="29756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calculation="monte_carlo",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928354" y="3261360"/>
              <a:ext cx="1433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mc_samples=4000,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928354" y="3547110"/>
              <a:ext cx="14337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mc_burn_in=1000,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28354" y="383286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mc_thinning=2, mc_chains=4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737854" y="4118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600700" y="4667250"/>
              <a:ext cx="5981700" cy="876300"/>
            </a:xfrm>
            <a:prstGeom prst="roundRect">
              <a:avLst>
                <a:gd name="adj" fmla="val 15217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22442" y="48644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层次区分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22823" y="5177314"/>
              <a:ext cx="54886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Monte Carlo＝期望估计框架　Gibbs＝样本生成器　Adam＝参数更新器</a:t>
              </a:r>
            </a:p>
          </p:txBody>
        </p:sp>
      </p:grpSp>
      <p:grpSp>
        <p:nvGrpSpPr>
          <p:cNvPr id="40" name="p15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7" name="Line 37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6-header"/>
          <p:cNvGrpSpPr/>
          <p:nvPr/>
        </p:nvGrpSpPr>
        <p:grpSpPr>
          <a:xfrm>
            <a:off x="593598" y="556260"/>
            <a:ext cx="5995309" cy="881825"/>
            <a:chOff x="593598" y="556260"/>
            <a:chExt cx="5995309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99530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Monte Carlo 诊断与实现参数</a:t>
              </a:r>
            </a:p>
          </p:txBody>
        </p:sp>
      </p:grpSp>
      <p:grpSp>
        <p:nvGrpSpPr>
          <p:cNvPr id="23" name="p16-metrics"/>
          <p:cNvGrpSpPr/>
          <p:nvPr/>
        </p:nvGrpSpPr>
        <p:grpSpPr>
          <a:xfrm>
            <a:off x="609600" y="1714500"/>
            <a:ext cx="10972800" cy="2209800"/>
            <a:chOff x="609600" y="1714500"/>
            <a:chExt cx="10972800" cy="2209800"/>
          </a:xfrm>
        </p:grpSpPr>
        <p:sp>
          <p:nvSpPr>
            <p:cNvPr id="5" name="Rectangle 5"/>
            <p:cNvSpPr/>
            <p:nvPr/>
          </p:nvSpPr>
          <p:spPr>
            <a:xfrm>
              <a:off x="609600" y="1714500"/>
              <a:ext cx="337185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4108" y="1893570"/>
              <a:ext cx="86297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R-hat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36886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链间差异 ÷ 链内差异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823" y="27198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多条链是否到达相同分布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68680" y="3171825"/>
              <a:ext cx="19638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项目阈值：max ≤ 1.1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0204" y="35090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改善：更长 burn-in、检查混合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400550" y="1714500"/>
              <a:ext cx="337185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55058" y="1893570"/>
              <a:ext cx="67411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ESS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60392" y="23688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相关样本折算为独立样本数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60773" y="2719864"/>
              <a:ext cx="26493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4000 个样本不一定有 4000 份信息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59630" y="3171825"/>
              <a:ext cx="19133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项目阈值：min ≥ 100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61154" y="3509010"/>
              <a:ext cx="21607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改善：增加 samples / chains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191500" y="1714500"/>
              <a:ext cx="3390900" cy="2209800"/>
            </a:xfrm>
            <a:prstGeom prst="roundRect">
              <a:avLst>
                <a:gd name="adj" fmla="val 775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46008" y="1893570"/>
              <a:ext cx="10396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MCSE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51342" y="23688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样本均值作为期望的标准误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51723" y="2719864"/>
              <a:ext cx="21534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衡量 Monte Carlo 数值误差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50580" y="3171825"/>
              <a:ext cx="20749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项目阈值：max ≤ 0.05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2104" y="35090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改善：提高有效样本数</a:t>
              </a:r>
            </a:p>
          </p:txBody>
        </p:sp>
      </p:grpSp>
      <p:grpSp>
        <p:nvGrpSpPr>
          <p:cNvPr id="31" name="p16-implementation"/>
          <p:cNvGrpSpPr/>
          <p:nvPr/>
        </p:nvGrpSpPr>
        <p:grpSpPr>
          <a:xfrm>
            <a:off x="609600" y="4267200"/>
            <a:ext cx="10972800" cy="1276350"/>
            <a:chOff x="609600" y="4267200"/>
            <a:chExt cx="10972800" cy="1276350"/>
          </a:xfrm>
        </p:grpSpPr>
        <p:sp>
          <p:nvSpPr>
            <p:cNvPr id="24" name="Rectangle 24"/>
            <p:cNvSpPr/>
            <p:nvPr/>
          </p:nvSpPr>
          <p:spPr>
            <a:xfrm>
              <a:off x="609600" y="4267200"/>
              <a:ext cx="10972800" cy="1276350"/>
            </a:xfrm>
            <a:prstGeom prst="roundRect">
              <a:avLst>
                <a:gd name="adj" fmla="val 1343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9061" y="447532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实现映射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9823" y="4834414"/>
              <a:ext cx="2571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diag = analysis.diagnostics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0204" y="5147310"/>
              <a:ext cx="63204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diag["max_rhat"] · diag["min_effective_sample_size"] · diag["max_mcse"]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232523" y="4567714"/>
              <a:ext cx="12449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 → 主要影响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32904" y="4880610"/>
              <a:ext cx="3350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burn_in → 初始偏差　samples / chains → ESS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232904" y="5166360"/>
              <a:ext cx="29280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thinning → 保留间隔；不能替代收敛诊断</a:t>
              </a:r>
            </a:p>
          </p:txBody>
        </p:sp>
      </p:grpSp>
      <p:grpSp>
        <p:nvGrpSpPr>
          <p:cNvPr id="35" name="p16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2" name="Line 3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7-header"/>
          <p:cNvGrpSpPr/>
          <p:nvPr/>
        </p:nvGrpSpPr>
        <p:grpSpPr>
          <a:xfrm>
            <a:off x="593598" y="556260"/>
            <a:ext cx="5856732" cy="881825"/>
            <a:chOff x="593598" y="556260"/>
            <a:chExt cx="5856732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85673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矩匹配：目标函数与训练实现</a:t>
              </a:r>
            </a:p>
          </p:txBody>
        </p:sp>
      </p:grpSp>
      <p:grpSp>
        <p:nvGrpSpPr>
          <p:cNvPr id="15" name="p17-objective"/>
          <p:cNvGrpSpPr/>
          <p:nvPr/>
        </p:nvGrpSpPr>
        <p:grpSpPr>
          <a:xfrm>
            <a:off x="609600" y="1676400"/>
            <a:ext cx="3429000" cy="3790950"/>
            <a:chOff x="609600" y="1676400"/>
            <a:chExt cx="342900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3429000" cy="379095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10795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概念与目标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92668"/>
              <a:ext cx="2476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让模型的一阶、二阶 moments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78418"/>
              <a:ext cx="24762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接近数据中的经验 moments。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009900"/>
              <a:ext cx="2971800" cy="1104900"/>
            </a:xfrm>
            <a:prstGeom prst="roundRect">
              <a:avLst>
                <a:gd name="adj" fmla="val 1034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51929" y="3215640"/>
              <a:ext cx="27443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0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gmean = μmodel − μdata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48385" y="3615690"/>
              <a:ext cx="27514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gpair = Mmodel − Mdata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9823" y="4377214"/>
              <a:ext cx="22874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模型 moments 可由 exact 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643914"/>
              <a:ext cx="21157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Monte Carlo/Gibbs 计算。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9442" y="5054918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停止：max |g| &lt; tolerance</a:t>
              </a:r>
            </a:p>
          </p:txBody>
        </p:sp>
      </p:grpSp>
      <p:grpSp>
        <p:nvGrpSpPr>
          <p:cNvPr id="29" name="p17-algorithm"/>
          <p:cNvGrpSpPr/>
          <p:nvPr/>
        </p:nvGrpSpPr>
        <p:grpSpPr>
          <a:xfrm>
            <a:off x="4259199" y="1792129"/>
            <a:ext cx="2865501" cy="3522821"/>
            <a:chOff x="4259199" y="1792129"/>
            <a:chExt cx="2865501" cy="3522821"/>
          </a:xfrm>
        </p:grpSpPr>
        <p:sp>
          <p:nvSpPr>
            <p:cNvPr id="16" name="TextBox 16"/>
            <p:cNvSpPr txBox="1"/>
            <p:nvPr/>
          </p:nvSpPr>
          <p:spPr>
            <a:xfrm>
              <a:off x="4259199" y="17921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训练循环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267200" y="21907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16665" y="2406968"/>
              <a:ext cx="1358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① 数据 moments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695950" y="27813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267200" y="29908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016665" y="3207068"/>
              <a:ext cx="13585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② 模型 moments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5695950" y="35814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267200" y="3790950"/>
              <a:ext cx="2857500" cy="590550"/>
            </a:xfrm>
            <a:prstGeom prst="roundRect">
              <a:avLst>
                <a:gd name="adj" fmla="val 1935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171142" y="4007168"/>
              <a:ext cx="10496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③ 计算误差 g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5695950" y="4381500"/>
              <a:ext cx="9525" cy="209550"/>
            </a:xfrm>
            <a:custGeom>
              <a:avLst/>
              <a:gdLst/>
              <a:ahLst/>
              <a:cxnLst/>
              <a:rect l="l" t="t" r="r" b="b"/>
              <a:pathLst>
                <a:path w="9525" h="209550">
                  <a:moveTo>
                    <a:pt x="0" y="0"/>
                  </a:moveTo>
                  <a:lnTo>
                    <a:pt x="0" y="2095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67200" y="4591050"/>
              <a:ext cx="2857500" cy="723900"/>
            </a:xfrm>
            <a:prstGeom prst="roundRect">
              <a:avLst>
                <a:gd name="adj" fmla="val 1578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09203" y="4769168"/>
              <a:ext cx="9734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④ 更新 h、J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720590" y="50330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重复至收敛或 max_epochs</a:t>
              </a:r>
            </a:p>
          </p:txBody>
        </p:sp>
      </p:grpSp>
      <p:grpSp>
        <p:nvGrpSpPr>
          <p:cNvPr id="41" name="p17-implementation"/>
          <p:cNvGrpSpPr/>
          <p:nvPr/>
        </p:nvGrpSpPr>
        <p:grpSpPr>
          <a:xfrm>
            <a:off x="7353300" y="1676400"/>
            <a:ext cx="4229100" cy="3790950"/>
            <a:chOff x="7353300" y="1676400"/>
            <a:chExt cx="4229100" cy="3790950"/>
          </a:xfrm>
        </p:grpSpPr>
        <p:sp>
          <p:nvSpPr>
            <p:cNvPr id="30" name="Rectangle 30"/>
            <p:cNvSpPr/>
            <p:nvPr/>
          </p:nvSpPr>
          <p:spPr>
            <a:xfrm>
              <a:off x="7353300" y="1676400"/>
              <a:ext cx="4229100" cy="3790950"/>
            </a:xfrm>
            <a:prstGeom prst="roundRect">
              <a:avLst>
                <a:gd name="adj" fmla="val 452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1199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581900" y="2305050"/>
              <a:ext cx="377190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785354" y="253746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75854" y="2842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75854" y="314706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learning_rate=0.05,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75854" y="3451860"/>
              <a:ext cx="2677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tolerance=1e-3, max_epochs=500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85354" y="37566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785354" y="4061460"/>
              <a:ext cx="36618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model.fit(X, y, method="moment_matching")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13523" y="4682014"/>
              <a:ext cx="24684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读取：fit_result.mean_error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13904" y="5013960"/>
              <a:ext cx="31299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默认可解释路径；也可使用 monte_carlo。</a:t>
              </a:r>
            </a:p>
          </p:txBody>
        </p:sp>
      </p:grpSp>
      <p:grpSp>
        <p:nvGrpSpPr>
          <p:cNvPr id="45" name="p17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42" name="Line 42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8-header"/>
          <p:cNvGrpSpPr/>
          <p:nvPr/>
        </p:nvGrpSpPr>
        <p:grpSpPr>
          <a:xfrm>
            <a:off x="593598" y="556260"/>
            <a:ext cx="6170371" cy="881825"/>
            <a:chOff x="593598" y="556260"/>
            <a:chExt cx="6170371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617037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KL 散度：目标函数与精确实现</a:t>
              </a:r>
            </a:p>
          </p:txBody>
        </p:sp>
      </p:grpSp>
      <p:grpSp>
        <p:nvGrpSpPr>
          <p:cNvPr id="15" name="p18-concept"/>
          <p:cNvGrpSpPr/>
          <p:nvPr/>
        </p:nvGrpSpPr>
        <p:grpSpPr>
          <a:xfrm>
            <a:off x="609600" y="1676400"/>
            <a:ext cx="4171950" cy="3790950"/>
            <a:chOff x="609600" y="1676400"/>
            <a:chExt cx="417195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4171950" cy="3790950"/>
            </a:xfrm>
            <a:prstGeom prst="roundRect">
              <a:avLst>
                <a:gd name="adj" fmla="val 452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44140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概念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442" y="2292668"/>
              <a:ext cx="32577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比较数据分布 p_data 与模型分布 p_θ。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442" y="25784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值越小，两个完整分布越接近。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838200" y="3009900"/>
              <a:ext cx="3714750" cy="990600"/>
            </a:xfrm>
            <a:prstGeom prst="roundRect">
              <a:avLst>
                <a:gd name="adj" fmla="val 115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77392" y="3223736"/>
              <a:ext cx="183636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Dₖₗ(pdata || pθ)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1247" y="3590925"/>
              <a:ext cx="3488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= Σₛ pdata(s) log[pdata(s)/pθ(s)]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68299" y="4268629"/>
              <a:ext cx="2749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为什么梯度仍是 moments 差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643914"/>
              <a:ext cx="21573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指数族结构使 ∇θDₖₗ 化为：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7918" y="4965382"/>
              <a:ext cx="32486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momentsmodel − momentsdata</a:t>
              </a:r>
            </a:p>
          </p:txBody>
        </p:sp>
      </p:grpSp>
      <p:grpSp>
        <p:nvGrpSpPr>
          <p:cNvPr id="27" name="p18-algorithm"/>
          <p:cNvGrpSpPr/>
          <p:nvPr/>
        </p:nvGrpSpPr>
        <p:grpSpPr>
          <a:xfrm>
            <a:off x="5002149" y="1792129"/>
            <a:ext cx="2579751" cy="3522821"/>
            <a:chOff x="5002149" y="1792129"/>
            <a:chExt cx="2579751" cy="3522821"/>
          </a:xfrm>
        </p:grpSpPr>
        <p:sp>
          <p:nvSpPr>
            <p:cNvPr id="16" name="TextBox 16"/>
            <p:cNvSpPr txBox="1"/>
            <p:nvPr/>
          </p:nvSpPr>
          <p:spPr>
            <a:xfrm>
              <a:off x="5002149" y="17921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计算要求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10150" y="2190750"/>
              <a:ext cx="2571750" cy="933450"/>
            </a:xfrm>
            <a:prstGeom prst="roundRect">
              <a:avLst>
                <a:gd name="adj" fmla="val 1428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648544" y="2426018"/>
              <a:ext cx="1294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需要精确 pθ(s)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95229" y="2719864"/>
              <a:ext cx="1201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因此必须计算 Z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6296025" y="31242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0"/>
                  </a:moveTo>
                  <a:lnTo>
                    <a:pt x="0" y="3048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010150" y="3429000"/>
              <a:ext cx="2571750" cy="93345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43956" y="3664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显式计算梯度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907776" y="3958114"/>
              <a:ext cx="7764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 h、J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010150" y="4648200"/>
              <a:ext cx="2571750" cy="666750"/>
            </a:xfrm>
            <a:prstGeom prst="roundRect">
              <a:avLst>
                <a:gd name="adj" fmla="val 2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29819" y="4796314"/>
              <a:ext cx="21324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适用：≤ max_exact_nodes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687212" y="50601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D9F2E9"/>
                  </a:solidFill>
                  <a:latin typeface="+mn-lt"/>
                  <a:ea typeface="+mn-ea"/>
                  <a:cs typeface="+mn-cs"/>
                </a:rPr>
                <a:t>理论清晰、可复核</a:t>
              </a:r>
            </a:p>
          </p:txBody>
        </p:sp>
      </p:grpSp>
      <p:grpSp>
        <p:nvGrpSpPr>
          <p:cNvPr id="40" name="p18-implementation"/>
          <p:cNvGrpSpPr/>
          <p:nvPr/>
        </p:nvGrpSpPr>
        <p:grpSpPr>
          <a:xfrm>
            <a:off x="7810500" y="1676400"/>
            <a:ext cx="3771900" cy="3790950"/>
            <a:chOff x="7810500" y="1676400"/>
            <a:chExt cx="3771900" cy="3790950"/>
          </a:xfrm>
        </p:grpSpPr>
        <p:sp>
          <p:nvSpPr>
            <p:cNvPr id="28" name="Rectangle 28"/>
            <p:cNvSpPr/>
            <p:nvPr/>
          </p:nvSpPr>
          <p:spPr>
            <a:xfrm>
              <a:off x="7810500" y="1676400"/>
              <a:ext cx="3771900" cy="3790950"/>
            </a:xfrm>
            <a:prstGeom prst="roundRect">
              <a:avLst>
                <a:gd name="adj" fmla="val 45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06919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039100" y="2305050"/>
              <a:ext cx="331470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42554" y="253746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33054" y="28422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calculation="exact",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433054" y="314706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max_exact_nodes=19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42554" y="34518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42554" y="375666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result = model.fit(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433054" y="4042410"/>
              <a:ext cx="16205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X, y, method="kl")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070723" y="4682014"/>
              <a:ext cx="20031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检查：result.converged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071104" y="4918710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检查：result.mean_error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071104" y="5147310"/>
              <a:ext cx="25080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检查：result.correlation_error</a:t>
              </a:r>
            </a:p>
          </p:txBody>
        </p:sp>
      </p:grpSp>
      <p:grpSp>
        <p:nvGrpSpPr>
          <p:cNvPr id="44" name="p18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41" name="Line 41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19-header"/>
          <p:cNvGrpSpPr/>
          <p:nvPr/>
        </p:nvGrpSpPr>
        <p:grpSpPr>
          <a:xfrm>
            <a:off x="593598" y="556260"/>
            <a:ext cx="5645506" cy="881825"/>
            <a:chOff x="593598" y="556260"/>
            <a:chExt cx="564550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56455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Adam：更新公式与采样实现</a:t>
              </a:r>
            </a:p>
          </p:txBody>
        </p:sp>
      </p:grpSp>
      <p:grpSp>
        <p:nvGrpSpPr>
          <p:cNvPr id="16" name="p19-source"/>
          <p:cNvGrpSpPr/>
          <p:nvPr/>
        </p:nvGrpSpPr>
        <p:grpSpPr>
          <a:xfrm>
            <a:off x="609600" y="1676400"/>
            <a:ext cx="3048000" cy="3790950"/>
            <a:chOff x="609600" y="1676400"/>
            <a:chExt cx="3048000" cy="3790950"/>
          </a:xfrm>
        </p:grpSpPr>
        <p:sp>
          <p:nvSpPr>
            <p:cNvPr id="5" name="Rectangle 5"/>
            <p:cNvSpPr/>
            <p:nvPr/>
          </p:nvSpPr>
          <p:spPr>
            <a:xfrm>
              <a:off x="609600" y="1676400"/>
              <a:ext cx="3048000" cy="3790950"/>
            </a:xfrm>
            <a:prstGeom prst="roundRect">
              <a:avLst>
                <a:gd name="adj" fmla="val 5625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8299" y="19064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梯度从哪里来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9823" y="2319814"/>
              <a:ext cx="16510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Monte Carlo / Gibbs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9823" y="2605564"/>
              <a:ext cx="14862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估计模型 moments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2133600" y="2914650"/>
              <a:ext cx="9525" cy="285750"/>
            </a:xfrm>
            <a:custGeom>
              <a:avLst/>
              <a:gdLst/>
              <a:ahLst/>
              <a:cxnLst/>
              <a:rect l="l" t="t" r="r" b="b"/>
              <a:pathLst>
                <a:path w="9525" h="285750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838200" y="3200400"/>
              <a:ext cx="2590800" cy="895350"/>
            </a:xfrm>
            <a:prstGeom prst="roundRect">
              <a:avLst>
                <a:gd name="adj" fmla="val 12766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34480" y="3424714"/>
              <a:ext cx="1598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gₜ = momentsmodel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498178" y="3710464"/>
              <a:ext cx="12708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− momentsdata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9823" y="4377214"/>
              <a:ext cx="18567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采样导致 gₜ 带有噪声；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69823" y="4662964"/>
              <a:ext cx="238023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Adam 平滑更新，不改变目标。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5071110"/>
              <a:ext cx="11672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估计器 ≠ 优化器</a:t>
              </a:r>
            </a:p>
          </p:txBody>
        </p:sp>
      </p:grpSp>
      <p:grpSp>
        <p:nvGrpSpPr>
          <p:cNvPr id="26" name="p19-formula"/>
          <p:cNvGrpSpPr/>
          <p:nvPr/>
        </p:nvGrpSpPr>
        <p:grpSpPr>
          <a:xfrm>
            <a:off x="3878199" y="1792129"/>
            <a:ext cx="3494151" cy="3522821"/>
            <a:chOff x="3878199" y="1792129"/>
            <a:chExt cx="3494151" cy="3522821"/>
          </a:xfrm>
        </p:grpSpPr>
        <p:sp>
          <p:nvSpPr>
            <p:cNvPr id="17" name="TextBox 17"/>
            <p:cNvSpPr txBox="1"/>
            <p:nvPr/>
          </p:nvSpPr>
          <p:spPr>
            <a:xfrm>
              <a:off x="3878199" y="1792129"/>
              <a:ext cx="102381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Adam 更新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886200" y="2190750"/>
              <a:ext cx="3486150" cy="3124200"/>
            </a:xfrm>
            <a:prstGeom prst="roundRect">
              <a:avLst>
                <a:gd name="adj" fmla="val 548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144137" y="2461736"/>
              <a:ext cx="268031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mₜ = β₁mₜ₋₁ + (1−β₁)gₜ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46804" y="29756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一阶动量：梯度方向的平滑平均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44137" y="3452336"/>
              <a:ext cx="27150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720" dirty="0">
                  <a:solidFill>
                    <a:schemeClr val="accent1"/>
                  </a:solidFill>
                  <a:latin typeface="Cambria Math"/>
                  <a:ea typeface="Cambria Math"/>
                  <a:cs typeface="Cambria Math"/>
                </a:rPr>
                <a:t>vₜ = β₂vₜ₋₁ + (1−β₂)gₜ²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46804" y="3966210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二阶动量：梯度尺度的平滑平均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4152900" y="4362450"/>
              <a:ext cx="2952750" cy="9525"/>
            </a:xfrm>
            <a:custGeom>
              <a:avLst/>
              <a:gdLst/>
              <a:ahLst/>
              <a:cxnLst/>
              <a:rect l="l" t="t" r="r" b="b"/>
              <a:pathLst>
                <a:path w="2952750" h="9525">
                  <a:moveTo>
                    <a:pt x="0" y="0"/>
                  </a:moveTo>
                  <a:lnTo>
                    <a:pt x="29527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144518" y="4641532"/>
              <a:ext cx="271555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65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θₜ₊₁ = θₜ − α m̂ₜ/(√v̂ₜ+ε)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46804" y="501396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每个参数获得自适应步长</a:t>
              </a:r>
            </a:p>
          </p:txBody>
        </p:sp>
      </p:grpSp>
      <p:grpSp>
        <p:nvGrpSpPr>
          <p:cNvPr id="38" name="p19-implementation"/>
          <p:cNvGrpSpPr/>
          <p:nvPr/>
        </p:nvGrpSpPr>
        <p:grpSpPr>
          <a:xfrm>
            <a:off x="7600950" y="1676400"/>
            <a:ext cx="3981450" cy="3790950"/>
            <a:chOff x="7600950" y="1676400"/>
            <a:chExt cx="3981450" cy="3790950"/>
          </a:xfrm>
        </p:grpSpPr>
        <p:sp>
          <p:nvSpPr>
            <p:cNvPr id="27" name="Rectangle 27"/>
            <p:cNvSpPr/>
            <p:nvPr/>
          </p:nvSpPr>
          <p:spPr>
            <a:xfrm>
              <a:off x="7600950" y="1676400"/>
              <a:ext cx="3981450" cy="3790950"/>
            </a:xfrm>
            <a:prstGeom prst="roundRect">
              <a:avLst>
                <a:gd name="adj" fmla="val 452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859649" y="1906429"/>
              <a:ext cx="13312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Package 调用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829550" y="2305050"/>
              <a:ext cx="3524250" cy="2076450"/>
            </a:xfrm>
            <a:prstGeom prst="roundRect">
              <a:avLst>
                <a:gd name="adj" fmla="val 5505"/>
              </a:avLst>
            </a:prstGeom>
            <a:solidFill>
              <a:srgbClr val="0D292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33004" y="251841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223504" y="28232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calculation="monte_carlo",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23504" y="3128010"/>
              <a:ext cx="25888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mc_samples=4000, mc_chains=4,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23504" y="343281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learning_rate=0.01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033004" y="37376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D9F2E9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33004" y="4042410"/>
              <a:ext cx="26852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4A58F"/>
                  </a:solidFill>
                  <a:latin typeface="Consolas"/>
                  <a:ea typeface="Consolas"/>
                  <a:cs typeface="Consolas"/>
                </a:rPr>
                <a:t>model.fit(X, y, method="adam")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61173" y="4662964"/>
              <a:ext cx="26461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检查训练收敛 + Monte Carlo 诊断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61935" y="5003006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兼容公开代码的更新结构；编码与采样器不同。</a:t>
              </a:r>
            </a:p>
          </p:txBody>
        </p:sp>
      </p:grpSp>
      <p:grpSp>
        <p:nvGrpSpPr>
          <p:cNvPr id="42" name="p19-footer"/>
          <p:cNvGrpSpPr/>
          <p:nvPr/>
        </p:nvGrpSpPr>
        <p:grpSpPr>
          <a:xfrm>
            <a:off x="604266" y="6115050"/>
            <a:ext cx="10983468" cy="320611"/>
            <a:chOff x="604266" y="6115050"/>
            <a:chExt cx="10983468" cy="320611"/>
          </a:xfrm>
        </p:grpSpPr>
        <p:sp>
          <p:nvSpPr>
            <p:cNvPr id="39" name="Line 39"/>
            <p:cNvSpPr/>
            <p:nvPr/>
          </p:nvSpPr>
          <p:spPr>
            <a:xfrm>
              <a:off x="609600" y="61150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04266" y="6230302"/>
              <a:ext cx="20754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LEARNENERGY · 计算与训练方法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103540" y="6230302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 / 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0-header"/>
          <p:cNvGrpSpPr/>
          <p:nvPr/>
        </p:nvGrpSpPr>
        <p:grpSpPr>
          <a:xfrm>
            <a:off x="593598" y="556260"/>
            <a:ext cx="4960620" cy="881825"/>
            <a:chOff x="593598" y="556260"/>
            <a:chExt cx="496062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03 计算与训练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96062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计算路径与训练算法配置</a:t>
              </a:r>
            </a:p>
          </p:txBody>
        </p:sp>
      </p:grpSp>
      <p:grpSp>
        <p:nvGrpSpPr>
          <p:cNvPr id="36" name="p20-decision"/>
          <p:cNvGrpSpPr/>
          <p:nvPr/>
        </p:nvGrpSpPr>
        <p:grpSpPr>
          <a:xfrm>
            <a:off x="609600" y="1657350"/>
            <a:ext cx="10972800" cy="4038600"/>
            <a:chOff x="609600" y="1657350"/>
            <a:chExt cx="10972800" cy="4038600"/>
          </a:xfrm>
        </p:grpSpPr>
        <p:sp>
          <p:nvSpPr>
            <p:cNvPr id="5" name="Rectangle 5"/>
            <p:cNvSpPr/>
            <p:nvPr/>
          </p:nvSpPr>
          <p:spPr>
            <a:xfrm>
              <a:off x="609600" y="1714500"/>
              <a:ext cx="2381250" cy="8382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347597" y="20507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配置依据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2990850" y="2133600"/>
              <a:ext cx="1009650" cy="9525"/>
            </a:xfrm>
            <a:custGeom>
              <a:avLst/>
              <a:gdLst/>
              <a:ahLst/>
              <a:cxnLst/>
              <a:rect l="l" t="t" r="r" b="b"/>
              <a:pathLst>
                <a:path w="1009650" h="9525">
                  <a:moveTo>
                    <a:pt x="0" y="0"/>
                  </a:moveTo>
                  <a:lnTo>
                    <a:pt x="1009650" y="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4000500" y="1657350"/>
              <a:ext cx="3028950" cy="952500"/>
            </a:xfrm>
            <a:prstGeom prst="roundRect">
              <a:avLst>
                <a:gd name="adj" fmla="val 1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4259580" y="187642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小规模 / 数值基准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260342" y="2216468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节点数 ≤ max_exact_nodes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7029450" y="213360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715250" y="1657350"/>
              <a:ext cx="3867150" cy="9525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74330" y="1876425"/>
              <a:ext cx="29432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exact + kl / moment_matching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75092" y="2216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确定、透明、适合验证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1800225" y="2552700"/>
              <a:ext cx="9525" cy="857250"/>
            </a:xfrm>
            <a:custGeom>
              <a:avLst/>
              <a:gdLst/>
              <a:ahLst/>
              <a:cxnLst/>
              <a:rect l="l" t="t" r="r" b="b"/>
              <a:pathLst>
                <a:path w="9525" h="857250">
                  <a:moveTo>
                    <a:pt x="0" y="0"/>
                  </a:moveTo>
                  <a:lnTo>
                    <a:pt x="0" y="85725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09600" y="3409950"/>
              <a:ext cx="3028950" cy="952500"/>
            </a:xfrm>
            <a:prstGeom prst="roundRect">
              <a:avLst>
                <a:gd name="adj" fmla="val 140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8680" y="36290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规模更大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69442" y="3969068"/>
              <a:ext cx="14130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无法遍历 2ⁿ 状态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3638550" y="388620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3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24350" y="3409950"/>
              <a:ext cx="3867150" cy="9525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28575">
              <a:solidFill>
                <a:schemeClr val="accent3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83430" y="3629025"/>
              <a:ext cx="31956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monte_carlo + moment_matching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84192" y="3969068"/>
              <a:ext cx="25193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必须记录 R-hat / ESS / MCSE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800225" y="4362450"/>
              <a:ext cx="9525" cy="742950"/>
            </a:xfrm>
            <a:custGeom>
              <a:avLst/>
              <a:gdLst/>
              <a:ahLst/>
              <a:cxnLst/>
              <a:rect l="l" t="t" r="r" b="b"/>
              <a:pathLst>
                <a:path w="9525" h="742950">
                  <a:moveTo>
                    <a:pt x="0" y="0"/>
                  </a:moveTo>
                  <a:lnTo>
                    <a:pt x="0" y="742950"/>
                  </a:lnTo>
                </a:path>
              </a:pathLst>
            </a:custGeom>
            <a:noFill/>
            <a:ln w="38100">
              <a:solidFill>
                <a:schemeClr val="accent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09600" y="4914900"/>
              <a:ext cx="3028950" cy="781050"/>
            </a:xfrm>
            <a:prstGeom prst="roundRect">
              <a:avLst>
                <a:gd name="adj" fmla="val 170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8680" y="509587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对齐原始公开代码结构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9823" y="5405914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采样 + 自适应更新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638550" y="5305425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24350" y="4914900"/>
              <a:ext cx="3867150" cy="781050"/>
            </a:xfrm>
            <a:prstGeom prst="roundRect">
              <a:avLst>
                <a:gd name="adj" fmla="val 1707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83430" y="5229225"/>
              <a:ext cx="1943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monte_carlo + adam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572500" y="3219450"/>
              <a:ext cx="3009900" cy="2476500"/>
            </a:xfrm>
            <a:prstGeom prst="roundRect">
              <a:avLst>
                <a:gd name="adj" fmla="val 615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830818" y="346043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参数职责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31580" y="393382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calculation：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32342" y="4254818"/>
              <a:ext cx="21672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模型 moments 的计算路径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31580" y="4733925"/>
              <a:ext cx="9239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method：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32342" y="50549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模型参数的更新规则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604266" y="6516052"/>
            <a:ext cx="436427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15 / 25 · 本阶段输出：训练配置 + 拟合参数 → 下一阶段：解释与诊断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1-header"/>
          <p:cNvGrpSpPr/>
          <p:nvPr/>
        </p:nvGrpSpPr>
        <p:grpSpPr>
          <a:xfrm>
            <a:off x="593598" y="556260"/>
            <a:ext cx="4960620" cy="881825"/>
            <a:chOff x="593598" y="556260"/>
            <a:chExt cx="4960620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04 解释与诊断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96062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模型参数与有效交互诊断</a:t>
              </a:r>
            </a:p>
          </p:txBody>
        </p:sp>
      </p:grpSp>
      <p:grpSp>
        <p:nvGrpSpPr>
          <p:cNvPr id="30" name="p21-interpret"/>
          <p:cNvGrpSpPr/>
          <p:nvPr/>
        </p:nvGrpSpPr>
        <p:grpSpPr>
          <a:xfrm>
            <a:off x="609600" y="1752600"/>
            <a:ext cx="10972800" cy="4000500"/>
            <a:chOff x="609600" y="1752600"/>
            <a:chExt cx="10972800" cy="400050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3333750" cy="3333750"/>
            </a:xfrm>
            <a:prstGeom prst="roundRect">
              <a:avLst>
                <a:gd name="adj" fmla="val 51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745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参数层</a:t>
              </a:r>
            </a:p>
          </p:txBody>
        </p:sp>
        <p:sp>
          <p:nvSpPr>
            <p:cNvPr id="7" name="Ellipse 7"/>
            <p:cNvSpPr/>
            <p:nvPr/>
          </p:nvSpPr>
          <p:spPr>
            <a:xfrm>
              <a:off x="1162050" y="2914650"/>
              <a:ext cx="723900" cy="723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2647950" y="2362200"/>
              <a:ext cx="723900" cy="723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2590800" y="3733800"/>
              <a:ext cx="723900" cy="723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1809750" y="2857500"/>
              <a:ext cx="838200" cy="285750"/>
            </a:xfrm>
            <a:custGeom>
              <a:avLst/>
              <a:gdLst/>
              <a:ahLst/>
              <a:cxnLst/>
              <a:rect l="l" t="t" r="r" b="b"/>
              <a:pathLst>
                <a:path w="838200" h="285750">
                  <a:moveTo>
                    <a:pt x="0" y="285750"/>
                  </a:moveTo>
                  <a:lnTo>
                    <a:pt x="838200" y="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809750" y="3429000"/>
              <a:ext cx="800100" cy="514350"/>
            </a:xfrm>
            <a:custGeom>
              <a:avLst/>
              <a:gdLst/>
              <a:ahLst/>
              <a:cxnLst/>
              <a:rect l="l" t="t" r="r" b="b"/>
              <a:pathLst>
                <a:path w="800100" h="514350">
                  <a:moveTo>
                    <a:pt x="0" y="0"/>
                  </a:moveTo>
                  <a:lnTo>
                    <a:pt x="800100" y="51435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2971800" y="3086100"/>
              <a:ext cx="38100" cy="647700"/>
            </a:xfrm>
            <a:custGeom>
              <a:avLst/>
              <a:gdLst/>
              <a:ahLst/>
              <a:cxnLst/>
              <a:rect l="l" t="t" r="r" b="b"/>
              <a:pathLst>
                <a:path w="38100" h="647700">
                  <a:moveTo>
                    <a:pt x="38100" y="0"/>
                  </a:moveTo>
                  <a:lnTo>
                    <a:pt x="0" y="647700"/>
                  </a:lnTo>
                </a:path>
              </a:pathLst>
            </a:custGeom>
            <a:noFill/>
            <a:ln w="47625">
              <a:solidFill>
                <a:srgbClr val="5C6B6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442" y="4616768"/>
              <a:ext cx="265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h：节点倾向　J：pairwise 参数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943350" y="3429000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762500" y="1752600"/>
              <a:ext cx="6819900" cy="3333750"/>
            </a:xfrm>
            <a:prstGeom prst="roundRect">
              <a:avLst>
                <a:gd name="adj" fmla="val 514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020818" y="1974532"/>
              <a:ext cx="32893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诊断层 · Effective interaction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029200" y="2514600"/>
              <a:ext cx="2628900" cy="1409700"/>
            </a:xfrm>
            <a:prstGeom prst="roundRect">
              <a:avLst>
                <a:gd name="adj" fmla="val 810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33135" y="27527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原模型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9799" y="3207068"/>
              <a:ext cx="12677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节点 i 自由变化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82673" y="3530918"/>
              <a:ext cx="19219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outcome 有效场 / 概率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95260" y="3023235"/>
              <a:ext cx="240079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−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572500" y="2514600"/>
              <a:ext cx="2628900" cy="1409700"/>
            </a:xfrm>
            <a:prstGeom prst="roundRect">
              <a:avLst>
                <a:gd name="adj" fmla="val 8108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74505" y="27527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冻结节点后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980494" y="3207068"/>
              <a:ext cx="18129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节点 i 固定为参考状态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94079" y="3530918"/>
              <a:ext cx="15857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新的 outcome 响应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21580" y="4333875"/>
              <a:ext cx="34783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差值 ε 描述模型分布内部的条件变化。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22342" y="4692968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“冻结”不是现实干预，不能写成因果政策建议。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" y="5334000"/>
              <a:ext cx="10972800" cy="419100"/>
            </a:xfrm>
            <a:prstGeom prst="roundRect">
              <a:avLst>
                <a:gd name="adj" fmla="val 22727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722911" y="5464492"/>
              <a:ext cx="87461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论文路径：effective_interaction_report(calculation='monte_carlo')；小模型可用 exact 作数值基准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604266" y="6516052"/>
            <a:ext cx="347376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16 / 25 · 参数、条件概率与冻结诊断对应不同解释层级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2-header"/>
          <p:cNvGrpSpPr/>
          <p:nvPr/>
        </p:nvGrpSpPr>
        <p:grpSpPr>
          <a:xfrm>
            <a:off x="593598" y="556260"/>
            <a:ext cx="4064508" cy="881825"/>
            <a:chOff x="593598" y="556260"/>
            <a:chExt cx="406450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04 解释与诊断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06450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温度缩放与响应函数</a:t>
              </a:r>
            </a:p>
          </p:txBody>
        </p:sp>
      </p:grpSp>
      <p:grpSp>
        <p:nvGrpSpPr>
          <p:cNvPr id="28" name="p22-temperature"/>
          <p:cNvGrpSpPr/>
          <p:nvPr/>
        </p:nvGrpSpPr>
        <p:grpSpPr>
          <a:xfrm>
            <a:off x="609600" y="1752600"/>
            <a:ext cx="10972800" cy="3962400"/>
            <a:chOff x="609600" y="1752600"/>
            <a:chExt cx="10972800" cy="396240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10972800" cy="10668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3697723" y="1988820"/>
              <a:ext cx="47965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p_T(s) = exp[−E(s)/T] / Z(T)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060203" y="2445068"/>
              <a:ext cx="40715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 只是在重新缩放能量：低 T 更集中，高 T 更平坦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3143250"/>
              <a:ext cx="3143250" cy="1714500"/>
            </a:xfrm>
            <a:prstGeom prst="roundRect">
              <a:avLst>
                <a:gd name="adj" fmla="val 777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73982" y="3354229"/>
              <a:ext cx="10144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低温 T &lt; 1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66800" y="4267200"/>
              <a:ext cx="361950" cy="3238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581150" y="4000500"/>
              <a:ext cx="361950" cy="5905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95500" y="3638550"/>
              <a:ext cx="361950" cy="952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09850" y="4286250"/>
              <a:ext cx="361950" cy="304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4048125" y="3143250"/>
              <a:ext cx="3143250" cy="1714500"/>
            </a:xfrm>
            <a:prstGeom prst="roundRect">
              <a:avLst>
                <a:gd name="adj" fmla="val 777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06157" y="3354229"/>
              <a:ext cx="12271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原模型 T = 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05325" y="4171950"/>
              <a:ext cx="361950" cy="419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019675" y="3886200"/>
              <a:ext cx="361950" cy="7048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534025" y="3733800"/>
              <a:ext cx="361950" cy="857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048375" y="4095750"/>
              <a:ext cx="361950" cy="4953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486650" y="3143250"/>
              <a:ext cx="4095750" cy="1714500"/>
            </a:xfrm>
            <a:prstGeom prst="roundRect">
              <a:avLst>
                <a:gd name="adj" fmla="val 777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27282" y="3354229"/>
              <a:ext cx="101448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高温 T &gt; 1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96250" y="4000500"/>
              <a:ext cx="457200" cy="5905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8705850" y="3905250"/>
              <a:ext cx="457200" cy="685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9315450" y="3829050"/>
              <a:ext cx="4572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25050" y="3943350"/>
              <a:ext cx="457200" cy="647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09600" y="5162550"/>
              <a:ext cx="10972800" cy="552450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68680" y="5353050"/>
              <a:ext cx="7665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d〈E〉/dT 或 dm/dT 的峰值 = 模型最敏感区域；不自动等于真实系统发生物理相变。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04266" y="6516052"/>
            <a:ext cx="478833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17 / 25 · 本阶段输出：模型内解释 + 敏感性边界 → 下一阶段：连续变量模型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3-header"/>
          <p:cNvGrpSpPr/>
          <p:nvPr/>
        </p:nvGrpSpPr>
        <p:grpSpPr>
          <a:xfrm>
            <a:off x="593598" y="651510"/>
            <a:ext cx="6304788" cy="938975"/>
            <a:chOff x="593598" y="651510"/>
            <a:chExt cx="6304788" cy="93897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65151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05 连续模型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974408"/>
              <a:ext cx="63047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二值与连续联合模型的适用范围</a:t>
              </a:r>
            </a:p>
          </p:txBody>
        </p:sp>
      </p:grpSp>
      <p:grpSp>
        <p:nvGrpSpPr>
          <p:cNvPr id="25" name="p23-compare"/>
          <p:cNvGrpSpPr/>
          <p:nvPr/>
        </p:nvGrpSpPr>
        <p:grpSpPr>
          <a:xfrm>
            <a:off x="609600" y="2038350"/>
            <a:ext cx="10972800" cy="3848100"/>
            <a:chOff x="609600" y="2038350"/>
            <a:chExt cx="10972800" cy="3848100"/>
          </a:xfrm>
        </p:grpSpPr>
        <p:sp>
          <p:nvSpPr>
            <p:cNvPr id="5" name="Rectangle 5"/>
            <p:cNvSpPr/>
            <p:nvPr/>
          </p:nvSpPr>
          <p:spPr>
            <a:xfrm>
              <a:off x="609600" y="2038350"/>
              <a:ext cx="4953000" cy="3143250"/>
            </a:xfrm>
            <a:prstGeom prst="roundRect">
              <a:avLst>
                <a:gd name="adj" fmla="val 5455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156" y="22631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二值路径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3086100" y="2876550"/>
              <a:ext cx="9525" cy="1885950"/>
            </a:xfrm>
            <a:custGeom>
              <a:avLst/>
              <a:gdLst/>
              <a:ahLst/>
              <a:cxnLst/>
              <a:rect l="l" t="t" r="r" b="b"/>
              <a:pathLst>
                <a:path w="9525" h="1885950">
                  <a:moveTo>
                    <a:pt x="0" y="0"/>
                  </a:moveTo>
                  <a:lnTo>
                    <a:pt x="0" y="18859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1066800" y="3829050"/>
              <a:ext cx="4038600" cy="9525"/>
            </a:xfrm>
            <a:custGeom>
              <a:avLst/>
              <a:gdLst/>
              <a:ahLst/>
              <a:cxnLst/>
              <a:rect l="l" t="t" r="r" b="b"/>
              <a:pathLst>
                <a:path w="4038600" h="9525">
                  <a:moveTo>
                    <a:pt x="0" y="0"/>
                  </a:moveTo>
                  <a:lnTo>
                    <a:pt x="4038600" y="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457325" y="425767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1952625" y="3286125"/>
              <a:ext cx="133350" cy="1333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3686175" y="3114675"/>
              <a:ext cx="133350" cy="1333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4238625" y="4238625"/>
              <a:ext cx="133350" cy="1333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442" y="4864418"/>
              <a:ext cx="31395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保留“高/低、是/否”，失去连续距离。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19800" y="2038350"/>
              <a:ext cx="5562600" cy="3143250"/>
            </a:xfrm>
            <a:prstGeom prst="roundRect">
              <a:avLst>
                <a:gd name="adj" fmla="val 545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7356" y="2263140"/>
              <a:ext cx="2146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连续 Gaussian 路径</a:t>
              </a:r>
            </a:p>
          </p:txBody>
        </p:sp>
        <p:sp>
          <p:nvSpPr>
            <p:cNvPr id="16" name="Ellipse 16"/>
            <p:cNvSpPr/>
            <p:nvPr/>
          </p:nvSpPr>
          <p:spPr>
            <a:xfrm rot="-1200000">
              <a:off x="6838950" y="2914650"/>
              <a:ext cx="3886200" cy="1638300"/>
            </a:xfrm>
            <a:prstGeom prst="ellipse">
              <a:avLst/>
            </a:prstGeom>
            <a:noFill/>
            <a:ln w="47625">
              <a:solidFill>
                <a:schemeClr val="accent3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 rot="-1200000">
              <a:off x="7524750" y="3219450"/>
              <a:ext cx="2514600" cy="10287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7753350" y="40386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8324850" y="34671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8972550" y="379095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9639300" y="3276600"/>
              <a:ext cx="114300" cy="114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79642" y="4864418"/>
              <a:ext cx="40994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保留数值距离；假设联合分布近似单峰 Gaussian。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9600" y="5410200"/>
              <a:ext cx="10972800" cy="476250"/>
            </a:xfrm>
            <a:prstGeom prst="roundRect">
              <a:avLst>
                <a:gd name="adj" fmla="val 2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388679" y="5553075"/>
              <a:ext cx="74146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ContinuousEnergyModel 属于扩展模型族，与原论文二值模型采用不同分布假设。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04266" y="6516052"/>
            <a:ext cx="319106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18 / 25 · 模型选择依据为变量状态空间与分布假设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4-header"/>
          <p:cNvGrpSpPr/>
          <p:nvPr/>
        </p:nvGrpSpPr>
        <p:grpSpPr>
          <a:xfrm>
            <a:off x="593598" y="556260"/>
            <a:ext cx="4767596" cy="881825"/>
            <a:chOff x="593598" y="556260"/>
            <a:chExt cx="4767596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05 连续模型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6759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Gaussian 二次能量模型</a:t>
              </a:r>
            </a:p>
          </p:txBody>
        </p:sp>
      </p:grpSp>
      <p:grpSp>
        <p:nvGrpSpPr>
          <p:cNvPr id="24" name="p24-content"/>
          <p:cNvGrpSpPr/>
          <p:nvPr/>
        </p:nvGrpSpPr>
        <p:grpSpPr>
          <a:xfrm>
            <a:off x="609600" y="1752600"/>
            <a:ext cx="10972800" cy="3752850"/>
            <a:chOff x="609600" y="1752600"/>
            <a:chExt cx="10972800" cy="375285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4476750" cy="3752850"/>
            </a:xfrm>
            <a:prstGeom prst="roundRect">
              <a:avLst>
                <a:gd name="adj" fmla="val 45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 rot="-1440000">
              <a:off x="1304925" y="2667000"/>
              <a:ext cx="3086100" cy="1371600"/>
            </a:xfrm>
            <a:prstGeom prst="ellipse">
              <a:avLst/>
            </a:prstGeom>
            <a:solidFill>
              <a:schemeClr val="accent3">
                <a:alpha val="16000"/>
              </a:schemeClr>
            </a:solidFill>
            <a:ln w="38100">
              <a:solidFill>
                <a:schemeClr val="accent3">
                  <a:alpha val="16000"/>
                </a:schemeClr>
              </a:solidFill>
            </a:ln>
          </p:spPr>
        </p:sp>
        <p:sp>
          <p:nvSpPr>
            <p:cNvPr id="7" name="Ellipse 7"/>
            <p:cNvSpPr/>
            <p:nvPr/>
          </p:nvSpPr>
          <p:spPr>
            <a:xfrm rot="-1440000">
              <a:off x="1914525" y="2952750"/>
              <a:ext cx="1866900" cy="800100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762250" y="3267075"/>
              <a:ext cx="171450" cy="1714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3096006" y="3063240"/>
              <a:ext cx="15156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800" dirty="0">
                  <a:solidFill>
                    <a:schemeClr val="accent2"/>
                  </a:solidFill>
                  <a:latin typeface="Cambria Math"/>
                  <a:ea typeface="Cambria Math"/>
                  <a:cs typeface="Cambria Math"/>
                </a:rPr>
                <a:t>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061" y="4761071"/>
              <a:ext cx="29069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μ：椭圆中心　Σ：共同变化与尺度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467350" y="1752600"/>
              <a:ext cx="6115050" cy="1657350"/>
            </a:xfrm>
            <a:prstGeom prst="roundRect">
              <a:avLst>
                <a:gd name="adj" fmla="val 103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425413" y="2084070"/>
              <a:ext cx="419892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E(x) = ½xᵀKx − bᵀx + const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27925" y="2668905"/>
              <a:ext cx="2393899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chemeClr val="accent6"/>
                  </a:solidFill>
                  <a:latin typeface="Cambria Math"/>
                  <a:ea typeface="Microsoft YaHei"/>
                  <a:cs typeface="Cambria Math"/>
                </a:rPr>
                <a:t>K = Σ⁻¹　　b = Kμ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467350" y="3695700"/>
              <a:ext cx="2857500" cy="180975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725668" y="3917632"/>
              <a:ext cx="882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协方差 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26811" y="43229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变量如何共同变化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26811" y="4684871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决定椭圆方向和宽度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727192" y="5073968"/>
              <a:ext cx="18583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不是 interaction 矩阵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724900" y="3695700"/>
              <a:ext cx="2857500" cy="1809750"/>
            </a:xfrm>
            <a:prstGeom prst="roundRect">
              <a:avLst>
                <a:gd name="adj" fmla="val 736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83218" y="3917632"/>
              <a:ext cx="1104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精度矩阵 K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984361" y="4322921"/>
              <a:ext cx="9508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Σ 的逆矩阵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84361" y="468487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描述条件耦合结构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984742" y="5073968"/>
              <a:ext cx="23195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interactions = −K 非对角项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04266" y="6516052"/>
            <a:ext cx="484700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19 / 25 · ridge 给 Σ 增加对角正则；fit 是闭式估计，不是迭代神经网络训练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5-header"/>
          <p:cNvGrpSpPr/>
          <p:nvPr/>
        </p:nvGrpSpPr>
        <p:grpSpPr>
          <a:xfrm>
            <a:off x="593598" y="556260"/>
            <a:ext cx="4064508" cy="881825"/>
            <a:chOff x="593598" y="556260"/>
            <a:chExt cx="406450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05 连续模型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06450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条件均值与目标索引</a:t>
              </a:r>
            </a:p>
          </p:txBody>
        </p:sp>
      </p:grpSp>
      <p:grpSp>
        <p:nvGrpSpPr>
          <p:cNvPr id="26" name="p25-query"/>
          <p:cNvGrpSpPr/>
          <p:nvPr/>
        </p:nvGrpSpPr>
        <p:grpSpPr>
          <a:xfrm>
            <a:off x="609600" y="1752600"/>
            <a:ext cx="10972800" cy="3829050"/>
            <a:chOff x="609600" y="1752600"/>
            <a:chExt cx="10972800" cy="3829050"/>
          </a:xfrm>
        </p:grpSpPr>
        <p:sp>
          <p:nvSpPr>
            <p:cNvPr id="5" name="Rectangle 5"/>
            <p:cNvSpPr/>
            <p:nvPr/>
          </p:nvSpPr>
          <p:spPr>
            <a:xfrm>
              <a:off x="609600" y="1752600"/>
              <a:ext cx="4572000" cy="2286000"/>
            </a:xfrm>
            <a:prstGeom prst="roundRect">
              <a:avLst>
                <a:gd name="adj" fmla="val 750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7918" y="1993582"/>
              <a:ext cx="32597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一个联合模型，轮换不同 target</a:t>
              </a:r>
            </a:p>
          </p:txBody>
        </p:sp>
        <p:sp>
          <p:nvSpPr>
            <p:cNvPr id="7" name="Ellipse 7"/>
            <p:cNvSpPr/>
            <p:nvPr/>
          </p:nvSpPr>
          <p:spPr>
            <a:xfrm>
              <a:off x="1333500" y="2647950"/>
              <a:ext cx="876300" cy="8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3352800" y="2133600"/>
              <a:ext cx="876300" cy="8763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3238500" y="3124200"/>
              <a:ext cx="876300" cy="876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2152650" y="2686050"/>
              <a:ext cx="1219200" cy="285750"/>
            </a:xfrm>
            <a:custGeom>
              <a:avLst/>
              <a:gdLst/>
              <a:ahLst/>
              <a:cxnLst/>
              <a:rect l="l" t="t" r="r" b="b"/>
              <a:pathLst>
                <a:path w="1219200" h="285750">
                  <a:moveTo>
                    <a:pt x="0" y="285750"/>
                  </a:moveTo>
                  <a:lnTo>
                    <a:pt x="1219200" y="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2152650" y="3219450"/>
              <a:ext cx="1104900" cy="304800"/>
            </a:xfrm>
            <a:custGeom>
              <a:avLst/>
              <a:gdLst/>
              <a:ahLst/>
              <a:cxnLst/>
              <a:rect l="l" t="t" r="r" b="b"/>
              <a:pathLst>
                <a:path w="1104900" h="304800">
                  <a:moveTo>
                    <a:pt x="0" y="0"/>
                  </a:moveTo>
                  <a:lnTo>
                    <a:pt x="1104900" y="304800"/>
                  </a:lnTo>
                </a:path>
              </a:pathLst>
            </a:custGeom>
            <a:noFill/>
            <a:ln w="476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562100" y="30003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581400" y="24860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支持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467100" y="34766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成绩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562600" y="1752600"/>
              <a:ext cx="6019800" cy="2286000"/>
            </a:xfrm>
            <a:prstGeom prst="roundRect">
              <a:avLst>
                <a:gd name="adj" fmla="val 75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827996" y="2067401"/>
              <a:ext cx="148900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02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E[xₜ | x₋ₜ]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809498" y="2578894"/>
              <a:ext cx="3526005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880" dirty="0">
                  <a:solidFill>
                    <a:srgbClr val="FFFFFF"/>
                  </a:solidFill>
                  <a:latin typeface="Cambria Math"/>
                  <a:ea typeface="Cambria Math"/>
                  <a:cs typeface="Cambria Math"/>
                </a:rPr>
                <a:t>= μₜ − Kₜₜ⁻¹Kₜ,₋ₜ(x₋ₜ−μ₋ₜ)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898261" y="3160871"/>
              <a:ext cx="39332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target_index 选择 t；其他变量是已知条件。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98261" y="3522821"/>
              <a:ext cx="3063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values 中目标位置可以写 np.nan。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4362450"/>
              <a:ext cx="5257800" cy="1219200"/>
            </a:xfrm>
            <a:prstGeom prst="roundRect">
              <a:avLst>
                <a:gd name="adj" fmla="val 1093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918" y="4584382"/>
              <a:ext cx="20936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conditional_mean()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69061" y="4989671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计算给定其余变量时目标变量的条件期望。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24600" y="4362450"/>
              <a:ext cx="5257800" cy="1219200"/>
            </a:xfrm>
            <a:prstGeom prst="roundRect">
              <a:avLst>
                <a:gd name="adj" fmla="val 10938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82918" y="4584382"/>
              <a:ext cx="11051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sample(n)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84061" y="4989671"/>
              <a:ext cx="36051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从整个联合 Gaussian 分布生成模拟样本。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604266" y="6516052"/>
            <a:ext cx="481427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20 / 25 · 本阶段输出：连续联合模型 + 条件查询 → 下一阶段：Package 实现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6-header"/>
          <p:cNvGrpSpPr/>
          <p:nvPr/>
        </p:nvGrpSpPr>
        <p:grpSpPr>
          <a:xfrm>
            <a:off x="593598" y="556260"/>
            <a:ext cx="8171658" cy="881825"/>
            <a:chOff x="593598" y="556260"/>
            <a:chExt cx="817165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21250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06 PACKAGE 实现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817165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LearnEnergy 软件架构与模型 Artifact</a:t>
              </a:r>
            </a:p>
          </p:txBody>
        </p:sp>
      </p:grpSp>
      <p:grpSp>
        <p:nvGrpSpPr>
          <p:cNvPr id="22" name="p26-stack"/>
          <p:cNvGrpSpPr/>
          <p:nvPr/>
        </p:nvGrpSpPr>
        <p:grpSpPr>
          <a:xfrm>
            <a:off x="609600" y="1695450"/>
            <a:ext cx="10972800" cy="4114800"/>
            <a:chOff x="609600" y="1695450"/>
            <a:chExt cx="10972800" cy="4114800"/>
          </a:xfrm>
        </p:grpSpPr>
        <p:sp>
          <p:nvSpPr>
            <p:cNvPr id="5" name="Rectangle 5"/>
            <p:cNvSpPr/>
            <p:nvPr/>
          </p:nvSpPr>
          <p:spPr>
            <a:xfrm>
              <a:off x="609600" y="1695450"/>
              <a:ext cx="10972800" cy="781050"/>
            </a:xfrm>
            <a:prstGeom prst="roundRect">
              <a:avLst>
                <a:gd name="adj" fmla="val 170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69442" y="1892618"/>
              <a:ext cx="9258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PUBLIC API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67918" y="2145982"/>
              <a:ext cx="90573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LearningModel　·　ContinuousEnergyModel　·　fit / analyze / predict / save / load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64795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68299" y="2858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数据契约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9061" y="3218021"/>
              <a:ext cx="46475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DataConfig · BinaryPreprocessor · feature order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324600" y="264795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583299" y="2858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计算组件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84061" y="3218021"/>
              <a:ext cx="41885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exact enumerator · Gibbs sampler · trainers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609600" y="392430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68299" y="413527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结果与可视化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9061" y="4494371"/>
              <a:ext cx="46276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FitResult · AnalysisResult · diagnostics · figures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6324600" y="3924300"/>
              <a:ext cx="5257800" cy="1104900"/>
            </a:xfrm>
            <a:prstGeom prst="roundRect">
              <a:avLst>
                <a:gd name="adj" fmla="val 12069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83299" y="4135279"/>
              <a:ext cx="138791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 artifact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84061" y="4494371"/>
              <a:ext cx="33789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参数 + 预处理 + 元数据 + package 版本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" y="5257800"/>
              <a:ext cx="10972800" cy="552450"/>
            </a:xfrm>
            <a:prstGeom prst="roundRect">
              <a:avLst>
                <a:gd name="adj" fmla="val 2069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708883" y="5448300"/>
              <a:ext cx="6774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.pt 是 PyTorch 序列化模型文件；保存模型状态，不保存原始训练数据行。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04266" y="6516052"/>
            <a:ext cx="41805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21 / 25 · 封装重点：可重复的预处理、显式计算路径和可审计诊断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7-header"/>
          <p:cNvGrpSpPr/>
          <p:nvPr/>
        </p:nvGrpSpPr>
        <p:grpSpPr>
          <a:xfrm>
            <a:off x="593598" y="556260"/>
            <a:ext cx="4704588" cy="881825"/>
            <a:chOff x="593598" y="556260"/>
            <a:chExt cx="47045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21250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06 PACKAGE 实现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045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二值模型 API 调用流程</a:t>
              </a:r>
            </a:p>
          </p:txBody>
        </p:sp>
      </p:grpSp>
      <p:grpSp>
        <p:nvGrpSpPr>
          <p:cNvPr id="19" name="p27-code"/>
          <p:cNvGrpSpPr/>
          <p:nvPr/>
        </p:nvGrpSpPr>
        <p:grpSpPr>
          <a:xfrm>
            <a:off x="609600" y="1657350"/>
            <a:ext cx="7429500" cy="4305300"/>
            <a:chOff x="609600" y="1657350"/>
            <a:chExt cx="74295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657350"/>
              <a:ext cx="7429500" cy="4305300"/>
            </a:xfrm>
            <a:prstGeom prst="roundRect">
              <a:avLst>
                <a:gd name="adj" fmla="val 354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870710"/>
              <a:ext cx="43882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from learnenergy import DataConfig, LearningModel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70204" y="2213610"/>
              <a:ext cx="15357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cfg = DataConfig(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98804" y="2480310"/>
              <a:ext cx="4137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feature_names=features, target_name="PV1SCIE",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804" y="2747010"/>
              <a:ext cx="47212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normalization="zscore", threshold_method="paper_std",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0204" y="30137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0204" y="3356610"/>
              <a:ext cx="19791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 = LearningModel(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98804" y="3623310"/>
              <a:ext cx="32996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data_config=cfg, calculation="exact",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98804" y="3890010"/>
              <a:ext cx="2411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max_exact_nodes=19, seed=7,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70204" y="415671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4499610"/>
              <a:ext cx="30412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fit = model.fit(X, y, method="kl")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0204" y="4842510"/>
              <a:ext cx="23222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analysis = model.analyze()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0204" y="5109210"/>
              <a:ext cx="409925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effects = model.effective_interaction_report()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0204" y="5452110"/>
              <a:ext cx="25888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model.save("pisa-science.pt")</a:t>
              </a:r>
            </a:p>
          </p:txBody>
        </p:sp>
      </p:grpSp>
      <p:grpSp>
        <p:nvGrpSpPr>
          <p:cNvPr id="32" name="p27-steps"/>
          <p:cNvGrpSpPr/>
          <p:nvPr/>
        </p:nvGrpSpPr>
        <p:grpSpPr>
          <a:xfrm>
            <a:off x="8354949" y="1715929"/>
            <a:ext cx="3227451" cy="4246721"/>
            <a:chOff x="8354949" y="1715929"/>
            <a:chExt cx="3227451" cy="4246721"/>
          </a:xfrm>
        </p:grpSpPr>
        <p:sp>
          <p:nvSpPr>
            <p:cNvPr id="20" name="TextBox 20"/>
            <p:cNvSpPr txBox="1"/>
            <p:nvPr/>
          </p:nvSpPr>
          <p:spPr>
            <a:xfrm>
              <a:off x="8354949" y="17159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实现要求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5711" y="217027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　固定列顺序与 target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5711" y="2570321"/>
              <a:ext cx="20312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　显式记录二值化策略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55711" y="297037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　显式记录 calculation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55711" y="3370421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　记录 method 与 seed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55711" y="3770471"/>
              <a:ext cx="16488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　诊断通过后解释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362950" y="4362450"/>
              <a:ext cx="3219450" cy="933450"/>
            </a:xfrm>
            <a:prstGeom prst="roundRect">
              <a:avLst>
                <a:gd name="adj" fmla="val 12245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584692" y="45596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公开代码兼容路径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585454" y="489966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monte_carlo + adam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362950" y="5524500"/>
              <a:ext cx="3219450" cy="438150"/>
              <a:chOff x="8362950" y="5524500"/>
              <a:chExt cx="3219450" cy="438150"/>
            </a:xfrm>
          </p:grpSpPr>
          <p:sp>
            <p:nvSpPr>
              <p:cNvPr id="29" name="Rectangle 29">
                <a:hlinkClick r:id="rId2"/>
              </p:cNvPr>
              <p:cNvSpPr/>
              <p:nvPr/>
            </p:nvSpPr>
            <p:spPr>
              <a:xfrm>
                <a:off x="8362950" y="5524500"/>
                <a:ext cx="3219450" cy="438150"/>
              </a:xfrm>
              <a:prstGeom prst="roundRect">
                <a:avLst>
                  <a:gd name="adj" fmla="val 21739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30" name="TextBox 30">
                <a:hlinkClick r:id="rId2"/>
              </p:cNvPr>
              <p:cNvSpPr txBox="1"/>
              <p:nvPr/>
            </p:nvSpPr>
            <p:spPr>
              <a:xfrm>
                <a:off x="9101034" y="5664518"/>
                <a:ext cx="1743282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GitHub repository ↗</a:t>
                </a:r>
              </a:p>
            </p:txBody>
          </p:sp>
        </p:grpSp>
      </p:grpSp>
      <p:sp>
        <p:nvSpPr>
          <p:cNvPr id="33" name="TextBox 33"/>
          <p:cNvSpPr txBox="1"/>
          <p:nvPr/>
        </p:nvSpPr>
        <p:spPr>
          <a:xfrm>
            <a:off x="604266" y="6516052"/>
            <a:ext cx="460457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22 / 25 · 科研调用应显式记录计算路径、训练方法、随机种子和阈值策略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8-header"/>
          <p:cNvGrpSpPr/>
          <p:nvPr/>
        </p:nvGrpSpPr>
        <p:grpSpPr>
          <a:xfrm>
            <a:off x="593598" y="556260"/>
            <a:ext cx="4704588" cy="881825"/>
            <a:chOff x="593598" y="556260"/>
            <a:chExt cx="4704588" cy="88182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56260"/>
              <a:ext cx="21250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06 PACKAGE 实现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822008"/>
              <a:ext cx="47045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连续模型 API 调用流程</a:t>
              </a:r>
            </a:p>
          </p:txBody>
        </p:sp>
      </p:grpSp>
      <p:grpSp>
        <p:nvGrpSpPr>
          <p:cNvPr id="18" name="p28-code"/>
          <p:cNvGrpSpPr/>
          <p:nvPr/>
        </p:nvGrpSpPr>
        <p:grpSpPr>
          <a:xfrm>
            <a:off x="609600" y="1657350"/>
            <a:ext cx="7143750" cy="4305300"/>
            <a:chOff x="609600" y="1657350"/>
            <a:chExt cx="714375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657350"/>
              <a:ext cx="7143750" cy="4305300"/>
            </a:xfrm>
            <a:prstGeom prst="roundRect">
              <a:avLst>
                <a:gd name="adj" fmla="val 354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70204" y="1870710"/>
              <a:ext cx="16114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import numpy as np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70204" y="2156460"/>
              <a:ext cx="40265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6"/>
                  </a:solidFill>
                  <a:latin typeface="Consolas"/>
                  <a:ea typeface="Consolas"/>
                  <a:cs typeface="Consolas"/>
                </a:rPr>
                <a:t>from learnenergy import ContinuousEnergyModel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70204" y="2594610"/>
              <a:ext cx="26950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model = ContinuousEnergyModel(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8804" y="2880360"/>
              <a:ext cx="42769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feature_names=("resources", "support", "score"),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8804" y="3166110"/>
              <a:ext cx="170032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ridge=1e-6, seed=7,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0204" y="34518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70204" y="3870960"/>
              <a:ext cx="20618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model.fit(X_continuous)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0204" y="4290060"/>
              <a:ext cx="31219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score_hat = model.conditional_mean(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98804" y="4575810"/>
              <a:ext cx="30330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[0.8, 0.4, np.nan], target_index=2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0204" y="486156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0204" y="5280660"/>
              <a:ext cx="26776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simulated = model.sample(1000)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0204" y="5566410"/>
              <a:ext cx="29442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model.save("continuous-model.pt")</a:t>
              </a:r>
            </a:p>
          </p:txBody>
        </p:sp>
      </p:grpSp>
      <p:grpSp>
        <p:nvGrpSpPr>
          <p:cNvPr id="30" name="p28-notes"/>
          <p:cNvGrpSpPr/>
          <p:nvPr/>
        </p:nvGrpSpPr>
        <p:grpSpPr>
          <a:xfrm>
            <a:off x="8096250" y="1657350"/>
            <a:ext cx="3486150" cy="4305300"/>
            <a:chOff x="8096250" y="1657350"/>
            <a:chExt cx="3486150" cy="4305300"/>
          </a:xfrm>
        </p:grpSpPr>
        <p:sp>
          <p:nvSpPr>
            <p:cNvPr id="19" name="Rectangle 19"/>
            <p:cNvSpPr/>
            <p:nvPr/>
          </p:nvSpPr>
          <p:spPr>
            <a:xfrm>
              <a:off x="8096250" y="1657350"/>
              <a:ext cx="3486150" cy="1524000"/>
            </a:xfrm>
            <a:prstGeom prst="roundRect">
              <a:avLst>
                <a:gd name="adj" fmla="val 8750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54949" y="188737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接口语义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092" y="2311718"/>
              <a:ext cx="19310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没有固定 target_name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6092" y="2635568"/>
              <a:ext cx="21309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target_index 是查询参数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96250" y="3429000"/>
              <a:ext cx="3486150" cy="1428750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54949" y="3659029"/>
              <a:ext cx="8668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适用边界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56092" y="4083368"/>
              <a:ext cx="24638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联合 Gaussian、连续、近线性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56092" y="4407218"/>
              <a:ext cx="23308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不覆盖非线性与 mixed-node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8096250" y="5200650"/>
              <a:ext cx="3486150" cy="762000"/>
              <a:chOff x="8096250" y="5200650"/>
              <a:chExt cx="3486150" cy="762000"/>
            </a:xfrm>
          </p:grpSpPr>
          <p:sp>
            <p:nvSpPr>
              <p:cNvPr id="27" name="Rectangle 27">
                <a:hlinkClick r:id="rId2"/>
              </p:cNvPr>
              <p:cNvSpPr/>
              <p:nvPr/>
            </p:nvSpPr>
            <p:spPr>
              <a:xfrm>
                <a:off x="8096250" y="5200650"/>
                <a:ext cx="3486150" cy="762000"/>
              </a:xfrm>
              <a:prstGeom prst="roundRect">
                <a:avLst>
                  <a:gd name="adj" fmla="val 15000"/>
                </a:avLst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8" name="TextBox 28">
                <a:hlinkClick r:id="rId2"/>
              </p:cNvPr>
              <p:cNvSpPr txBox="1"/>
              <p:nvPr/>
            </p:nvSpPr>
            <p:spPr>
              <a:xfrm>
                <a:off x="8672292" y="5504021"/>
                <a:ext cx="233406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420" dirty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rPr>
                  <a:t>Package documentation ↗</a:t>
                </a:r>
              </a:p>
            </p:txBody>
          </p:sp>
        </p:grpSp>
      </p:grpSp>
      <p:sp>
        <p:nvSpPr>
          <p:cNvPr id="31" name="TextBox 31"/>
          <p:cNvSpPr txBox="1"/>
          <p:nvPr/>
        </p:nvSpPr>
        <p:spPr>
          <a:xfrm>
            <a:off x="604266" y="6516052"/>
            <a:ext cx="471058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23 / 25 · 本阶段输出：可复用调用 + 模型 artifact → 下一阶段：复现验证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29-header"/>
          <p:cNvGrpSpPr/>
          <p:nvPr/>
        </p:nvGrpSpPr>
        <p:grpSpPr>
          <a:xfrm>
            <a:off x="594741" y="518160"/>
            <a:ext cx="7409434" cy="843058"/>
            <a:chOff x="594741" y="518160"/>
            <a:chExt cx="7409434" cy="843058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181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07 复现验证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4741" y="789146"/>
              <a:ext cx="7409434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92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PISA 2018 复现：矩一致性与高阶误差</a:t>
              </a:r>
            </a:p>
          </p:txBody>
        </p:sp>
      </p:grpSp>
      <p:grpSp>
        <p:nvGrpSpPr>
          <p:cNvPr id="9" name="p29-evidence"/>
          <p:cNvGrpSpPr/>
          <p:nvPr/>
        </p:nvGrpSpPr>
        <p:grpSpPr>
          <a:xfrm>
            <a:off x="609600" y="1371600"/>
            <a:ext cx="7429500" cy="4610100"/>
            <a:chOff x="609600" y="1371600"/>
            <a:chExt cx="7429500" cy="4610100"/>
          </a:xfrm>
        </p:grpSpPr>
        <p:sp>
          <p:nvSpPr>
            <p:cNvPr id="5" name="Rectangle 5"/>
            <p:cNvSpPr/>
            <p:nvPr/>
          </p:nvSpPr>
          <p:spPr>
            <a:xfrm>
              <a:off x="609600" y="1371600"/>
              <a:ext cx="7429500" cy="219075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24075" y="1466850"/>
              <a:ext cx="4400550" cy="200025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609600" y="3790950"/>
              <a:ext cx="7429500" cy="219075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4075" y="3886200"/>
              <a:ext cx="4400550" cy="2000250"/>
            </a:xfrm>
            <a:prstGeom prst="rect">
              <a:avLst/>
            </a:prstGeom>
          </p:spPr>
        </p:pic>
      </p:grpSp>
      <p:grpSp>
        <p:nvGrpSpPr>
          <p:cNvPr id="24" name="p29-metrics"/>
          <p:cNvGrpSpPr/>
          <p:nvPr/>
        </p:nvGrpSpPr>
        <p:grpSpPr>
          <a:xfrm>
            <a:off x="8355330" y="1514475"/>
            <a:ext cx="3227070" cy="4591431"/>
            <a:chOff x="8355330" y="1514475"/>
            <a:chExt cx="3227070" cy="4591431"/>
          </a:xfrm>
        </p:grpSpPr>
        <p:sp>
          <p:nvSpPr>
            <p:cNvPr id="10" name="TextBox 10"/>
            <p:cNvSpPr txBox="1"/>
            <p:nvPr/>
          </p:nvSpPr>
          <p:spPr>
            <a:xfrm>
              <a:off x="8355330" y="15144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实验协议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56473" y="1862614"/>
              <a:ext cx="21410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5 economies × 3 outcomes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56473" y="21293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× 16 repeats = 240 fits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56473" y="2396014"/>
              <a:ext cx="18911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每次 1,200 行 · 19 节点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62950" y="2800350"/>
              <a:ext cx="3219450" cy="876300"/>
            </a:xfrm>
            <a:prstGeom prst="roundRect">
              <a:avLst>
                <a:gd name="adj" fmla="val 1304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585073" y="3005614"/>
              <a:ext cx="11329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收敛标准 1e−3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80120" y="3243262"/>
              <a:ext cx="137074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234 / 240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362950" y="3848100"/>
              <a:ext cx="3219450" cy="876300"/>
            </a:xfrm>
            <a:prstGeom prst="roundRect">
              <a:avLst>
                <a:gd name="adj" fmla="val 1304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85073" y="4034314"/>
              <a:ext cx="12557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MC diagnostics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580120" y="4271962"/>
              <a:ext cx="1370743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285 / 285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6092" y="495966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三阶：r = 0.97978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092" y="524541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四阶：r = 0.93379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56854" y="5642610"/>
              <a:ext cx="208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高阶 moments 未参与训练，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56854" y="587121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因此构成更严格的结构检验。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04266" y="6516052"/>
            <a:ext cx="442081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24 / 25 · 一二阶 moments 是训练目标；三四阶 moments 是外部验证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30-header"/>
          <p:cNvGrpSpPr/>
          <p:nvPr/>
        </p:nvGrpSpPr>
        <p:grpSpPr>
          <a:xfrm>
            <a:off x="595122" y="518160"/>
            <a:ext cx="4893564" cy="836485"/>
            <a:chOff x="595122" y="518160"/>
            <a:chExt cx="4893564" cy="836485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518160"/>
              <a:ext cx="171648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技术主线 · 07 复现验证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5122" y="797242"/>
              <a:ext cx="489356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模型训练、验证与复用流程</a:t>
              </a:r>
            </a:p>
          </p:txBody>
        </p:sp>
      </p:grpSp>
      <p:grpSp>
        <p:nvGrpSpPr>
          <p:cNvPr id="9" name="p30-evidence"/>
          <p:cNvGrpSpPr/>
          <p:nvPr/>
        </p:nvGrpSpPr>
        <p:grpSpPr>
          <a:xfrm>
            <a:off x="609600" y="1409700"/>
            <a:ext cx="6858000" cy="4305300"/>
            <a:chOff x="609600" y="1409700"/>
            <a:chExt cx="68580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409700"/>
              <a:ext cx="6858000" cy="1962150"/>
            </a:xfrm>
            <a:prstGeom prst="roundRect">
              <a:avLst>
                <a:gd name="adj" fmla="val 4854"/>
              </a:avLst>
            </a:prstGeom>
            <a:solidFill>
              <a:srgbClr val="FFFFFF"/>
            </a:solidFill>
            <a:ln>
              <a:noFill/>
            </a:ln>
          </p:spPr>
        </p:sp>
        <p:pic>
          <p:nvPicPr>
            <p:cNvPr id="6" name="Imag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07671" y="1504950"/>
              <a:ext cx="5061857" cy="1771650"/>
            </a:xfrm>
            <a:prstGeom prst="rect">
              <a:avLst/>
            </a:prstGeom>
          </p:spPr>
        </p:pic>
        <p:sp>
          <p:nvSpPr>
            <p:cNvPr id="7" name="Rectangle 7"/>
            <p:cNvSpPr/>
            <p:nvPr/>
          </p:nvSpPr>
          <p:spPr>
            <a:xfrm>
              <a:off x="609600" y="3619500"/>
              <a:ext cx="6858000" cy="2095500"/>
            </a:xfrm>
            <a:prstGeom prst="roundRect">
              <a:avLst>
                <a:gd name="adj" fmla="val 4545"/>
              </a:avLst>
            </a:prstGeom>
            <a:solidFill>
              <a:srgbClr val="FFFFFF"/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98600" y="3714750"/>
              <a:ext cx="5080000" cy="1905000"/>
            </a:xfrm>
            <a:prstGeom prst="rect">
              <a:avLst/>
            </a:prstGeom>
          </p:spPr>
        </p:pic>
      </p:grpSp>
      <p:grpSp>
        <p:nvGrpSpPr>
          <p:cNvPr id="23" name="p30-summary"/>
          <p:cNvGrpSpPr/>
          <p:nvPr/>
        </p:nvGrpSpPr>
        <p:grpSpPr>
          <a:xfrm>
            <a:off x="7840980" y="1590675"/>
            <a:ext cx="3741420" cy="4090226"/>
            <a:chOff x="7840980" y="1590675"/>
            <a:chExt cx="3741420" cy="4090226"/>
          </a:xfrm>
        </p:grpSpPr>
        <p:sp>
          <p:nvSpPr>
            <p:cNvPr id="10" name="TextBox 10"/>
            <p:cNvSpPr txBox="1"/>
            <p:nvPr/>
          </p:nvSpPr>
          <p:spPr>
            <a:xfrm>
              <a:off x="7840980" y="15906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建模流程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42123" y="1900714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　概率表示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42123" y="2243614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　模型定义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842123" y="2586514"/>
              <a:ext cx="1236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　计算与训练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842123" y="2929414"/>
              <a:ext cx="12363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　解释与诊断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42123" y="3272314"/>
              <a:ext cx="1408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　连续模型扩展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42123" y="3615214"/>
              <a:ext cx="23794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　Package 实现与 artifact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42123" y="3958114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　复现验证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848600" y="4171950"/>
              <a:ext cx="3733800" cy="9525"/>
            </a:xfrm>
            <a:custGeom>
              <a:avLst/>
              <a:gdLst/>
              <a:ahLst/>
              <a:cxnLst/>
              <a:rect l="l" t="t" r="r" b="b"/>
              <a:pathLst>
                <a:path w="3733800" h="9525">
                  <a:moveTo>
                    <a:pt x="0" y="0"/>
                  </a:moveTo>
                  <a:lnTo>
                    <a:pt x="3733800" y="0"/>
                  </a:lnTo>
                </a:path>
              </a:pathLst>
            </a:custGeom>
            <a:noFill/>
            <a:ln w="19050">
              <a:solidFill>
                <a:srgbClr val="5C6B6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841742" y="4445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二值模型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41742" y="4731068"/>
              <a:ext cx="26852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状态组合的概率与 pairwise 结构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41742" y="51311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连续模型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1742" y="54168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连续变量的共同变化与条件均值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604266" y="6516052"/>
            <a:ext cx="37564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25 / 25 · 结论解释以收敛、采样诊断和复现验证通过为前提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earnenergy-foundations-deck">
  <a:themeElements>
    <a:clrScheme name="learnenergy-foundations-deck">
      <a:dk1>
        <a:srgbClr val="18211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5C6B66"/>
      </a:accent5>
      <a:accent6>
        <a:srgbClr val="B8C9C3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earnenergy-foundations-deck">
  <a:themeElements>
    <a:clrScheme name="learnenergy-foundations-deck">
      <a:dk1>
        <a:srgbClr val="18211E"/>
      </a:dk1>
      <a:lt1>
        <a:srgbClr val="F7F7F2"/>
      </a:lt1>
      <a:dk2>
        <a:srgbClr val="1F497D"/>
      </a:dk2>
      <a:lt2>
        <a:srgbClr val="E5F0EC"/>
      </a:lt2>
      <a:accent1>
        <a:srgbClr val="12372E"/>
      </a:accent1>
      <a:accent2>
        <a:srgbClr val="E85D3F"/>
      </a:accent2>
      <a:accent3>
        <a:srgbClr val="2A9D8F"/>
      </a:accent3>
      <a:accent4>
        <a:srgbClr val="12372E"/>
      </a:accent4>
      <a:accent5>
        <a:srgbClr val="5C6B66"/>
      </a:accent5>
      <a:accent6>
        <a:srgbClr val="B8C9C3"/>
      </a:accent6>
      <a:hlink>
        <a:srgbClr val="E85D3F"/>
      </a:hlink>
      <a:folHlink>
        <a:srgbClr val="2A9D8F"/>
      </a:folHlink>
    </a:clrScheme>
    <a:fontScheme name="learnenergy-foundations-deck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earnenergy-foundations-de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2026-09-22T11:16:03Z</dcterms:created>
  <dcterms:modified xsi:type="dcterms:W3CDTF">2026-09-22T11:16:03Z</dcterms:modified>
  <cp:category/>
  <cp:contentStatus/>
</cp:coreProperties>
</file>