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notesMasterIdLst>
    <p:notesMasterId r:id="rId37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  <Relationship Id="rId37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pPr/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zh-CN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_rels/notesSlide1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7.xml"/>
</Relationships>
</file>

<file path=ppt/notesSlides/_rels/notesSlide1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8.xml"/>
</Relationships>
</file>

<file path=ppt/notesSlides/_rels/notesSlide1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9.xml"/>
</Relationships>
</file>

<file path=ppt/notesSlides/_rels/notesSlide2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0.xml"/>
</Relationships>
</file>

<file path=ppt/notesSlides/_rels/notesSlide2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1.xml"/>
</Relationships>
</file>

<file path=ppt/notesSlides/_rels/notesSlide2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2.xml"/>
</Relationships>
</file>

<file path=ppt/notesSlides/_rels/notesSlide2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3.xml"/>
</Relationships>
</file>

<file path=ppt/notesSlides/_rels/notesSlide2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4.xml"/>
</Relationships>
</file>

<file path=ppt/notesSlides/_rels/notesSlide2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5.xml"/>
</Relationships>
</file>

<file path=ppt/notesSlides/_rels/notesSlide2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6.xml"/>
</Relationships>
</file>

<file path=ppt/notesSlides/_rels/notesSlide2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7.xml"/>
</Relationships>
</file>

<file path=ppt/notesSlides/_rels/notesSlide2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8.xml"/>
</Relationships>
</file>

<file path=ppt/notesSlides/_rels/notesSlide2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9.xml"/>
</Relationships>
</file>

<file path=ppt/notesSlides/_rels/notesSlide3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0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本报告介绍 learnenergy 的统计模型、计算方法与软件封装。项目关注的不是单个变量的孤立预测，而是资源、支持、成绩等多个变量共同出现的概率结构。全篇沿统一技术链推进：概率表示、模型定义、计算与训练、解释与诊断、连续模型扩展、Package 实现和复现验证。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全篇只沿一条技术链推进。第一阶段建立联合、边缘与条件概率的表示语言；第二阶段把状态空间写成能量函数、概率分布与 moments 约束；第三阶段选择 exact 或 Monte Carlo 计算模型 moments，并用 moment matching、KL 或 Adam 更新参数；第四阶段在收敛和采样质量通过后解释参数及敏感性；第五阶段把同一联合建模思想扩展到连续 Gaussian 模型；第六阶段将配置、训练、诊断与保存固化为 package 接口；第七阶段以 PISA 复现实验检验整条链。后续页眉中的阶段编号与本页完全对应。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概率模型首先规定随机变量的可能状态，再为每个状态分配非负权重。以二值变量 X 为例，零和一的概率分别为零点三和零点七。所有互斥状态的概率之和必须等于一，这一归一化条件贯穿后续模型。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联合概率同时描述两个变量的取值，因此包含变量关系。对联合表的一行或一列求和可以得到边缘概率；在给定一个变量后对相关区域重新归一化，可以得到条件概率。高维能量模型可以看作二维联合表向更多变量的推广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相关性只描述两个量共同变化，不能区分直接关系与共同关联。条件依赖进一步描述在其他节点给定后的剩余统计关系。因果结论还需要实验设计或额外识别假设，因此模型参数 J 和节点冻结结果都限定为拟合分布内部的解释。本阶段的输出是概率关系语言和解释边界，下一阶段据此定义能量模型。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统计能量是对完整状态的打分函数，而不是物理测量。状态能量经过负指数转换为未归一化权重，能量越低，权重越大。配分函数 Z 汇总所有状态权重并完成归一化，从而得到联合概率。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二值模型把每一行数据表示为零一状态向量，特征和 outcome 都是联合状态中的节点。列顺序决定参数与变量的对应关系，因此必须固定并写入模型文件。十九个节点产生五十二万四千二百八十八个可能状态。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数据直接提供一阶频率和二阶共同出现频率，但满足这些约束的联合分布可能不止一个。最大熵原则选择其中熵最大的分布，以避免对未约束结构做额外假设。对一阶和二阶约束应用这一原则，就得到 pairwise energy 形式。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能量函数由局部项和交互项构成。状态向量 s 表示当前完整配置，h 控制单个节点的倾向，J 控制两个节点同时为一时的成对贡献。求和范围使用 i 小于 j，避免重复计数；J 为对称矩阵且对角线为零。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模型先计算每个状态的能量，再将负能量指数化为相对权重。配分函数 Z 是全部状态权重之和，每个权重除以 Z 后成为概率。由于二值状态数量为二的 n 次方，精确归一化会随节点数指数增长。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一阶 moment 是节点为一的平均概率，二阶 moment 是两个节点同时为一的平均概率。训练的核心是缩小数据 moments 与模型 moments 之间的差异。三阶和四阶 moments 没有直接用于 pairwise 模型训练，因此可用于检验模型是否复现更高阶结构。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联合模型可以通过条件化产生单节点预测。固定特征 x 后，分别计算 outcome 为零和一的两个状态能量，二者的能量差经过 sigmoid 得到条件概率。公式中的 outcome 局部参数和交互参数均来自同一个联合模型。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预处理决定节点状态的实际语义。一般使用可以按中位数划分；论文复现则在每个 repeat 内执行 z-score，并采用严格的 z 大于一作为阈值。中心、尺度、阈值、缺失值策略和列顺序都必须随模型保存。本阶段的输出是可计算的二值状态矩阵和预处理契约，下一阶段据此选择计算路径和训练方法。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精确枚举直接计算概率期望的定义式：对状态空间中的每个状态计算概率，再把函数值按概率加权求和。n 个二值节点共有二的 n 次方个状态，因此 19 个节点对应 524,288 个状态。它没有采样误差，适合数值基准、配分函数、KL 训练和温度响应。在 package 中设置 calculation 等于 exact，并用 max_exact_nodes 限制规模；analysis 中的 model moments 就来自这次完整求和。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Monte Carlo 不是一个模型，也不是优化器，而是一类数值估计方法。当精确期望需要对全部状态求和而代价过高时，用 M 个来自目标分布的样本计算函数平均值，近似真实期望。这里需要的函数是节点状态和节点乘积，所以样本均值可以近似一阶与二阶 moments。Gibbs sampling 是生成这些样本的具体算法：从一个状态开始，依次按每个节点的条件概率更新，丢弃 burn-in，再按 thinning 间隔保留样本，多条链共同用于诊断。package 中 calculation 等于 monte_carlo；mc_samples、mc_burn_in、mc_thinning 和 mc_chains 分别控制保留数量、预热长度、抽样间隔与独立链数。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样本数量不等于有效信息数量。R-hat 比较链间与链内方差，理想值接近一；ESS 把自相关样本折算为有效独立样本数；MCSE 衡量样本均值作为期望估计值时的 Monte Carlo 标准误。项目默认要求最大 R-hat 不超过一点一、最小 ESS 不低于一百、最大 MCSE 不超过零点零五。这些结果从 analysis.diagnostics 读取，训练阶段的总质量判定保存在 fit result 的 diagnostics 中。增加 burn-in 主要改善初始偏差，增加 samples 和 chains 通常提高 ESS，thinning 用于控制保留间隔，但不能替代真正的混合诊断。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Moment matching 先计算数据的一阶、二阶 moments，再用 exact 或 Monte Carlo 计算当前模型 moments。模型减数据的差异构成更新信号，反复调整 h 和 J，直到最大 moment 误差小于 tolerance，或者达到 max_epochs。在 package 中调用 fit 并设置 method 等于 moment_matching；learning_rate 控制每次更新幅度。学习率过大可能振荡，过小则增加收敛时间。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KL divergence 比较数据分布与模型分布，也可理解为使用模型分布编码数据时的额外代价。对指数族能量模型，最大似然或 KL 梯度可化为模型 moments 与数据 moments 的差。package 中设置 calculation 等于 exact，并在 fit 中设置 method 等于 kl；实现会计算精确配分函数和显式梯度，因此只适用于 max_exact_nodes 允许的规模。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Adam 接收由 moments 差形成的梯度，并维护一阶动量和二阶动量，对每个参数使用自适应步长。Monte Carlo 使梯度带有采样噪声，Adam 改善更新稳定性，但不改变模型需要匹配一阶和二阶 moments 的统计目标。在 package 中 calculation 设置为 monte_carlo，fit 的 method 设置为 adam，并配置 learning_rate、max_epochs 与采样参数。当前兼容路径保留零一编码与 Gibbs，因此与原始公开代码的算法结构对应，参数值不直接逐项对应。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calculation 决定模型 moments 的计算方式，method 决定参数更新方式。小规模与数值验证可使用 exact 配合 KL 或 moment matching；更大规模使用 Monte Carlo 配合 moment matching；对齐公开代码更新结构时使用 Monte Carlo 配合 Adam。科研报告应记录最终实际路径，而非只记录 auto。本阶段的输出是训练配置、拟合参数与收敛证据，下一阶段在这些前提下解释模型。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h 和 J 是模型的直接参数，条件概率将这些参数映射为节点响应。effective interaction 比较节点自由变化与固定为参考状态时 outcome 有效场或概率的差值。该诊断属于模型内部条件变化，不构成现实干预或因果效应。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温度 T 通过能量除以 T 重新缩放整个模型分布。低温使概率集中于低能量状态，高温使分布更平坦。平均能量或 magnetization 对温度导数的峰值表示模型的高敏感区域，但不自动对应现实系统中的物理相变。本阶段输出模型内解释及其边界；下一阶段保持联合建模框架，但把状态空间扩展为连续变量。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连续数据可以保留数值距离并直接拟合联合 Gaussian 分布，因此无需二值化。二值模型表达高低或出现状态，连续模型表达均值、尺度和线性共同变化。ContinuousEnergyModel 是 package 的扩展模型族，而不是原论文二值模型的无损替代。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连续模型由均值向量 μ 和协方差矩阵 Σ 定义。精度矩阵 K 是协方差的逆，线性项 b 等于 K 乘 μ，二者共同构成二次能量。协方差表示共同变化，精度矩阵表示条件耦合；ridge 正则用于避免协方差奇异。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ContinuousEnergyModel 在训练时联合拟合全部变量，不固定 target_name。调用 conditional_mean 时通过 target_index 选择当前查询变量，并根据其他已知变量计算条件期望。sample 方法从完整联合 Gaussian 分布生成样本；当前实现不覆盖非线性、重尾或混合节点分布。本阶段输出连续联合模型和条件查询语义，下一阶段将二值与连续路径统一到 package 接口。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公共 API 对外提供两类模型及 fit、analyze、predict、save 和 load。数据层固定列契约和预处理，计算层实现 exact、Gibbs 与训练器，结果层提供诊断和可视化。pt 模型文件保存参数、预处理、元数据和版本，不保存原始训练数据行。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二值调用首先通过 DataConfig 固定特征、outcome、标准化和阈值策略。LearningModel 显式声明计算路径、exact 节点上限和随机种子，fit 再选择 KL 或其他训练方法。训练后执行 analyze 和 effective interaction 诊断，最后把完整状态保存为 pt 文件。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连续模型以所有联合变量名称初始化，并通过 ridge 控制协方差正则。fit 接受连续数据矩阵；conditional_mean 通过 target_index 查询指定变量；sample 生成联合模拟数据。该接口适合连续、近似单峰和线性条件关系的数据。本阶段输出可复用调用方式与模型 artifact，下一阶段用论文复现实验检查整条实现链。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复现实验包含五个经济体、三个 outcome 和十六次重复，共二百四十次拟合，每次使用一千二百行和十九个节点。二百三十四次达到千分之一收敛标准，二百八十五组 Monte Carlo 诊断全部通过。三阶 moment 平均相关为零点九七九七八，四阶为零点九三三七九，说明 pairwise 模型对训练目标拟合极高，但高阶结构仍保留可测误差。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/>
            <a:r>
              <a:rPr lang="zh-CN" dirty="0"/>
              <a:t>完整技术链由七个阶段组成：概率表示、模型定义、计算与训练、解释与诊断、连续模型扩展、Package 实现和复现验证。二值模型描述状态组合概率与 pairwise 结构，连续模型描述连续变量共同变化与条件均值。模型 artifact 固化参数、预处理、诊断与版本信息。所有解释均以训练收敛、采样质量和复现验证通过为前提。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learnenergy-foundations-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learnenergy-foundations-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6.xml"/>
</Relationships>
</file>

<file path=ppt/slides/_rels/slide1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7.xml"/>
</Relationships>
</file>

<file path=ppt/slides/_rels/slide1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8.xml"/>
</Relationships>
</file>

<file path=ppt/slides/_rels/slide1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19.xml"/>
</Relationships>
</file>

<file path=ppt/slides/_rels/slide2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0.xml"/>
</Relationships>
</file>

<file path=ppt/slides/_rels/slide2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1.xml"/>
</Relationships>
</file>

<file path=ppt/slides/_rels/slide2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2.xml"/>
</Relationships>
</file>

<file path=ppt/slides/_rels/slide2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3.xml"/>
</Relationships>
</file>

<file path=ppt/slides/_rels/slide2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4.xml"/>
</Relationships>
</file>

<file path=ppt/slides/_rels/slide2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5.xml"/>
</Relationships>
</file>

<file path=ppt/slides/_rels/slide2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notesSlide" Target="../notesSlides/notesSlide26.xml"/>
</Relationships>
</file>

<file path=ppt/slides/_rels/slide2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github.com/sqsssq/edu-analysis" TargetMode="External"/>
  <Relationship Id="rId3" Type="http://schemas.openxmlformats.org/officeDocument/2006/relationships/notesSlide" Target="../notesSlides/notesSlide27.xml"/>
</Relationships>
</file>

<file path=ppt/slides/_rels/slide2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hyperlink" Target="https://sqsssq.github.io/edu-analysis/" TargetMode="External"/>
  <Relationship Id="rId3" Type="http://schemas.openxmlformats.org/officeDocument/2006/relationships/notesSlide" Target="../notesSlides/notesSlide28.xml"/>
</Relationships>
</file>

<file path=ppt/slides/_rels/slide2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47fdc8132b94b13.png"/>
  <Relationship Id="rId3" Type="http://schemas.openxmlformats.org/officeDocument/2006/relationships/image" Target="../media/image_e8d3421f2a4ad2f7.png"/>
  <Relationship Id="rId4" Type="http://schemas.openxmlformats.org/officeDocument/2006/relationships/notesSlide" Target="../notesSlides/notesSlide29.xml"/>
</Relationships>
</file>

<file path=ppt/slides/_rels/slide30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image" Target="../media/image_29e9109d43d37be5.png"/>
  <Relationship Id="rId3" Type="http://schemas.openxmlformats.org/officeDocument/2006/relationships/image" Target="../media/image_7025ac01a04d5fe6.png"/>
  <Relationship Id="rId4" Type="http://schemas.openxmlformats.org/officeDocument/2006/relationships/notesSlide" Target="../notesSlides/notesSlide30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p01-title"/>
          <p:cNvGrpSpPr/>
          <p:nvPr/>
        </p:nvGrpSpPr>
        <p:grpSpPr>
          <a:xfrm>
            <a:off x="592074" y="643414"/>
            <a:ext cx="5781675" cy="1971770"/>
            <a:chOff x="592074" y="643414"/>
            <a:chExt cx="5781675" cy="1971770"/>
          </a:xfrm>
        </p:grpSpPr>
        <p:sp>
          <p:nvSpPr>
            <p:cNvPr id="2" name="TextBox 2"/>
            <p:cNvSpPr txBox="1"/>
            <p:nvPr/>
          </p:nvSpPr>
          <p:spPr>
            <a:xfrm>
              <a:off x="603123" y="643414"/>
              <a:ext cx="25625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LEARNENERGY · 概念实验室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2074" y="1056322"/>
              <a:ext cx="4451604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多变量联合分布建模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2074" y="1608772"/>
              <a:ext cx="3960876" cy="67475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4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与可解释能量模型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600456" y="2263140"/>
              <a:ext cx="577329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统一技术链：表示 → 定义 → 训练 → 解释 → 实现 → 验证</a:t>
              </a:r>
            </a:p>
          </p:txBody>
        </p:sp>
      </p:grpSp>
      <p:grpSp>
        <p:nvGrpSpPr>
          <p:cNvPr id="19" name="p01-network"/>
          <p:cNvGrpSpPr/>
          <p:nvPr/>
        </p:nvGrpSpPr>
        <p:grpSpPr>
          <a:xfrm>
            <a:off x="7581900" y="704850"/>
            <a:ext cx="3525495" cy="3605118"/>
            <a:chOff x="7581900" y="704850"/>
            <a:chExt cx="3525495" cy="3605118"/>
          </a:xfrm>
        </p:grpSpPr>
        <p:sp>
          <p:nvSpPr>
            <p:cNvPr id="7" name="Ellipse 7"/>
            <p:cNvSpPr/>
            <p:nvPr/>
          </p:nvSpPr>
          <p:spPr>
            <a:xfrm>
              <a:off x="7581900" y="704850"/>
              <a:ext cx="2628900" cy="26289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" name="Line 8"/>
            <p:cNvSpPr/>
            <p:nvPr/>
          </p:nvSpPr>
          <p:spPr>
            <a:xfrm>
              <a:off x="8191500" y="1428750"/>
              <a:ext cx="1695450" cy="381000"/>
            </a:xfrm>
            <a:custGeom>
              <a:avLst/>
              <a:gdLst/>
              <a:ahLst/>
              <a:cxnLst/>
              <a:rect l="l" t="t" r="r" b="b"/>
              <a:pathLst>
                <a:path w="1695450" h="381000">
                  <a:moveTo>
                    <a:pt x="0" y="381000"/>
                  </a:moveTo>
                  <a:lnTo>
                    <a:pt x="1695450" y="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8191500" y="1809750"/>
              <a:ext cx="1181100" cy="1238250"/>
            </a:xfrm>
            <a:custGeom>
              <a:avLst/>
              <a:gdLst/>
              <a:ahLst/>
              <a:cxnLst/>
              <a:rect l="l" t="t" r="r" b="b"/>
              <a:pathLst>
                <a:path w="1181100" h="1238250">
                  <a:moveTo>
                    <a:pt x="0" y="0"/>
                  </a:moveTo>
                  <a:lnTo>
                    <a:pt x="1181100" y="1238250"/>
                  </a:lnTo>
                </a:path>
              </a:pathLst>
            </a:cu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9372600" y="1428750"/>
              <a:ext cx="514350" cy="1619250"/>
            </a:xfrm>
            <a:custGeom>
              <a:avLst/>
              <a:gdLst/>
              <a:ahLst/>
              <a:cxnLst/>
              <a:rect l="l" t="t" r="r" b="b"/>
              <a:pathLst>
                <a:path w="514350" h="1619250">
                  <a:moveTo>
                    <a:pt x="514350" y="0"/>
                  </a:moveTo>
                  <a:lnTo>
                    <a:pt x="0" y="1619250"/>
                  </a:ln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11" name="Ellipse 11"/>
            <p:cNvSpPr/>
            <p:nvPr/>
          </p:nvSpPr>
          <p:spPr>
            <a:xfrm>
              <a:off x="7810500" y="1428750"/>
              <a:ext cx="762000" cy="7620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9505950" y="1047750"/>
              <a:ext cx="762000" cy="762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8991600" y="2667000"/>
              <a:ext cx="762000" cy="762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8002905" y="1721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698355" y="134016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84005" y="2959418"/>
              <a:ext cx="37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88199" y="3697129"/>
              <a:ext cx="29937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单变量统计无法表达联合结构；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88199" y="4001929"/>
              <a:ext cx="341919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联合分布刻画多变量共同出现模式。</a:t>
              </a:r>
            </a:p>
          </p:txBody>
        </p:sp>
      </p:grpSp>
      <p:grpSp>
        <p:nvGrpSpPr>
          <p:cNvPr id="31" name="p01-route"/>
          <p:cNvGrpSpPr/>
          <p:nvPr/>
        </p:nvGrpSpPr>
        <p:grpSpPr>
          <a:xfrm>
            <a:off x="677418" y="5334000"/>
            <a:ext cx="10371582" cy="594551"/>
            <a:chOff x="677418" y="5334000"/>
            <a:chExt cx="10371582" cy="594551"/>
          </a:xfrm>
        </p:grpSpPr>
        <p:sp>
          <p:nvSpPr>
            <p:cNvPr id="20" name="Line 20"/>
            <p:cNvSpPr/>
            <p:nvPr/>
          </p:nvSpPr>
          <p:spPr>
            <a:xfrm>
              <a:off x="819150" y="5429250"/>
              <a:ext cx="10229850" cy="9525"/>
            </a:xfrm>
            <a:custGeom>
              <a:avLst/>
              <a:gdLst/>
              <a:ahLst/>
              <a:cxnLst/>
              <a:rect l="l" t="t" r="r" b="b"/>
              <a:pathLst>
                <a:path w="10229850" h="9525">
                  <a:moveTo>
                    <a:pt x="0" y="0"/>
                  </a:moveTo>
                  <a:lnTo>
                    <a:pt x="10229850" y="0"/>
                  </a:ln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21" name="Ellipse 21"/>
            <p:cNvSpPr/>
            <p:nvPr/>
          </p:nvSpPr>
          <p:spPr>
            <a:xfrm>
              <a:off x="952500" y="5334000"/>
              <a:ext cx="190500" cy="19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Ellipse 22"/>
            <p:cNvSpPr/>
            <p:nvPr/>
          </p:nvSpPr>
          <p:spPr>
            <a:xfrm>
              <a:off x="3333750" y="53340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Ellipse 23"/>
            <p:cNvSpPr/>
            <p:nvPr/>
          </p:nvSpPr>
          <p:spPr>
            <a:xfrm>
              <a:off x="5715000" y="53340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4" name="Ellipse 24"/>
            <p:cNvSpPr/>
            <p:nvPr/>
          </p:nvSpPr>
          <p:spPr>
            <a:xfrm>
              <a:off x="8096250" y="53340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Ellipse 25"/>
            <p:cNvSpPr/>
            <p:nvPr/>
          </p:nvSpPr>
          <p:spPr>
            <a:xfrm>
              <a:off x="10477500" y="5334000"/>
              <a:ext cx="190500" cy="1905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677418" y="566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概率表示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058668" y="566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模型定义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39918" y="566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计算训练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821168" y="566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解释诊断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202418" y="56645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实现验证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04266" y="6516052"/>
            <a:ext cx="234296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01 / 30 · 面向非专业听众的技术导览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2-header"/>
          <p:cNvGrpSpPr/>
          <p:nvPr/>
        </p:nvGrpSpPr>
        <p:grpSpPr>
          <a:xfrm>
            <a:off x="593598" y="556260"/>
            <a:ext cx="6752844" cy="1009841"/>
            <a:chOff x="593598" y="556260"/>
            <a:chExt cx="6752844" cy="1009841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55493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00 全流程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从数据到可复用模型的完整技术链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602742" y="1302068"/>
              <a:ext cx="58293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每个阶段的输出，直接成为下一阶段的输入；后续页面按同一编号展开。</a:t>
              </a:r>
            </a:p>
          </p:txBody>
        </p:sp>
      </p:grpSp>
      <p:grpSp>
        <p:nvGrpSpPr>
          <p:cNvPr id="36" name="p02-row-one"/>
          <p:cNvGrpSpPr/>
          <p:nvPr/>
        </p:nvGrpSpPr>
        <p:grpSpPr>
          <a:xfrm>
            <a:off x="609600" y="1885950"/>
            <a:ext cx="10972800" cy="1409700"/>
            <a:chOff x="609600" y="1885950"/>
            <a:chExt cx="10972800" cy="1409700"/>
          </a:xfrm>
        </p:grpSpPr>
        <p:sp>
          <p:nvSpPr>
            <p:cNvPr id="6" name="Rectangle 6"/>
            <p:cNvSpPr/>
            <p:nvPr/>
          </p:nvSpPr>
          <p:spPr>
            <a:xfrm>
              <a:off x="609600" y="1885950"/>
              <a:ext cx="2381250" cy="1409700"/>
            </a:xfrm>
            <a:prstGeom prst="roundRect">
              <a:avLst>
                <a:gd name="adj" fmla="val 12162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Ellipse 7"/>
            <p:cNvSpPr/>
            <p:nvPr/>
          </p:nvSpPr>
          <p:spPr>
            <a:xfrm>
              <a:off x="742950" y="20193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819455" y="212788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92149" y="20778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概率表示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31723" y="251031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联合、边缘、条件概率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2104" y="284226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输出：概率语言与解释边界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2990850" y="25908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3" name="Freeform 13"/>
            <p:cNvSpPr/>
            <p:nvPr/>
          </p:nvSpPr>
          <p:spPr>
            <a:xfrm>
              <a:off x="3200400" y="2524125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9525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371850" y="1885950"/>
              <a:ext cx="2381250" cy="1409700"/>
            </a:xfrm>
            <a:prstGeom prst="roundRect">
              <a:avLst>
                <a:gd name="adj" fmla="val 1216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Ellipse 15"/>
            <p:cNvSpPr/>
            <p:nvPr/>
          </p:nvSpPr>
          <p:spPr>
            <a:xfrm>
              <a:off x="3505200" y="20193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581705" y="212788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954399" y="20778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模型定义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93973" y="2510314"/>
              <a:ext cx="2123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状态空间、能量、moments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594354" y="2842260"/>
              <a:ext cx="21869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输出：E(s)、p(s)、训练约束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5753100" y="25908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Freeform 21"/>
            <p:cNvSpPr/>
            <p:nvPr/>
          </p:nvSpPr>
          <p:spPr>
            <a:xfrm>
              <a:off x="5962650" y="2524125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9525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6134100" y="1885950"/>
              <a:ext cx="2381250" cy="1409700"/>
            </a:xfrm>
            <a:prstGeom prst="roundRect">
              <a:avLst>
                <a:gd name="adj" fmla="val 12162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3" name="Ellipse 23"/>
            <p:cNvSpPr/>
            <p:nvPr/>
          </p:nvSpPr>
          <p:spPr>
            <a:xfrm>
              <a:off x="6267450" y="20193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343955" y="212788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716649" y="2077879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计算与训练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356223" y="2510314"/>
              <a:ext cx="24054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Exact / MC；MM / KL / Adam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356604" y="2842260"/>
              <a:ext cx="21412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输出：拟合参数 h、J 或 μ、Σ</a:t>
              </a:r>
            </a:p>
          </p:txBody>
        </p:sp>
        <p:sp>
          <p:nvSpPr>
            <p:cNvPr id="28" name="Line 28"/>
            <p:cNvSpPr/>
            <p:nvPr/>
          </p:nvSpPr>
          <p:spPr>
            <a:xfrm>
              <a:off x="8515350" y="2590800"/>
              <a:ext cx="304800" cy="9525"/>
            </a:xfrm>
            <a:custGeom>
              <a:avLst/>
              <a:gdLst/>
              <a:ahLst/>
              <a:cxnLst/>
              <a:rect l="l" t="t" r="r" b="b"/>
              <a:pathLst>
                <a:path w="304800" h="9525">
                  <a:moveTo>
                    <a:pt x="0" y="0"/>
                  </a:moveTo>
                  <a:lnTo>
                    <a:pt x="30480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9" name="Freeform 29"/>
            <p:cNvSpPr/>
            <p:nvPr/>
          </p:nvSpPr>
          <p:spPr>
            <a:xfrm>
              <a:off x="8724900" y="2524125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9525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0" name="Rectangle 30"/>
            <p:cNvSpPr/>
            <p:nvPr/>
          </p:nvSpPr>
          <p:spPr>
            <a:xfrm>
              <a:off x="8896350" y="1885950"/>
              <a:ext cx="2686050" cy="1409700"/>
            </a:xfrm>
            <a:prstGeom prst="roundRect">
              <a:avLst>
                <a:gd name="adj" fmla="val 12162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Ellipse 31"/>
            <p:cNvSpPr/>
            <p:nvPr/>
          </p:nvSpPr>
          <p:spPr>
            <a:xfrm>
              <a:off x="9029700" y="201930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9106205" y="212788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478899" y="2077879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解释与诊断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9118473" y="25103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参数、交互与敏感性响应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9118854" y="28422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输出：有边界的模型结论</a:t>
              </a:r>
            </a:p>
          </p:txBody>
        </p:sp>
      </p:grpSp>
      <p:grpSp>
        <p:nvGrpSpPr>
          <p:cNvPr id="61" name="p02-row-two"/>
          <p:cNvGrpSpPr/>
          <p:nvPr/>
        </p:nvGrpSpPr>
        <p:grpSpPr>
          <a:xfrm>
            <a:off x="1657350" y="3295650"/>
            <a:ext cx="8877300" cy="1866900"/>
            <a:chOff x="1657350" y="3295650"/>
            <a:chExt cx="8877300" cy="1866900"/>
          </a:xfrm>
        </p:grpSpPr>
        <p:sp>
          <p:nvSpPr>
            <p:cNvPr id="37" name="Freeform 37"/>
            <p:cNvSpPr/>
            <p:nvPr/>
          </p:nvSpPr>
          <p:spPr>
            <a:xfrm>
              <a:off x="2971800" y="3295650"/>
              <a:ext cx="7267575" cy="438150"/>
            </a:xfrm>
            <a:custGeom>
              <a:avLst/>
              <a:gdLst/>
              <a:ahLst/>
              <a:cxnLst/>
              <a:rect l="l" t="t" r="r" b="b"/>
              <a:pathLst>
                <a:path w="7267575" h="438150">
                  <a:moveTo>
                    <a:pt x="7267575" y="0"/>
                  </a:moveTo>
                  <a:lnTo>
                    <a:pt x="7267575" y="266700"/>
                  </a:lnTo>
                  <a:lnTo>
                    <a:pt x="0" y="266700"/>
                  </a:lnTo>
                  <a:lnTo>
                    <a:pt x="0" y="4381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38" name="Freeform 38"/>
            <p:cNvSpPr/>
            <p:nvPr/>
          </p:nvSpPr>
          <p:spPr>
            <a:xfrm>
              <a:off x="2905125" y="3714750"/>
              <a:ext cx="133350" cy="95250"/>
            </a:xfrm>
            <a:custGeom>
              <a:avLst/>
              <a:gdLst/>
              <a:ahLst/>
              <a:cxnLst/>
              <a:rect l="l" t="t" r="r" b="b"/>
              <a:pathLst>
                <a:path w="133350" h="95250">
                  <a:moveTo>
                    <a:pt x="66675" y="95250"/>
                  </a:moveTo>
                  <a:lnTo>
                    <a:pt x="0" y="0"/>
                  </a:lnTo>
                  <a:lnTo>
                    <a:pt x="133350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1657350" y="3810000"/>
              <a:ext cx="2628900" cy="1352550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40" name="Ellipse 40"/>
            <p:cNvSpPr/>
            <p:nvPr/>
          </p:nvSpPr>
          <p:spPr>
            <a:xfrm>
              <a:off x="1790700" y="39433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867205" y="40519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239899" y="400192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连续模型扩展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879473" y="4434364"/>
              <a:ext cx="2419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Binary → Gaussian joint model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879854" y="476631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同一联合建模框架，不同分布假设</a:t>
              </a:r>
            </a:p>
          </p:txBody>
        </p:sp>
        <p:sp>
          <p:nvSpPr>
            <p:cNvPr id="45" name="Line 45"/>
            <p:cNvSpPr/>
            <p:nvPr/>
          </p:nvSpPr>
          <p:spPr>
            <a:xfrm>
              <a:off x="4286250" y="4486275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46" name="Freeform 46"/>
            <p:cNvSpPr/>
            <p:nvPr/>
          </p:nvSpPr>
          <p:spPr>
            <a:xfrm>
              <a:off x="4552950" y="441960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9525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724400" y="3810000"/>
              <a:ext cx="2628900" cy="1352550"/>
            </a:xfrm>
            <a:prstGeom prst="roundRect">
              <a:avLst>
                <a:gd name="adj" fmla="val 1267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8" name="Ellipse 48"/>
            <p:cNvSpPr/>
            <p:nvPr/>
          </p:nvSpPr>
          <p:spPr>
            <a:xfrm>
              <a:off x="4857750" y="39433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4934255" y="40519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5306949" y="4001929"/>
              <a:ext cx="133124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Package 实现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946523" y="4434364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配置、fit、analyze、save / load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946904" y="4766310"/>
              <a:ext cx="2193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输出：可复用 `.pt` artifact</a:t>
              </a:r>
            </a:p>
          </p:txBody>
        </p:sp>
        <p:sp>
          <p:nvSpPr>
            <p:cNvPr id="53" name="Line 53"/>
            <p:cNvSpPr/>
            <p:nvPr/>
          </p:nvSpPr>
          <p:spPr>
            <a:xfrm>
              <a:off x="7353300" y="4486275"/>
              <a:ext cx="361950" cy="9525"/>
            </a:xfrm>
            <a:custGeom>
              <a:avLst/>
              <a:gdLst/>
              <a:ahLst/>
              <a:cxnLst/>
              <a:rect l="l" t="t" r="r" b="b"/>
              <a:pathLst>
                <a:path w="361950" h="9525">
                  <a:moveTo>
                    <a:pt x="0" y="0"/>
                  </a:moveTo>
                  <a:lnTo>
                    <a:pt x="361950" y="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54" name="Freeform 54"/>
            <p:cNvSpPr/>
            <p:nvPr/>
          </p:nvSpPr>
          <p:spPr>
            <a:xfrm>
              <a:off x="7620000" y="4419600"/>
              <a:ext cx="95250" cy="133350"/>
            </a:xfrm>
            <a:custGeom>
              <a:avLst/>
              <a:gdLst/>
              <a:ahLst/>
              <a:cxnLst/>
              <a:rect l="l" t="t" r="r" b="b"/>
              <a:pathLst>
                <a:path w="95250" h="133350">
                  <a:moveTo>
                    <a:pt x="9525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</p:sp>
        <p:sp>
          <p:nvSpPr>
            <p:cNvPr id="55" name="Rectangle 55"/>
            <p:cNvSpPr/>
            <p:nvPr/>
          </p:nvSpPr>
          <p:spPr>
            <a:xfrm>
              <a:off x="7791450" y="3810000"/>
              <a:ext cx="2743200" cy="1352550"/>
            </a:xfrm>
            <a:prstGeom prst="roundRect">
              <a:avLst>
                <a:gd name="adj" fmla="val 1267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7924800" y="39433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001305" y="4051935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373999" y="40019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复现验证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013573" y="4434364"/>
              <a:ext cx="21237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收敛、采样质量、moments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013954" y="476631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输出：可审计的复现证据</a:t>
              </a:r>
            </a:p>
          </p:txBody>
        </p:sp>
      </p:grpSp>
      <p:grpSp>
        <p:nvGrpSpPr>
          <p:cNvPr id="64" name="p02-thread"/>
          <p:cNvGrpSpPr/>
          <p:nvPr/>
        </p:nvGrpSpPr>
        <p:grpSpPr>
          <a:xfrm>
            <a:off x="609600" y="5467350"/>
            <a:ext cx="10972800" cy="419100"/>
            <a:chOff x="609600" y="5467350"/>
            <a:chExt cx="10972800" cy="419100"/>
          </a:xfrm>
        </p:grpSpPr>
        <p:sp>
          <p:nvSpPr>
            <p:cNvPr id="62" name="Rectangle 62"/>
            <p:cNvSpPr/>
            <p:nvPr/>
          </p:nvSpPr>
          <p:spPr>
            <a:xfrm>
              <a:off x="609600" y="5467350"/>
              <a:ext cx="10972800" cy="419100"/>
            </a:xfrm>
            <a:prstGeom prst="roundRect">
              <a:avLst>
                <a:gd name="adj" fmla="val 2272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2557094" y="5605939"/>
              <a:ext cx="707781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主线问题：如何把多变量数据转化为一个可训练、可解释、可验证、可复用的联合分布模型？</a:t>
              </a:r>
            </a:p>
          </p:txBody>
        </p:sp>
      </p:grpSp>
      <p:grpSp>
        <p:nvGrpSpPr>
          <p:cNvPr id="68" name="p02-footer"/>
          <p:cNvGrpSpPr/>
          <p:nvPr/>
        </p:nvGrpSpPr>
        <p:grpSpPr>
          <a:xfrm>
            <a:off x="604266" y="6115050"/>
            <a:ext cx="10983468" cy="320611"/>
            <a:chOff x="604266" y="6115050"/>
            <a:chExt cx="10983468" cy="320611"/>
          </a:xfrm>
        </p:grpSpPr>
        <p:sp>
          <p:nvSpPr>
            <p:cNvPr id="65" name="Line 65"/>
            <p:cNvSpPr/>
            <p:nvPr/>
          </p:nvSpPr>
          <p:spPr>
            <a:xfrm>
              <a:off x="609600" y="6115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604266" y="6230302"/>
              <a:ext cx="193410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LEARNENERGY · 技术主线总览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11103540" y="62303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02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3-header"/>
          <p:cNvGrpSpPr/>
          <p:nvPr/>
        </p:nvGrpSpPr>
        <p:grpSpPr>
          <a:xfrm>
            <a:off x="593598" y="556260"/>
            <a:ext cx="4512564" cy="881825"/>
            <a:chOff x="593598" y="556260"/>
            <a:chExt cx="4512564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01 概率表示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45125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离散概率分布与归一化</a:t>
              </a:r>
            </a:p>
          </p:txBody>
        </p:sp>
      </p:grpSp>
      <p:grpSp>
        <p:nvGrpSpPr>
          <p:cNvPr id="15" name="p03-example"/>
          <p:cNvGrpSpPr/>
          <p:nvPr/>
        </p:nvGrpSpPr>
        <p:grpSpPr>
          <a:xfrm>
            <a:off x="600456" y="1691640"/>
            <a:ext cx="5152644" cy="3888105"/>
            <a:chOff x="600456" y="1691640"/>
            <a:chExt cx="5152644" cy="3888105"/>
          </a:xfrm>
        </p:grpSpPr>
        <p:sp>
          <p:nvSpPr>
            <p:cNvPr id="5" name="TextBox 5"/>
            <p:cNvSpPr txBox="1"/>
            <p:nvPr/>
          </p:nvSpPr>
          <p:spPr>
            <a:xfrm>
              <a:off x="600456" y="1691640"/>
              <a:ext cx="413720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二值随机变量 X：表示“是否达到标准”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247900"/>
              <a:ext cx="5143500" cy="1409700"/>
            </a:xfrm>
            <a:prstGeom prst="roundRect">
              <a:avLst>
                <a:gd name="adj" fmla="val 108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1276350" y="2495550"/>
              <a:ext cx="914400" cy="914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1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421359" y="2763202"/>
              <a:ext cx="624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X=0</a:t>
              </a:r>
            </a:p>
          </p:txBody>
        </p:sp>
        <p:sp>
          <p:nvSpPr>
            <p:cNvPr id="9" name="Ellipse 9"/>
            <p:cNvSpPr/>
            <p:nvPr/>
          </p:nvSpPr>
          <p:spPr>
            <a:xfrm>
              <a:off x="4076700" y="2495550"/>
              <a:ext cx="914400" cy="914400"/>
            </a:xfrm>
            <a:prstGeom prst="ellipse">
              <a:avLst/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221709" y="2763202"/>
              <a:ext cx="62438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X=1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1218" y="393668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随机变量：一组尚未确定的可能结果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1218" y="4298632"/>
              <a:ext cx="39923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状态：X 实际可以取得的值，例如 0 或 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1218" y="4660582"/>
              <a:ext cx="268224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概率：每个状态的非负权重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1980" y="5286375"/>
              <a:ext cx="385191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概率描述不确定性，而非某一次观测本身。</a:t>
              </a:r>
            </a:p>
          </p:txBody>
        </p:sp>
      </p:grpSp>
      <p:grpSp>
        <p:nvGrpSpPr>
          <p:cNvPr id="27" name="p03-probability"/>
          <p:cNvGrpSpPr/>
          <p:nvPr/>
        </p:nvGrpSpPr>
        <p:grpSpPr>
          <a:xfrm>
            <a:off x="6182106" y="1691640"/>
            <a:ext cx="4771644" cy="3947160"/>
            <a:chOff x="6182106" y="1691640"/>
            <a:chExt cx="4771644" cy="3947160"/>
          </a:xfrm>
        </p:grpSpPr>
        <p:sp>
          <p:nvSpPr>
            <p:cNvPr id="16" name="TextBox 16"/>
            <p:cNvSpPr txBox="1"/>
            <p:nvPr/>
          </p:nvSpPr>
          <p:spPr>
            <a:xfrm>
              <a:off x="6182106" y="1691640"/>
              <a:ext cx="171450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一次模型给出：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191250" y="2266950"/>
              <a:ext cx="4762500" cy="609600"/>
            </a:xfrm>
            <a:prstGeom prst="roundRect">
              <a:avLst>
                <a:gd name="adj" fmla="val 1562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6191250" y="2266950"/>
              <a:ext cx="1428750" cy="609600"/>
            </a:xfrm>
            <a:prstGeom prst="roundRect">
              <a:avLst>
                <a:gd name="adj" fmla="val 15625"/>
              </a:avLst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7620000" y="2266950"/>
              <a:ext cx="3333750" cy="609600"/>
            </a:xfrm>
            <a:prstGeom prst="roundRect">
              <a:avLst>
                <a:gd name="adj" fmla="val 15625"/>
              </a:avLst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6696570" y="2463165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0.3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077820" y="2463165"/>
              <a:ext cx="41810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8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0.7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182868" y="3079432"/>
              <a:ext cx="304266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P(X=0)=0.3　　P(X=1)=0.7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" name="p03-formula"/>
                <p:cNvSpPr txBox="1">
                  <a:spLocks noGrp="1"/>
                </p:cNvSpPr>
                <p:nvPr/>
              </p:nvSpPr>
              <p:spPr>
                <a:xfrm>
                  <a:off x="6572250" y="3714750"/>
                  <a:ext cx="4095750" cy="85725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2700" dirty="0">
                                <a:solidFill>
                                  <a:srgbClr val="12372E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2700" dirty="0">
                                <a:solidFill>
                                  <a:srgbClr val="12372E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x</m:t>
                            </m:r>
                          </m:sub>
                          <m:sup/>
                          <m:e>
                            <m:r>
                              <a:rPr lang="zh-CN" sz="2700" dirty="0">
                                <a:solidFill>
                                  <a:srgbClr val="12372E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P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 m:val="on"/>
                                <m:ctrlPr>
                                  <a:rPr lang="zh-CN" sz="2700" dirty="0">
                                    <a:solidFill>
                                      <a:srgbClr val="12372E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</m:ctrlPr>
                              </m:dPr>
                              <m:e>
                                <m:r>
                                  <a:rPr lang="zh-CN" sz="2700" dirty="0">
                                    <a:solidFill>
                                      <a:srgbClr val="12372E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  <m:r>
                                  <m:rPr>
                                    <m:sty m:val="p"/>
                                  </m:rPr>
                                  <a:rPr lang="zh-CN" sz="2700" dirty="0">
                                    <a:solidFill>
                                      <a:srgbClr val="12372E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=</m:t>
                                </m:r>
                                <m:r>
                                  <a:rPr lang="zh-CN" sz="2700" dirty="0">
                                    <a:solidFill>
                                      <a:srgbClr val="12372E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x</m:t>
                                </m:r>
                              </m:e>
                            </m:d>
                          </m:e>
                        </m:nary>
                        <m:r>
                          <m:rPr>
                            <m:sty m:val="p"/>
                          </m:rPr>
                          <a:rPr lang="zh-CN" sz="2700" dirty="0">
                            <a:solidFill>
                              <a:srgbClr val="12372E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r>
                          <a:rPr lang="zh-CN" sz="2700" dirty="0">
                            <a:solidFill>
                              <a:srgbClr val="12372E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1</m:t>
                        </m:r>
                      </m:oMath>
                    </m:oMathPara>
                  </a14:m>
                </a:p>
              </p:txBody>
            </p:sp>
          </mc:Choice>
        </mc:AlternateContent>
        <p:sp>
          <p:nvSpPr>
            <p:cNvPr id="24" name="Rectangle 24"/>
            <p:cNvSpPr/>
            <p:nvPr/>
          </p:nvSpPr>
          <p:spPr>
            <a:xfrm>
              <a:off x="6191250" y="4895850"/>
              <a:ext cx="4762500" cy="742950"/>
            </a:xfrm>
            <a:prstGeom prst="roundRect">
              <a:avLst>
                <a:gd name="adj" fmla="val 1538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469380" y="505777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归一化条件：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469380" y="5343525"/>
              <a:ext cx="34177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所有互斥状态的概率相加必须等于 1。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04266" y="6516052"/>
            <a:ext cx="280941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03 / 30 · 概率模型 = 状态集合 + 归一化权重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4-header"/>
          <p:cNvGrpSpPr/>
          <p:nvPr/>
        </p:nvGrpSpPr>
        <p:grpSpPr>
          <a:xfrm>
            <a:off x="593598" y="556260"/>
            <a:ext cx="6304788" cy="881825"/>
            <a:chOff x="593598" y="556260"/>
            <a:chExt cx="6304788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01 概率表示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联合概率、边缘概率与条件概率</a:t>
              </a:r>
            </a:p>
          </p:txBody>
        </p:sp>
      </p:grpSp>
      <p:grpSp>
        <p:nvGrpSpPr>
          <p:cNvPr id="25" name="p04-grid"/>
          <p:cNvGrpSpPr/>
          <p:nvPr/>
        </p:nvGrpSpPr>
        <p:grpSpPr>
          <a:xfrm>
            <a:off x="601218" y="1707832"/>
            <a:ext cx="6128791" cy="3846291"/>
            <a:chOff x="601218" y="1707832"/>
            <a:chExt cx="6128791" cy="3846291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707832"/>
              <a:ext cx="41105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例：学习支持 X 与成绩 Y 的四种联合状态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1752600" y="2343150"/>
              <a:ext cx="4000500" cy="2667000"/>
            </a:xfrm>
            <a:prstGeom prst="rect">
              <a:avLst/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1752600" y="2343150"/>
              <a:ext cx="40005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Rectangle 8"/>
            <p:cNvSpPr/>
            <p:nvPr/>
          </p:nvSpPr>
          <p:spPr>
            <a:xfrm>
              <a:off x="1752600" y="2952750"/>
              <a:ext cx="13335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Line 9"/>
            <p:cNvSpPr/>
            <p:nvPr/>
          </p:nvSpPr>
          <p:spPr>
            <a:xfrm>
              <a:off x="3086100" y="234315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4419600" y="2343150"/>
              <a:ext cx="9525" cy="2667000"/>
            </a:xfrm>
            <a:custGeom>
              <a:avLst/>
              <a:gdLst/>
              <a:ahLst/>
              <a:cxnLst/>
              <a:rect l="l" t="t" r="r" b="b"/>
              <a:pathLst>
                <a:path w="9525" h="2667000">
                  <a:moveTo>
                    <a:pt x="0" y="0"/>
                  </a:moveTo>
                  <a:lnTo>
                    <a:pt x="0" y="266700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752600" y="36385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1752600" y="4324350"/>
              <a:ext cx="4000500" cy="9525"/>
            </a:xfrm>
            <a:custGeom>
              <a:avLst/>
              <a:gdLst/>
              <a:ahLst/>
              <a:cxnLst/>
              <a:rect l="l" t="t" r="r" b="b"/>
              <a:pathLst>
                <a:path w="4000500" h="9525">
                  <a:moveTo>
                    <a:pt x="0" y="0"/>
                  </a:moveTo>
                  <a:lnTo>
                    <a:pt x="40005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538941" y="2570321"/>
              <a:ext cx="4278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Y=低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872441" y="2570321"/>
              <a:ext cx="4278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Y=高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205441" y="3237071"/>
              <a:ext cx="4278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X=低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205441" y="3922871"/>
              <a:ext cx="42781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X=高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968475" y="4608671"/>
              <a:ext cx="9017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边缘 P(Y)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3523107" y="32289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0.30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856607" y="32289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0.10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523107" y="39147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0.15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856607" y="39147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0.45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23107" y="46005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0.45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856607" y="46005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Consolas"/>
                  <a:ea typeface="Consolas"/>
                  <a:cs typeface="Consolas"/>
                </a:rPr>
                <a:t>0.55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745361" y="5275421"/>
              <a:ext cx="4984648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联合表中的每一个格子，都代表两个变量同时取值的概率。</a:t>
              </a:r>
            </a:p>
          </p:txBody>
        </p:sp>
      </p:grpSp>
      <p:grpSp>
        <p:nvGrpSpPr>
          <p:cNvPr id="36" name="p04-concepts"/>
          <p:cNvGrpSpPr/>
          <p:nvPr/>
        </p:nvGrpSpPr>
        <p:grpSpPr>
          <a:xfrm>
            <a:off x="6896100" y="1676400"/>
            <a:ext cx="4686300" cy="3981450"/>
            <a:chOff x="6896100" y="1676400"/>
            <a:chExt cx="4686300" cy="3981450"/>
          </a:xfrm>
        </p:grpSpPr>
        <p:sp>
          <p:nvSpPr>
            <p:cNvPr id="26" name="Rectangle 26"/>
            <p:cNvSpPr/>
            <p:nvPr/>
          </p:nvSpPr>
          <p:spPr>
            <a:xfrm>
              <a:off x="6896100" y="1676400"/>
              <a:ext cx="4686300" cy="1104900"/>
            </a:xfrm>
            <a:prstGeom prst="roundRect">
              <a:avLst>
                <a:gd name="adj" fmla="val 120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152513" y="1819751"/>
              <a:ext cx="242589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联合概率 P(X,Y)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155180" y="223837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同时描述两个变量，关系信息藏在格子分布中。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96100" y="2952750"/>
              <a:ext cx="46863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152513" y="3096101"/>
              <a:ext cx="204210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边缘概率 P(X)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155180" y="3514725"/>
              <a:ext cx="42557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把另一个变量的可能值相加，回到单变量概率。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96100" y="4229100"/>
              <a:ext cx="4686300" cy="1428750"/>
            </a:xfrm>
            <a:prstGeom prst="roundRect">
              <a:avLst>
                <a:gd name="adj" fmla="val 9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52513" y="4372451"/>
              <a:ext cx="233866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条件概率 P(Y|X)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55180" y="4791075"/>
              <a:ext cx="36728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已知 X 后，只在相关行里重新归一化 Y。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152894" y="5123498"/>
              <a:ext cx="3193447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950" dirty="0">
                  <a:solidFill>
                    <a:srgbClr val="E5F0EC"/>
                  </a:solidFill>
                  <a:latin typeface="Cambria Math"/>
                  <a:ea typeface="Cambria Math"/>
                  <a:cs typeface="Cambria Math"/>
                </a:rPr>
                <a:t>P(X=x) = Σᵧ P(X=x, Y=y)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604266" y="6516052"/>
            <a:ext cx="280235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04 / 30 · 高维联合模型是这张 2×2 表的推广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5-header"/>
          <p:cNvGrpSpPr/>
          <p:nvPr/>
        </p:nvGrpSpPr>
        <p:grpSpPr>
          <a:xfrm>
            <a:off x="593598" y="556260"/>
            <a:ext cx="6752844" cy="881825"/>
            <a:chOff x="593598" y="556260"/>
            <a:chExt cx="6752844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01 概率表示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675284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相关性、条件依赖与因果解释边界</a:t>
              </a:r>
            </a:p>
          </p:txBody>
        </p:sp>
      </p:grpSp>
      <p:grpSp>
        <p:nvGrpSpPr>
          <p:cNvPr id="25" name="p05-networks"/>
          <p:cNvGrpSpPr/>
          <p:nvPr/>
        </p:nvGrpSpPr>
        <p:grpSpPr>
          <a:xfrm>
            <a:off x="601218" y="1764982"/>
            <a:ext cx="5723382" cy="3245168"/>
            <a:chOff x="601218" y="1764982"/>
            <a:chExt cx="5723382" cy="3245168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764982"/>
              <a:ext cx="365455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同样的 X–Y 相关，可以来自不同结构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324100"/>
              <a:ext cx="2628900" cy="2686050"/>
            </a:xfrm>
            <a:prstGeom prst="roundRect">
              <a:avLst>
                <a:gd name="adj" fmla="val 652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8680" y="2524125"/>
              <a:ext cx="2461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可能解释 A · 直接统计关系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1352550" y="3695700"/>
              <a:ext cx="1162050" cy="9525"/>
            </a:xfrm>
            <a:custGeom>
              <a:avLst/>
              <a:gdLst/>
              <a:ahLst/>
              <a:cxnLst/>
              <a:rect l="l" t="t" r="r" b="b"/>
              <a:pathLst>
                <a:path w="1162050" h="9525">
                  <a:moveTo>
                    <a:pt x="0" y="0"/>
                  </a:moveTo>
                  <a:lnTo>
                    <a:pt x="1162050" y="0"/>
                  </a:lnTo>
                </a:path>
              </a:pathLst>
            </a:custGeom>
            <a:noFill/>
            <a:ln w="57150">
              <a:solidFill>
                <a:schemeClr val="accent2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819150" y="337185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2400300" y="337185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36886" y="3561398"/>
              <a:ext cx="2122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X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2618204" y="3561398"/>
              <a:ext cx="2118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Y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9442" y="44643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控制其他节点后，关系仍保留。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524250" y="2324100"/>
              <a:ext cx="2800350" cy="2686050"/>
            </a:xfrm>
            <a:prstGeom prst="roundRect">
              <a:avLst>
                <a:gd name="adj" fmla="val 638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3783330" y="2524125"/>
              <a:ext cx="2057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可能解释 B · 共同关联</a:t>
              </a:r>
            </a:p>
          </p:txBody>
        </p:sp>
        <p:sp>
          <p:nvSpPr>
            <p:cNvPr id="16" name="Line 16"/>
            <p:cNvSpPr/>
            <p:nvPr/>
          </p:nvSpPr>
          <p:spPr>
            <a:xfrm>
              <a:off x="4229100" y="3276600"/>
              <a:ext cx="704850" cy="762000"/>
            </a:xfrm>
            <a:custGeom>
              <a:avLst/>
              <a:gdLst/>
              <a:ahLst/>
              <a:cxnLst/>
              <a:rect l="l" t="t" r="r" b="b"/>
              <a:pathLst>
                <a:path w="704850" h="762000">
                  <a:moveTo>
                    <a:pt x="704850" y="0"/>
                  </a:moveTo>
                  <a:lnTo>
                    <a:pt x="0" y="762000"/>
                  </a:ln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</p:sp>
        <p:sp>
          <p:nvSpPr>
            <p:cNvPr id="17" name="Line 17"/>
            <p:cNvSpPr/>
            <p:nvPr/>
          </p:nvSpPr>
          <p:spPr>
            <a:xfrm>
              <a:off x="4933950" y="3276600"/>
              <a:ext cx="704850" cy="762000"/>
            </a:xfrm>
            <a:custGeom>
              <a:avLst/>
              <a:gdLst/>
              <a:ahLst/>
              <a:cxnLst/>
              <a:rect l="l" t="t" r="r" b="b"/>
              <a:pathLst>
                <a:path w="704850" h="762000">
                  <a:moveTo>
                    <a:pt x="0" y="0"/>
                  </a:moveTo>
                  <a:lnTo>
                    <a:pt x="704850" y="762000"/>
                  </a:ln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4610100" y="2819400"/>
              <a:ext cx="647700" cy="647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3771900" y="3886200"/>
              <a:ext cx="647700" cy="6477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5448300" y="3886200"/>
              <a:ext cx="647700" cy="647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833511" y="3008948"/>
              <a:ext cx="20087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Z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989636" y="4075748"/>
              <a:ext cx="212228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X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66204" y="4075748"/>
              <a:ext cx="211891" cy="381381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9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Y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3784092" y="4635818"/>
              <a:ext cx="22542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X 与 Y 可能被 Z 同时关联。</a:t>
              </a:r>
            </a:p>
          </p:txBody>
        </p:sp>
      </p:grpSp>
      <p:grpSp>
        <p:nvGrpSpPr>
          <p:cNvPr id="36" name="p05-ladder"/>
          <p:cNvGrpSpPr/>
          <p:nvPr/>
        </p:nvGrpSpPr>
        <p:grpSpPr>
          <a:xfrm>
            <a:off x="6800850" y="1752600"/>
            <a:ext cx="4781550" cy="3867150"/>
            <a:chOff x="6800850" y="1752600"/>
            <a:chExt cx="4781550" cy="3867150"/>
          </a:xfrm>
        </p:grpSpPr>
        <p:sp>
          <p:nvSpPr>
            <p:cNvPr id="26" name="Rectangle 26"/>
            <p:cNvSpPr/>
            <p:nvPr/>
          </p:nvSpPr>
          <p:spPr>
            <a:xfrm>
              <a:off x="6800850" y="1752600"/>
              <a:ext cx="4781550" cy="990600"/>
            </a:xfrm>
            <a:prstGeom prst="roundRect">
              <a:avLst>
                <a:gd name="adj" fmla="val 13462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7076313" y="1915001"/>
              <a:ext cx="1371001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1 · 相关性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078980" y="2314575"/>
              <a:ext cx="22364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描述两个量的共同变化。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800850" y="2971800"/>
              <a:ext cx="4781550" cy="990600"/>
            </a:xfrm>
            <a:prstGeom prst="roundRect">
              <a:avLst>
                <a:gd name="adj" fmla="val 1346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7076313" y="3134201"/>
              <a:ext cx="165832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2 · 条件依赖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7078980" y="3533775"/>
              <a:ext cx="30441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描述给定其他节点后的剩余关系。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6800850" y="4191000"/>
              <a:ext cx="4781550" cy="1428750"/>
            </a:xfrm>
            <a:prstGeom prst="roundRect">
              <a:avLst>
                <a:gd name="adj" fmla="val 93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076313" y="4353401"/>
              <a:ext cx="1658325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02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3 · 因果关系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078980" y="4752975"/>
              <a:ext cx="28422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需要额外实验设计或因果假设。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079361" y="5161121"/>
              <a:ext cx="398394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本 package 不把 J 或“冻结”结果宣称为因果。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604266" y="6516052"/>
            <a:ext cx="401090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本阶段输出：概率关系 + 解释边界 → 下一阶段：能量模型参数化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p06-title"/>
          <p:cNvGrpSpPr/>
          <p:nvPr/>
        </p:nvGrpSpPr>
        <p:grpSpPr>
          <a:xfrm>
            <a:off x="593598" y="746760"/>
            <a:ext cx="3168396" cy="1510475"/>
            <a:chOff x="593598" y="746760"/>
            <a:chExt cx="3168396" cy="151047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7467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02 模型定义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1126808"/>
              <a:ext cx="272034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统计能量函数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93598" y="1641158"/>
              <a:ext cx="31683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与概率分布映射</a:t>
              </a:r>
            </a:p>
          </p:txBody>
        </p:sp>
      </p:grpSp>
      <p:grpSp>
        <p:nvGrpSpPr>
          <p:cNvPr id="15" name="p06-landscape"/>
          <p:cNvGrpSpPr/>
          <p:nvPr/>
        </p:nvGrpSpPr>
        <p:grpSpPr>
          <a:xfrm>
            <a:off x="609600" y="1619250"/>
            <a:ext cx="10972800" cy="4000500"/>
            <a:chOff x="609600" y="1619250"/>
            <a:chExt cx="10972800" cy="4000500"/>
          </a:xfrm>
        </p:grpSpPr>
        <p:sp>
          <p:nvSpPr>
            <p:cNvPr id="6" name="Freeform 6"/>
            <p:cNvSpPr/>
            <p:nvPr/>
          </p:nvSpPr>
          <p:spPr>
            <a:xfrm>
              <a:off x="609600" y="1619250"/>
              <a:ext cx="10972800" cy="4000500"/>
            </a:xfrm>
            <a:custGeom>
              <a:avLst/>
              <a:gdLst/>
              <a:ahLst/>
              <a:cxnLst/>
              <a:rect l="l" t="t" r="r" b="b"/>
              <a:pathLst>
                <a:path w="10972800" h="4000500">
                  <a:moveTo>
                    <a:pt x="0" y="2895600"/>
                  </a:moveTo>
                  <a:cubicBezTo>
                    <a:pt x="1200150" y="952500"/>
                    <a:pt x="2343150" y="3810000"/>
                    <a:pt x="3581400" y="2000250"/>
                  </a:cubicBezTo>
                  <a:cubicBezTo>
                    <a:pt x="4724400" y="342900"/>
                    <a:pt x="5867400" y="3390900"/>
                    <a:pt x="7124700" y="1619250"/>
                  </a:cubicBezTo>
                  <a:cubicBezTo>
                    <a:pt x="8343900" y="0"/>
                    <a:pt x="9525000" y="2857500"/>
                    <a:pt x="10972800" y="1085850"/>
                  </a:cubicBezTo>
                  <a:lnTo>
                    <a:pt x="10972800" y="4000500"/>
                  </a:lnTo>
                  <a:lnTo>
                    <a:pt x="0" y="4000500"/>
                  </a:lnTo>
                  <a:close/>
                </a:path>
              </a:pathLst>
            </a:custGeom>
            <a:solidFill>
              <a:schemeClr val="lt2">
                <a:alpha val="96000"/>
              </a:schemeClr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8820150" y="2895600"/>
              <a:ext cx="266700" cy="266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4057650" y="3581400"/>
              <a:ext cx="266700" cy="2667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012430" y="313372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高能量 → 小权重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173730" y="3838575"/>
              <a:ext cx="14590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低能量 → 大权重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96518" y="5041582"/>
              <a:ext cx="109406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完整状态 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696968" y="5041582"/>
              <a:ext cx="103203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E(s) 评分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087868" y="5041582"/>
              <a:ext cx="1252271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exp[−E(s)]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88168" y="504158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归一化</a:t>
              </a:r>
            </a:p>
          </p:txBody>
        </p:sp>
      </p:grpSp>
      <p:grpSp>
        <p:nvGrpSpPr>
          <p:cNvPr id="19" name="p06-formula"/>
          <p:cNvGrpSpPr/>
          <p:nvPr/>
        </p:nvGrpSpPr>
        <p:grpSpPr>
          <a:xfrm>
            <a:off x="7239000" y="781050"/>
            <a:ext cx="4343400" cy="1333500"/>
            <a:chOff x="7239000" y="781050"/>
            <a:chExt cx="4343400" cy="1333500"/>
          </a:xfrm>
        </p:grpSpPr>
        <p:sp>
          <p:nvSpPr>
            <p:cNvPr id="16" name="Rectangle 16"/>
            <p:cNvSpPr/>
            <p:nvPr/>
          </p:nvSpPr>
          <p:spPr>
            <a:xfrm>
              <a:off x="7239000" y="781050"/>
              <a:ext cx="4343400" cy="1333500"/>
            </a:xfrm>
            <a:prstGeom prst="roundRect">
              <a:avLst>
                <a:gd name="adj" fmla="val 11429"/>
              </a:avLst>
            </a:prstGeom>
            <a:solidFill>
              <a:srgbClr val="FFFFFF">
                <a:alpha val="8000"/>
              </a:srgbClr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561314" y="1115378"/>
              <a:ext cx="369877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550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p(s) = exp[−E(s)] / Z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040814" y="16640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对全部状态归一化后得到概率分布</a:t>
              </a:r>
            </a:p>
          </p:txBody>
        </p:sp>
      </p:grpSp>
      <p:sp>
        <p:nvSpPr>
          <p:cNvPr id="20" name="TextBox 20"/>
          <p:cNvSpPr txBox="1"/>
          <p:nvPr/>
        </p:nvSpPr>
        <p:spPr>
          <a:xfrm>
            <a:off x="604266" y="6516052"/>
            <a:ext cx="226521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06 / 30 · 状态 → 能量 → 权重 → 概率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7-header"/>
          <p:cNvGrpSpPr/>
          <p:nvPr/>
        </p:nvGrpSpPr>
        <p:grpSpPr>
          <a:xfrm>
            <a:off x="593598" y="556260"/>
            <a:ext cx="4960620" cy="881825"/>
            <a:chOff x="593598" y="556260"/>
            <a:chExt cx="4960620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02 模型定义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49606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二值状态空间与输入表示</a:t>
              </a:r>
            </a:p>
          </p:txBody>
        </p:sp>
      </p:grpSp>
      <p:grpSp>
        <p:nvGrpSpPr>
          <p:cNvPr id="27" name="p07-pipeline"/>
          <p:cNvGrpSpPr/>
          <p:nvPr/>
        </p:nvGrpSpPr>
        <p:grpSpPr>
          <a:xfrm>
            <a:off x="600456" y="1809750"/>
            <a:ext cx="11067936" cy="3706939"/>
            <a:chOff x="600456" y="1809750"/>
            <a:chExt cx="11067936" cy="3706939"/>
          </a:xfrm>
        </p:grpSpPr>
        <p:sp>
          <p:nvSpPr>
            <p:cNvPr id="5" name="Rectangle 5"/>
            <p:cNvSpPr/>
            <p:nvPr/>
          </p:nvSpPr>
          <p:spPr>
            <a:xfrm>
              <a:off x="609600" y="1809750"/>
              <a:ext cx="2571750" cy="1200150"/>
            </a:xfrm>
            <a:prstGeom prst="roundRect">
              <a:avLst>
                <a:gd name="adj" fmla="val 1111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31342" y="20069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原始一行数据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30580" y="2409825"/>
              <a:ext cx="20648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Consolas"/>
                  <a:ea typeface="Microsoft YaHei"/>
                  <a:cs typeface="Consolas"/>
                </a:rPr>
                <a:t>0.2　1.4　−0.7　0.9</a:t>
              </a:r>
            </a:p>
          </p:txBody>
        </p:sp>
        <p:sp>
          <p:nvSpPr>
            <p:cNvPr id="8" name="Line 8"/>
            <p:cNvSpPr/>
            <p:nvPr/>
          </p:nvSpPr>
          <p:spPr>
            <a:xfrm>
              <a:off x="3181350" y="2419350"/>
              <a:ext cx="1009650" cy="9525"/>
            </a:xfrm>
            <a:custGeom>
              <a:avLst/>
              <a:gdLst/>
              <a:ahLst/>
              <a:cxnLst/>
              <a:rect l="l" t="t" r="r" b="b"/>
              <a:pathLst>
                <a:path w="1009650" h="9525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437763" y="2137410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阈值化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191000" y="1809750"/>
              <a:ext cx="3200400" cy="120015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412742" y="20069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状态向量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406646" y="2353628"/>
              <a:ext cx="3046781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55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s = (0, 1, 0, 1)</a:t>
              </a:r>
            </a:p>
          </p:txBody>
        </p:sp>
        <p:sp>
          <p:nvSpPr>
            <p:cNvPr id="13" name="Line 13"/>
            <p:cNvSpPr/>
            <p:nvPr/>
          </p:nvSpPr>
          <p:spPr>
            <a:xfrm>
              <a:off x="7391400" y="2419350"/>
              <a:ext cx="952500" cy="9525"/>
            </a:xfrm>
            <a:custGeom>
              <a:avLst/>
              <a:gdLst/>
              <a:ahLst/>
              <a:cxnLst/>
              <a:rect l="l" t="t" r="r" b="b"/>
              <a:pathLst>
                <a:path w="952500" h="9525">
                  <a:moveTo>
                    <a:pt x="0" y="0"/>
                  </a:moveTo>
                  <a:lnTo>
                    <a:pt x="9525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4" name="Rectangle 14"/>
            <p:cNvSpPr/>
            <p:nvPr/>
          </p:nvSpPr>
          <p:spPr>
            <a:xfrm>
              <a:off x="8343900" y="1809750"/>
              <a:ext cx="3238500" cy="1200150"/>
            </a:xfrm>
            <a:prstGeom prst="roundRect">
              <a:avLst>
                <a:gd name="adj" fmla="val 11111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65642" y="200691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完整联合状态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64118" y="2412682"/>
              <a:ext cx="310427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features + outcome 都是节点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00456" y="3539490"/>
              <a:ext cx="365302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三个实现细节决定模型能否复用：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04850" y="4057650"/>
              <a:ext cx="342900" cy="342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819464" y="41500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191768" y="4127182"/>
              <a:ext cx="48257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feature order 必须固定，并写入模型 artifact</a:t>
              </a:r>
            </a:p>
          </p:txBody>
        </p:sp>
        <p:sp>
          <p:nvSpPr>
            <p:cNvPr id="21" name="Ellipse 21"/>
            <p:cNvSpPr/>
            <p:nvPr/>
          </p:nvSpPr>
          <p:spPr>
            <a:xfrm>
              <a:off x="704850" y="4591050"/>
              <a:ext cx="342900" cy="342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19464" y="46834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191768" y="4660582"/>
              <a:ext cx="520333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outcome 也是联合分布中的一个节点，不是外部标签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704850" y="5124450"/>
              <a:ext cx="342900" cy="342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19464" y="5216842"/>
              <a:ext cx="1136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191768" y="5193982"/>
              <a:ext cx="395944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n=19 时共有 2¹⁹ = 524,288 个可能状态</a:t>
              </a:r>
            </a:p>
          </p:txBody>
        </p:sp>
      </p:grpSp>
      <p:sp>
        <p:nvSpPr>
          <p:cNvPr id="28" name="TextBox 28"/>
          <p:cNvSpPr txBox="1"/>
          <p:nvPr/>
        </p:nvSpPr>
        <p:spPr>
          <a:xfrm>
            <a:off x="604266" y="6516052"/>
            <a:ext cx="31910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07 / 30 · 每一行数据都映射到状态空间中的一个点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8-header"/>
          <p:cNvGrpSpPr/>
          <p:nvPr/>
        </p:nvGrpSpPr>
        <p:grpSpPr>
          <a:xfrm>
            <a:off x="593598" y="556260"/>
            <a:ext cx="4512564" cy="881825"/>
            <a:chOff x="593598" y="556260"/>
            <a:chExt cx="4512564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02 模型定义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45125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最大熵原理与约束分布</a:t>
              </a:r>
            </a:p>
          </p:txBody>
        </p:sp>
      </p:grpSp>
      <p:grpSp>
        <p:nvGrpSpPr>
          <p:cNvPr id="13" name="p08-candidates"/>
          <p:cNvGrpSpPr/>
          <p:nvPr/>
        </p:nvGrpSpPr>
        <p:grpSpPr>
          <a:xfrm>
            <a:off x="601218" y="1745932"/>
            <a:ext cx="5971032" cy="3588068"/>
            <a:chOff x="601218" y="1745932"/>
            <a:chExt cx="5971032" cy="3588068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745932"/>
              <a:ext cx="1793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数据只告诉我们：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209800"/>
              <a:ext cx="5143500" cy="781050"/>
            </a:xfrm>
            <a:prstGeom prst="roundRect">
              <a:avLst>
                <a:gd name="adj" fmla="val 1463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68680" y="2371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每个节点为 1 的频率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8680" y="2657475"/>
              <a:ext cx="24384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每对节点同时为 1 的频率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1218" y="3346132"/>
              <a:ext cx="35707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满足这些约束的分布可能有很多个：</a:t>
              </a:r>
            </a:p>
          </p:txBody>
        </p:sp>
        <p:sp>
          <p:nvSpPr>
            <p:cNvPr id="10" name="Freeform 10"/>
            <p:cNvSpPr/>
            <p:nvPr/>
          </p:nvSpPr>
          <p:spPr>
            <a:xfrm>
              <a:off x="838200" y="3181350"/>
              <a:ext cx="5734050" cy="2019300"/>
            </a:xfrm>
            <a:custGeom>
              <a:avLst/>
              <a:gdLst/>
              <a:ahLst/>
              <a:cxnLst/>
              <a:rect l="l" t="t" r="r" b="b"/>
              <a:pathLst>
                <a:path w="5734050" h="2019300">
                  <a:moveTo>
                    <a:pt x="0" y="2019300"/>
                  </a:moveTo>
                  <a:cubicBezTo>
                    <a:pt x="590550" y="628650"/>
                    <a:pt x="1257300" y="1771650"/>
                    <a:pt x="1885950" y="857250"/>
                  </a:cubicBezTo>
                  <a:cubicBezTo>
                    <a:pt x="2495550" y="57150"/>
                    <a:pt x="3257550" y="1733550"/>
                    <a:pt x="4019550" y="685800"/>
                  </a:cubicBezTo>
                  <a:cubicBezTo>
                    <a:pt x="4533900" y="0"/>
                    <a:pt x="5105400" y="723900"/>
                    <a:pt x="5734050" y="247650"/>
                  </a:cubicBezTo>
                </a:path>
              </a:pathLst>
            </a:custGeom>
            <a:noFill/>
            <a:ln w="28575">
              <a:solidFill>
                <a:schemeClr val="accent6"/>
              </a:solidFill>
            </a:ln>
          </p:spPr>
        </p:sp>
        <p:sp>
          <p:nvSpPr>
            <p:cNvPr id="11" name="Freeform 11"/>
            <p:cNvSpPr/>
            <p:nvPr/>
          </p:nvSpPr>
          <p:spPr>
            <a:xfrm>
              <a:off x="838200" y="3333750"/>
              <a:ext cx="5734050" cy="2000250"/>
            </a:xfrm>
            <a:custGeom>
              <a:avLst/>
              <a:gdLst/>
              <a:ahLst/>
              <a:cxnLst/>
              <a:rect l="l" t="t" r="r" b="b"/>
              <a:pathLst>
                <a:path w="5734050" h="2000250">
                  <a:moveTo>
                    <a:pt x="0" y="1714500"/>
                  </a:moveTo>
                  <a:cubicBezTo>
                    <a:pt x="781050" y="1047750"/>
                    <a:pt x="1447800" y="2000250"/>
                    <a:pt x="2171700" y="914400"/>
                  </a:cubicBezTo>
                  <a:cubicBezTo>
                    <a:pt x="2781300" y="0"/>
                    <a:pt x="3467100" y="762000"/>
                    <a:pt x="4248150" y="381000"/>
                  </a:cubicBezTo>
                  <a:cubicBezTo>
                    <a:pt x="4895850" y="57150"/>
                    <a:pt x="5257800" y="666750"/>
                    <a:pt x="5734050" y="361950"/>
                  </a:cubicBezTo>
                </a:path>
              </a:pathLst>
            </a:custGeom>
            <a:noFill/>
            <a:ln w="47625">
              <a:solidFill>
                <a:schemeClr val="accent2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5136642" y="480726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最大熵解</a:t>
              </a:r>
            </a:p>
          </p:txBody>
        </p:sp>
      </p:grpSp>
      <p:grpSp>
        <p:nvGrpSpPr>
          <p:cNvPr id="22" name="p08-principle"/>
          <p:cNvGrpSpPr/>
          <p:nvPr/>
        </p:nvGrpSpPr>
        <p:grpSpPr>
          <a:xfrm>
            <a:off x="7239000" y="1752600"/>
            <a:ext cx="4343400" cy="3871151"/>
            <a:chOff x="7239000" y="1752600"/>
            <a:chExt cx="4343400" cy="3871151"/>
          </a:xfrm>
        </p:grpSpPr>
        <p:sp>
          <p:nvSpPr>
            <p:cNvPr id="14" name="Rectangle 14"/>
            <p:cNvSpPr/>
            <p:nvPr/>
          </p:nvSpPr>
          <p:spPr>
            <a:xfrm>
              <a:off x="7239000" y="1752600"/>
              <a:ext cx="4343400" cy="2686050"/>
            </a:xfrm>
            <a:prstGeom prst="roundRect">
              <a:avLst>
                <a:gd name="adj" fmla="val 638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608570" y="2024062"/>
              <a:ext cx="6629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原则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610856" y="2586990"/>
              <a:ext cx="34107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在所有满足数据约束的分布里，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610856" y="2948940"/>
              <a:ext cx="21991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选择熵最大的一个。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612380" y="351472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最大熵解在既定约束外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612380" y="38385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不引入额外分布偏好。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366818" y="4830128"/>
              <a:ext cx="408776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255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H(p) = −Σₛ p(s) log p(s)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686599" y="5359718"/>
              <a:ext cx="3448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 越大，分布越少偏向没有证据支持的状态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04266" y="6516052"/>
            <a:ext cx="396142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08 / 30 · 一阶、二阶约束 → pairwise maximum-entropy 分布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09-header"/>
          <p:cNvGrpSpPr/>
          <p:nvPr/>
        </p:nvGrpSpPr>
        <p:grpSpPr>
          <a:xfrm>
            <a:off x="593598" y="556260"/>
            <a:ext cx="5192649" cy="881825"/>
            <a:chOff x="593598" y="556260"/>
            <a:chExt cx="5192649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02 模型定义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519264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Pairwise 能量函数参数化</a:t>
              </a:r>
            </a:p>
          </p:txBody>
        </p:sp>
      </p:grpSp>
      <p:grpSp>
        <p:nvGrpSpPr>
          <p:cNvPr id="7" name="p09-formula-area"/>
          <p:cNvGrpSpPr/>
          <p:nvPr/>
        </p:nvGrpSpPr>
        <p:grpSpPr>
          <a:xfrm>
            <a:off x="609600" y="1676400"/>
            <a:ext cx="10972800" cy="1409700"/>
            <a:chOff x="609600" y="1676400"/>
            <a:chExt cx="10972800" cy="140970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10972800" cy="1409700"/>
            </a:xfrm>
            <a:prstGeom prst="roundRect">
              <a:avLst>
                <a:gd name="adj" fmla="val 12162"/>
              </a:avLst>
            </a:prstGeom>
            <a:solidFill>
              <a:schemeClr val="accent1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6" name="p09-formula"/>
                <p:cNvSpPr txBox="1">
                  <a:spLocks noGrp="1"/>
                </p:cNvSpPr>
                <p:nvPr/>
              </p:nvSpPr>
              <p:spPr>
                <a:xfrm>
                  <a:off x="1714500" y="1924050"/>
                  <a:ext cx="8763000" cy="9144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lIns="0" tIns="0" rIns="0" bIns="0" wrap="none" anchor="ctr">
                  <a:normAutofit/>
                </a:bodyPr>
                <a:lstStyle/>
                <a:p>
                  <a:pPr algn="ctr"/>
                  <a14:m>
                    <m:oMathPara xmlns:a="http://schemas.openxmlformats.org/drawingml/2006/main" xmlns:m="http://schemas.openxmlformats.org/officeDocument/2006/math">
                      <m:oMathParaPr>
                        <m:jc m:val="center"/>
                      </m:oMathParaPr>
                      <m:oMath>
                        <m:r>
                          <a:rPr lang="zh-CN" sz="30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E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 m:val="on"/>
                            <m:ctrlPr>
                              <a:rPr lang="zh-CN" sz="30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dPr>
                          <m:e>
                            <m:r>
                              <a:rPr lang="zh-CN" sz="30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s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zh-CN" sz="30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=</m:t>
                        </m:r>
                        <m:sSup>
                          <m:e>
                            <m:r>
                              <a:rPr lang="zh-CN" sz="30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h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zh-CN" sz="30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⊤</m:t>
                            </m:r>
                          </m:sup>
                        </m:sSup>
                        <m:r>
                          <a:rPr lang="zh-CN" sz="30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s</m:t>
                        </m:r>
                        <m:r>
                          <m:rPr>
                            <m:sty m:val="p"/>
                          </m:rPr>
                          <a:rPr lang="zh-CN" sz="3000" dirty="0">
                            <a:solidFill>
                              <a:srgbClr val="FFFFFF"/>
                            </a:solidFill>
                            <a:latin typeface="Cambria Math"/>
                            <a:ea typeface="Cambria Math"/>
                            <a:cs typeface="Cambria Math"/>
                          </a:rPr>
                          <m:t>+</m:t>
                        </m:r>
                        <m:nary>
                          <m:naryPr>
                            <m:chr m:val="∑"/>
                            <m:limLoc m:val="undOvr"/>
                            <m:grow m:val="off"/>
                            <m:subHide m:val="off"/>
                            <m:supHide m:val="on"/>
                            <m:ctrlPr>
                              <a:rPr lang="zh-CN" sz="30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</m:ctrlPr>
                          </m:naryPr>
                          <m:sub>
                            <m:r>
                              <a:rPr lang="zh-CN" sz="30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i</m:t>
                            </m:r>
                            <m:r>
                              <m:rPr>
                                <m:sty m:val="p"/>
                              </m:rPr>
                              <a:rPr lang="zh-CN" sz="30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&lt;</m:t>
                            </m:r>
                            <m:r>
                              <a:rPr lang="zh-CN" sz="3000" dirty="0">
                                <a:solidFill>
                                  <a:srgbClr val="FFFFFF"/>
                                </a:solidFill>
                                <a:latin typeface="Cambria Math"/>
                                <a:ea typeface="Cambria Math"/>
                                <a:cs typeface="Cambria Math"/>
                              </a:rPr>
                              <m:t>j</m:t>
                            </m:r>
                          </m:sub>
                          <m:sup/>
                          <m:e>
                            <m:sSub>
                              <m:e>
                                <m:r>
                                  <a:rPr lang="zh-CN" sz="30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e>
                              <m:sub>
                                <m:r>
                                  <a:rPr lang="zh-CN" sz="30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ij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30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30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i</m:t>
                                </m:r>
                              </m:sub>
                            </m:sSub>
                            <m:sSub>
                              <m:e>
                                <m:r>
                                  <a:rPr lang="zh-CN" sz="30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s</m:t>
                                </m:r>
                              </m:e>
                              <m:sub>
                                <m:r>
                                  <a:rPr lang="zh-CN" sz="3000" dirty="0">
                                    <a:solidFill>
                                      <a:srgbClr val="FFFFFF"/>
                                    </a:solidFill>
                                    <a:latin typeface="Cambria Math"/>
                                    <a:ea typeface="Cambria Math"/>
                                    <a:cs typeface="Cambria Math"/>
                                  </a:rPr>
                                  <m:t>j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</a:p>
              </p:txBody>
            </p:sp>
          </mc:Choice>
        </mc:AlternateContent>
      </p:grpSp>
      <p:grpSp>
        <p:nvGrpSpPr>
          <p:cNvPr id="24" name="p09-symbols"/>
          <p:cNvGrpSpPr/>
          <p:nvPr/>
        </p:nvGrpSpPr>
        <p:grpSpPr>
          <a:xfrm>
            <a:off x="609600" y="3581400"/>
            <a:ext cx="10972800" cy="2038350"/>
            <a:chOff x="609600" y="3581400"/>
            <a:chExt cx="10972800" cy="2038350"/>
          </a:xfrm>
        </p:grpSpPr>
        <p:sp>
          <p:nvSpPr>
            <p:cNvPr id="8" name="Rectangle 8"/>
            <p:cNvSpPr/>
            <p:nvPr/>
          </p:nvSpPr>
          <p:spPr>
            <a:xfrm>
              <a:off x="609600" y="3581400"/>
              <a:ext cx="2476500" cy="2038350"/>
            </a:xfrm>
            <a:prstGeom prst="roundRect">
              <a:avLst>
                <a:gd name="adj" fmla="val 654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45058" y="3779520"/>
              <a:ext cx="20208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2"/>
                  </a:solidFill>
                  <a:latin typeface="Cambria Math"/>
                  <a:ea typeface="Cambria Math"/>
                  <a:cs typeface="Cambria Math"/>
                </a:rPr>
                <a:t>s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49630" y="42767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当前完整状态向量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50392" y="4635818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 sᵢ 是 0 或 1</a:t>
              </a:r>
            </a:p>
          </p:txBody>
        </p:sp>
        <p:sp>
          <p:nvSpPr>
            <p:cNvPr id="12" name="Rectangle 12"/>
            <p:cNvSpPr/>
            <p:nvPr/>
          </p:nvSpPr>
          <p:spPr>
            <a:xfrm>
              <a:off x="3371850" y="3581400"/>
              <a:ext cx="2476500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3607308" y="3779520"/>
              <a:ext cx="73517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2"/>
                  </a:solidFill>
                  <a:latin typeface="Cambria Math"/>
                  <a:ea typeface="Cambria Math"/>
                  <a:cs typeface="Cambria Math"/>
                </a:rPr>
                <a:t>hᵢsᵢ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611880" y="4276725"/>
              <a:ext cx="122682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单节点局部项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12642" y="463581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 控制节点自身倾向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6134100" y="3581400"/>
              <a:ext cx="2476500" cy="2038350"/>
            </a:xfrm>
            <a:prstGeom prst="roundRect">
              <a:avLst>
                <a:gd name="adj" fmla="val 6542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369558" y="3779520"/>
              <a:ext cx="1291742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2"/>
                  </a:solidFill>
                  <a:latin typeface="Cambria Math"/>
                  <a:ea typeface="Cambria Math"/>
                  <a:cs typeface="Cambria Math"/>
                </a:rPr>
                <a:t>Jᵢⱼsᵢsⱼ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74130" y="4276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成对交互项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74892" y="463581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两个节点都为 1 时贡献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8896350" y="3581400"/>
              <a:ext cx="2686050" cy="2038350"/>
            </a:xfrm>
            <a:prstGeom prst="roundRect">
              <a:avLst>
                <a:gd name="adj" fmla="val 6542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131808" y="3779520"/>
              <a:ext cx="589788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2"/>
                  </a:solidFill>
                  <a:latin typeface="Cambria Math"/>
                  <a:ea typeface="Cambria Math"/>
                  <a:cs typeface="Cambria Math"/>
                </a:rPr>
                <a:t>i &lt; j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136380" y="427672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每一对只计算一次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9137142" y="4635818"/>
              <a:ext cx="1603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J 对称且对角线为 0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04266" y="6516052"/>
            <a:ext cx="388597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09 / 30 · 因为 p ∝ exp(−E)，参数符号必须结合能量约定解释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0-header"/>
          <p:cNvGrpSpPr/>
          <p:nvPr/>
        </p:nvGrpSpPr>
        <p:grpSpPr>
          <a:xfrm>
            <a:off x="593598" y="556260"/>
            <a:ext cx="4512564" cy="881825"/>
            <a:chOff x="593598" y="556260"/>
            <a:chExt cx="4512564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02 模型定义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45125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配分函数与概率归一化</a:t>
              </a:r>
            </a:p>
          </p:txBody>
        </p:sp>
      </p:grpSp>
      <p:grpSp>
        <p:nvGrpSpPr>
          <p:cNvPr id="31" name="p10-states"/>
          <p:cNvGrpSpPr/>
          <p:nvPr/>
        </p:nvGrpSpPr>
        <p:grpSpPr>
          <a:xfrm>
            <a:off x="601218" y="1745932"/>
            <a:ext cx="11134453" cy="3988118"/>
            <a:chOff x="601218" y="1745932"/>
            <a:chExt cx="11134453" cy="3988118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745932"/>
              <a:ext cx="445922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两节点示例：先算每个状态的能量，再算权重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266950"/>
              <a:ext cx="7810500" cy="2457450"/>
            </a:xfrm>
            <a:prstGeom prst="roundRect">
              <a:avLst>
                <a:gd name="adj" fmla="val 542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609600" y="2266950"/>
              <a:ext cx="78105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1098042" y="2464118"/>
              <a:ext cx="5316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 s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3079242" y="2464118"/>
              <a:ext cx="8443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能量 E(s)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003292" y="2464118"/>
              <a:ext cx="11420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权重 exp[−E]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117842" y="2464118"/>
              <a:ext cx="11608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概率 = 权重/Z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7280" y="30575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00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078480" y="3057525"/>
              <a:ext cx="3484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0.2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002530" y="305752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0.819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97280" y="35337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01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3078480" y="35337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−0.6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002530" y="353377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1.822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97280" y="401002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10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078480" y="401002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−0.1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002530" y="401002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1.105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7280" y="4486275"/>
              <a:ext cx="23736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11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078480" y="4486275"/>
              <a:ext cx="4594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−1.0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002530" y="4486275"/>
              <a:ext cx="57054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2.718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8839200" y="2266950"/>
              <a:ext cx="2743200" cy="2457450"/>
            </a:xfrm>
            <a:prstGeom prst="roundRect">
              <a:avLst>
                <a:gd name="adj" fmla="val 542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9799320" y="26003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配分函数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85929" y="3115628"/>
              <a:ext cx="3049742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255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Z = Σₛ exp[−E(s)]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9494520" y="3781425"/>
              <a:ext cx="14325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这里 Z = 6.464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9471079" y="4216718"/>
              <a:ext cx="1479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除以 Z 后总和为 1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609600" y="5067300"/>
              <a:ext cx="10972800" cy="666750"/>
            </a:xfrm>
            <a:prstGeom prst="roundRect">
              <a:avLst>
                <a:gd name="adj" fmla="val 1714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67918" y="5308282"/>
              <a:ext cx="681372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复杂度：n 个二值节点对应 2ⁿ 个状态，exact 计算成本呈指数增长。</a:t>
              </a:r>
            </a:p>
          </p:txBody>
        </p:sp>
      </p:grpSp>
      <p:sp>
        <p:nvSpPr>
          <p:cNvPr id="32" name="TextBox 32"/>
          <p:cNvSpPr txBox="1"/>
          <p:nvPr/>
        </p:nvSpPr>
        <p:spPr>
          <a:xfrm>
            <a:off x="604266" y="6516052"/>
            <a:ext cx="321946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10 / 30 · Z 依赖 h 与 J，不是可以忽略的固定常数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1-header"/>
          <p:cNvGrpSpPr/>
          <p:nvPr/>
        </p:nvGrpSpPr>
        <p:grpSpPr>
          <a:xfrm>
            <a:off x="593598" y="556260"/>
            <a:ext cx="4512564" cy="881825"/>
            <a:chOff x="593598" y="556260"/>
            <a:chExt cx="4512564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02 模型定义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4512564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一阶与二阶矩匹配目标</a:t>
              </a:r>
            </a:p>
          </p:txBody>
        </p:sp>
      </p:grpSp>
      <p:grpSp>
        <p:nvGrpSpPr>
          <p:cNvPr id="28" name="p11-flow"/>
          <p:cNvGrpSpPr/>
          <p:nvPr/>
        </p:nvGrpSpPr>
        <p:grpSpPr>
          <a:xfrm>
            <a:off x="609600" y="1809750"/>
            <a:ext cx="10972800" cy="3905250"/>
            <a:chOff x="609600" y="1809750"/>
            <a:chExt cx="10972800" cy="3905250"/>
          </a:xfrm>
        </p:grpSpPr>
        <p:sp>
          <p:nvSpPr>
            <p:cNvPr id="5" name="Rectangle 5"/>
            <p:cNvSpPr/>
            <p:nvPr/>
          </p:nvSpPr>
          <p:spPr>
            <a:xfrm>
              <a:off x="609600" y="1809750"/>
              <a:ext cx="2667000" cy="2876550"/>
            </a:xfrm>
            <a:prstGeom prst="roundRect">
              <a:avLst>
                <a:gd name="adj" fmla="val 5714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8299" y="20016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数据矩阵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8680" y="248602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0 1 0 1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8680" y="284797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1 1 0 0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8680" y="320992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0 1 1 1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8680" y="3571875"/>
              <a:ext cx="7926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000000"/>
                  </a:solidFill>
                  <a:latin typeface="Consolas"/>
                  <a:ea typeface="Consolas"/>
                  <a:cs typeface="Consolas"/>
                </a:rPr>
                <a:t>1 0 1 0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9442" y="4216718"/>
              <a:ext cx="13131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样本 → 经验平均</a:t>
              </a:r>
            </a:p>
          </p:txBody>
        </p:sp>
        <p:sp>
          <p:nvSpPr>
            <p:cNvPr id="12" name="Line 12"/>
            <p:cNvSpPr/>
            <p:nvPr/>
          </p:nvSpPr>
          <p:spPr>
            <a:xfrm>
              <a:off x="3276600" y="325755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4095750" y="1809750"/>
              <a:ext cx="3714750" cy="2876550"/>
            </a:xfrm>
            <a:prstGeom prst="roundRect">
              <a:avLst>
                <a:gd name="adj" fmla="val 529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4354449" y="2001679"/>
              <a:ext cx="14091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 moments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351020" y="2481262"/>
              <a:ext cx="187052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Cambria Math"/>
                  <a:ea typeface="Microsoft YaHei"/>
                  <a:cs typeface="Cambria Math"/>
                </a:rPr>
                <a:t>一阶：〈sᵢ〉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355211" y="2951321"/>
              <a:ext cx="155331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 i 为 1 的频率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4351020" y="3490912"/>
              <a:ext cx="2203704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2"/>
                  </a:solidFill>
                  <a:latin typeface="Cambria Math"/>
                  <a:ea typeface="Microsoft YaHei"/>
                  <a:cs typeface="Cambria Math"/>
                </a:rPr>
                <a:t>二阶：〈sᵢsⱼ〉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355211" y="3960971"/>
              <a:ext cx="218414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 i、j 同时为 1 的频率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7810500" y="325755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8629650" y="1809750"/>
              <a:ext cx="2952750" cy="2876550"/>
            </a:xfrm>
            <a:prstGeom prst="roundRect">
              <a:avLst>
                <a:gd name="adj" fmla="val 529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888349" y="2001679"/>
              <a:ext cx="140918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模型 moments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88730" y="2562225"/>
              <a:ext cx="137788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由当前 h、J 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888730" y="2886075"/>
              <a:ext cx="163068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整个模型分布计算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888730" y="3571875"/>
              <a:ext cx="9946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训练误差 =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887968" y="3917632"/>
              <a:ext cx="13606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model − data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09600" y="5029200"/>
              <a:ext cx="10972800" cy="685800"/>
            </a:xfrm>
            <a:prstGeom prst="roundRect">
              <a:avLst>
                <a:gd name="adj" fmla="val 1666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7918" y="5270182"/>
              <a:ext cx="84463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高阶 moments 没有直接参与训练，因此可作为“模型是否学到更多结构”的外部检验。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04266" y="6516052"/>
            <a:ext cx="357271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11 / 30 · 一阶 + 二阶 moments 是 pairwise 模型的约束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2-header"/>
          <p:cNvGrpSpPr/>
          <p:nvPr/>
        </p:nvGrpSpPr>
        <p:grpSpPr>
          <a:xfrm>
            <a:off x="593598" y="556260"/>
            <a:ext cx="3168396" cy="881825"/>
            <a:chOff x="593598" y="556260"/>
            <a:chExt cx="3168396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02 模型定义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31683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单节点条件概率</a:t>
              </a:r>
            </a:p>
          </p:txBody>
        </p:sp>
      </p:grpSp>
      <p:grpSp>
        <p:nvGrpSpPr>
          <p:cNvPr id="22" name="p12-compare"/>
          <p:cNvGrpSpPr/>
          <p:nvPr/>
        </p:nvGrpSpPr>
        <p:grpSpPr>
          <a:xfrm>
            <a:off x="601218" y="1764982"/>
            <a:ext cx="10981182" cy="3797618"/>
            <a:chOff x="601218" y="1764982"/>
            <a:chExt cx="10981182" cy="3797618"/>
          </a:xfrm>
        </p:grpSpPr>
        <p:sp>
          <p:nvSpPr>
            <p:cNvPr id="5" name="TextBox 5"/>
            <p:cNvSpPr txBox="1"/>
            <p:nvPr/>
          </p:nvSpPr>
          <p:spPr>
            <a:xfrm>
              <a:off x="601218" y="1764982"/>
              <a:ext cx="45369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固定同一组特征 x，只改变 outcome 节点 y：</a:t>
              </a:r>
            </a:p>
          </p:txBody>
        </p:sp>
        <p:sp>
          <p:nvSpPr>
            <p:cNvPr id="6" name="Rectangle 6"/>
            <p:cNvSpPr/>
            <p:nvPr/>
          </p:nvSpPr>
          <p:spPr>
            <a:xfrm>
              <a:off x="609600" y="2266950"/>
              <a:ext cx="3619500" cy="1600200"/>
            </a:xfrm>
            <a:prstGeom prst="roundRect">
              <a:avLst>
                <a:gd name="adj" fmla="val 9524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888111" y="2532221"/>
              <a:ext cx="9508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候选状态 A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84682" y="2992755"/>
              <a:ext cx="25091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(x₁, x₂, …, y=0)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88111" y="3446621"/>
              <a:ext cx="11044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计算 E(x,0)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4533900" y="2266950"/>
              <a:ext cx="3619500" cy="1600200"/>
            </a:xfrm>
            <a:prstGeom prst="roundRect">
              <a:avLst>
                <a:gd name="adj" fmla="val 9524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4812411" y="2532221"/>
              <a:ext cx="9508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候选状态 B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4808982" y="2992755"/>
              <a:ext cx="2509114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100" dirty="0">
                  <a:solidFill>
                    <a:schemeClr val="accent1"/>
                  </a:solidFill>
                  <a:latin typeface="Consolas"/>
                  <a:ea typeface="Consolas"/>
                  <a:cs typeface="Consolas"/>
                </a:rPr>
                <a:t>(x₁, x₂, …, y=1)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812411" y="3446621"/>
              <a:ext cx="110445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计算 E(x,1)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8153400" y="3067050"/>
              <a:ext cx="800100" cy="9525"/>
            </a:xfrm>
            <a:custGeom>
              <a:avLst/>
              <a:gdLst/>
              <a:ahLst/>
              <a:cxnLst/>
              <a:rect l="l" t="t" r="r" b="b"/>
              <a:pathLst>
                <a:path w="800100" h="9525">
                  <a:moveTo>
                    <a:pt x="0" y="0"/>
                  </a:moveTo>
                  <a:lnTo>
                    <a:pt x="8001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8953500" y="2266950"/>
              <a:ext cx="2628900" cy="1600200"/>
            </a:xfrm>
            <a:prstGeom prst="roundRect">
              <a:avLst>
                <a:gd name="adj" fmla="val 952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9456906" y="2578418"/>
              <a:ext cx="162208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能量差进入 sigmoid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573196" y="3049905"/>
              <a:ext cx="138950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1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P(y=1 | x)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9693164" y="3492818"/>
              <a:ext cx="114957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输出 0–1 概率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609600" y="4305300"/>
              <a:ext cx="10972800" cy="1257300"/>
            </a:xfrm>
            <a:prstGeom prst="roundRect">
              <a:avLst>
                <a:gd name="adj" fmla="val 1060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2970566" y="4598670"/>
              <a:ext cx="6250869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24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P(y=1|x) = 1 / [1 + exp(hᵧ + Σᵢ Jᵢᵧxᵢ)]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586378" y="5123021"/>
              <a:ext cx="701924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hᵧ：outcome 自身倾向　·　Jᵢᵧ：每个特征与 outcome 的 pairwise interaction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04266" y="6516052"/>
            <a:ext cx="3897821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12 / 30 · 联合模型不是分类器，但联合分布可以导出条件预测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3-header"/>
          <p:cNvGrpSpPr/>
          <p:nvPr/>
        </p:nvGrpSpPr>
        <p:grpSpPr>
          <a:xfrm>
            <a:off x="593598" y="556260"/>
            <a:ext cx="5408676" cy="881825"/>
            <a:chOff x="593598" y="556260"/>
            <a:chExt cx="5408676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02 模型定义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5408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标准化、阈值化与状态编码</a:t>
              </a:r>
            </a:p>
          </p:txBody>
        </p:sp>
      </p:grpSp>
      <p:grpSp>
        <p:nvGrpSpPr>
          <p:cNvPr id="30" name="p13-pipeline"/>
          <p:cNvGrpSpPr/>
          <p:nvPr/>
        </p:nvGrpSpPr>
        <p:grpSpPr>
          <a:xfrm>
            <a:off x="585902" y="2050732"/>
            <a:ext cx="10996498" cy="3435668"/>
            <a:chOff x="585902" y="2050732"/>
            <a:chExt cx="10996498" cy="3435668"/>
          </a:xfrm>
        </p:grpSpPr>
        <p:sp>
          <p:nvSpPr>
            <p:cNvPr id="5" name="Line 5"/>
            <p:cNvSpPr/>
            <p:nvPr/>
          </p:nvSpPr>
          <p:spPr>
            <a:xfrm>
              <a:off x="1123950" y="2876550"/>
              <a:ext cx="9925050" cy="9525"/>
            </a:xfrm>
            <a:custGeom>
              <a:avLst/>
              <a:gdLst/>
              <a:ahLst/>
              <a:cxnLst/>
              <a:rect l="l" t="t" r="r" b="b"/>
              <a:pathLst>
                <a:path w="9925050" h="9525">
                  <a:moveTo>
                    <a:pt x="0" y="0"/>
                  </a:moveTo>
                  <a:lnTo>
                    <a:pt x="9925050" y="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6" name="Ellipse 6"/>
            <p:cNvSpPr/>
            <p:nvPr/>
          </p:nvSpPr>
          <p:spPr>
            <a:xfrm>
              <a:off x="1085850" y="2533650"/>
              <a:ext cx="685800" cy="6858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Ellipse 7"/>
            <p:cNvSpPr/>
            <p:nvPr/>
          </p:nvSpPr>
          <p:spPr>
            <a:xfrm>
              <a:off x="3752850" y="2533650"/>
              <a:ext cx="685800" cy="68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6419850" y="2533650"/>
              <a:ext cx="685800" cy="6858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9086850" y="2533650"/>
              <a:ext cx="685800" cy="685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359284" y="27746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026284" y="27746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693284" y="27746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360284" y="2774632"/>
              <a:ext cx="138932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87184" y="2050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列契约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643122" y="2050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缺失处理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6421184" y="2050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标准化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9088184" y="20507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二值化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5902" y="3397568"/>
              <a:ext cx="168569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固定 feature order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812190" y="3397568"/>
              <a:ext cx="25671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error / median / mean / zero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51572" y="3397568"/>
              <a:ext cx="10223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z = (x−μ)/σ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68550" y="3397568"/>
              <a:ext cx="9224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s = 1[z&gt;θ]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609600" y="4095750"/>
              <a:ext cx="5257800" cy="1390650"/>
            </a:xfrm>
            <a:prstGeom prst="roundRect">
              <a:avLst>
                <a:gd name="adj" fmla="val 958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867918" y="4298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一般使用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68680" y="4714875"/>
              <a:ext cx="277158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threshold_method='median'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69442" y="5054918"/>
              <a:ext cx="24217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 1 表示“高于本列中位数”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324600" y="4095750"/>
              <a:ext cx="5257800" cy="1390650"/>
            </a:xfrm>
            <a:prstGeom prst="roundRect">
              <a:avLst>
                <a:gd name="adj" fmla="val 958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582918" y="42986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论文复现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583680" y="4714875"/>
              <a:ext cx="35187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normalization='zscore', paper_std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584442" y="5054918"/>
              <a:ext cx="24580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每个 repeat 内严格使用 z &gt; 1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04266" y="6516052"/>
            <a:ext cx="41522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本阶段输出：二值状态矩阵 + 预处理契约 → 下一阶段：计算与训练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4-header"/>
          <p:cNvGrpSpPr/>
          <p:nvPr/>
        </p:nvGrpSpPr>
        <p:grpSpPr>
          <a:xfrm>
            <a:off x="593598" y="556260"/>
            <a:ext cx="5408676" cy="881825"/>
            <a:chOff x="593598" y="556260"/>
            <a:chExt cx="5408676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03 计算与训练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540867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精确枚举：数学定义与实现</a:t>
              </a:r>
            </a:p>
          </p:txBody>
        </p:sp>
      </p:grpSp>
      <p:grpSp>
        <p:nvGrpSpPr>
          <p:cNvPr id="15" name="p14-concept"/>
          <p:cNvGrpSpPr/>
          <p:nvPr/>
        </p:nvGrpSpPr>
        <p:grpSpPr>
          <a:xfrm>
            <a:off x="609600" y="1638300"/>
            <a:ext cx="3695700" cy="3848100"/>
            <a:chOff x="609600" y="1638300"/>
            <a:chExt cx="3695700" cy="3848100"/>
          </a:xfrm>
        </p:grpSpPr>
        <p:sp>
          <p:nvSpPr>
            <p:cNvPr id="5" name="Rectangle 5"/>
            <p:cNvSpPr/>
            <p:nvPr/>
          </p:nvSpPr>
          <p:spPr>
            <a:xfrm>
              <a:off x="609600" y="1638300"/>
              <a:ext cx="3695700" cy="3848100"/>
            </a:xfrm>
            <a:prstGeom prst="roundRect">
              <a:avLst>
                <a:gd name="adj" fmla="val 463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8299" y="1868329"/>
              <a:ext cx="4414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定义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23551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对每一个可能状态计算概率，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5212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再按概率加权求和。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2914650"/>
              <a:ext cx="3238500" cy="1028700"/>
            </a:xfrm>
            <a:prstGeom prst="roundRect">
              <a:avLst>
                <a:gd name="adj" fmla="val 1111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882109" y="3115151"/>
              <a:ext cx="3150683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202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Eₚ[f(s)] = Σₛ p(s)f(s)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589405" y="3558064"/>
              <a:ext cx="173609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精确概率期望的定义式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8299" y="41543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计算规模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4870" y="4462462"/>
              <a:ext cx="1110996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250" dirty="0">
                  <a:solidFill>
                    <a:schemeClr val="accent2"/>
                  </a:solidFill>
                  <a:latin typeface="Cambria Math"/>
                  <a:ea typeface="Cambria Math"/>
                  <a:cs typeface="Cambria Math"/>
                </a:rPr>
                <a:t>|S| = 2ⁿ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9442" y="4940618"/>
              <a:ext cx="214003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19 节点 → 524,288 个状态</a:t>
              </a:r>
            </a:p>
          </p:txBody>
        </p:sp>
      </p:grpSp>
      <p:grpSp>
        <p:nvGrpSpPr>
          <p:cNvPr id="29" name="p14-algorithm"/>
          <p:cNvGrpSpPr/>
          <p:nvPr/>
        </p:nvGrpSpPr>
        <p:grpSpPr>
          <a:xfrm>
            <a:off x="4525899" y="1754029"/>
            <a:ext cx="3113151" cy="3541871"/>
            <a:chOff x="4525899" y="1754029"/>
            <a:chExt cx="3113151" cy="3541871"/>
          </a:xfrm>
        </p:grpSpPr>
        <p:sp>
          <p:nvSpPr>
            <p:cNvPr id="16" name="TextBox 16"/>
            <p:cNvSpPr txBox="1"/>
            <p:nvPr/>
          </p:nvSpPr>
          <p:spPr>
            <a:xfrm>
              <a:off x="4525899" y="17540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算法步骤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533900" y="2114550"/>
              <a:ext cx="3105150" cy="590550"/>
            </a:xfrm>
            <a:prstGeom prst="roundRect">
              <a:avLst>
                <a:gd name="adj" fmla="val 1935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4736592" y="23307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枚举 s ∈ {0,1}ⁿ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6086475" y="27051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533900" y="2914650"/>
              <a:ext cx="3105150" cy="590550"/>
            </a:xfrm>
            <a:prstGeom prst="roundRect">
              <a:avLst>
                <a:gd name="adj" fmla="val 19355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6592" y="3130868"/>
              <a:ext cx="2327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计算 E(s) 与未归一化权重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6086475" y="35052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533900" y="3714750"/>
              <a:ext cx="3105150" cy="590550"/>
            </a:xfrm>
            <a:prstGeom prst="roundRect">
              <a:avLst>
                <a:gd name="adj" fmla="val 19355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736592" y="3930968"/>
              <a:ext cx="15703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求 Z 并得到 p(s)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6086475" y="43053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533900" y="4514850"/>
              <a:ext cx="3105150" cy="781050"/>
            </a:xfrm>
            <a:prstGeom prst="roundRect">
              <a:avLst>
                <a:gd name="adj" fmla="val 1463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4736592" y="4712018"/>
              <a:ext cx="2085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加权求 moments、预测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36592" y="497871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 xml:space="preserve">　 与温度响应</a:t>
              </a:r>
            </a:p>
          </p:txBody>
        </p:sp>
      </p:grpSp>
      <p:grpSp>
        <p:nvGrpSpPr>
          <p:cNvPr id="41" name="p14-implementation"/>
          <p:cNvGrpSpPr/>
          <p:nvPr/>
        </p:nvGrpSpPr>
        <p:grpSpPr>
          <a:xfrm>
            <a:off x="7867650" y="1638300"/>
            <a:ext cx="3714750" cy="3848100"/>
            <a:chOff x="7867650" y="1638300"/>
            <a:chExt cx="3714750" cy="3848100"/>
          </a:xfrm>
        </p:grpSpPr>
        <p:sp>
          <p:nvSpPr>
            <p:cNvPr id="30" name="Rectangle 30"/>
            <p:cNvSpPr/>
            <p:nvPr/>
          </p:nvSpPr>
          <p:spPr>
            <a:xfrm>
              <a:off x="7867650" y="1638300"/>
              <a:ext cx="3714750" cy="3848100"/>
            </a:xfrm>
            <a:prstGeom prst="roundRect">
              <a:avLst>
                <a:gd name="adj" fmla="val 461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126349" y="1868329"/>
              <a:ext cx="2231343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LearnEnergy 实现映射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8096250" y="2266950"/>
              <a:ext cx="3257550" cy="1714500"/>
            </a:xfrm>
            <a:prstGeom prst="roundRect">
              <a:avLst>
                <a:gd name="adj" fmla="val 6667"/>
              </a:avLst>
            </a:prstGeom>
            <a:solidFill>
              <a:srgbClr val="0D292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8299323" y="2472214"/>
              <a:ext cx="211106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489823" y="277701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F4A58F"/>
                  </a:solidFill>
                  <a:latin typeface="Consolas"/>
                  <a:ea typeface="Consolas"/>
                  <a:cs typeface="Consolas"/>
                </a:rPr>
                <a:t>calculation="exact",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489823" y="3081814"/>
              <a:ext cx="171885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max_exact_nodes=19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299323" y="3386614"/>
              <a:ext cx="10772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299323" y="3691414"/>
              <a:ext cx="133976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analysis.means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127492" y="4292918"/>
              <a:ext cx="21479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适合：数值基准、KL、Z、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127492" y="45786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温度响应、小规模复现。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127873" y="5043964"/>
              <a:ext cx="237365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无采样误差；代价随 2ⁿ 增长。</a:t>
              </a:r>
            </a:p>
          </p:txBody>
        </p:sp>
      </p:grpSp>
      <p:grpSp>
        <p:nvGrpSpPr>
          <p:cNvPr id="45" name="p14-footer"/>
          <p:cNvGrpSpPr/>
          <p:nvPr/>
        </p:nvGrpSpPr>
        <p:grpSpPr>
          <a:xfrm>
            <a:off x="604266" y="6115050"/>
            <a:ext cx="10983468" cy="320611"/>
            <a:chOff x="604266" y="6115050"/>
            <a:chExt cx="10983468" cy="320611"/>
          </a:xfrm>
        </p:grpSpPr>
        <p:sp>
          <p:nvSpPr>
            <p:cNvPr id="42" name="Line 42"/>
            <p:cNvSpPr/>
            <p:nvPr/>
          </p:nvSpPr>
          <p:spPr>
            <a:xfrm>
              <a:off x="609600" y="6115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4266" y="6230302"/>
              <a:ext cx="2075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LEARNENERGY · 计算与训练方法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03540" y="62303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14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5-header"/>
          <p:cNvGrpSpPr/>
          <p:nvPr/>
        </p:nvGrpSpPr>
        <p:grpSpPr>
          <a:xfrm>
            <a:off x="593598" y="556260"/>
            <a:ext cx="7443810" cy="881825"/>
            <a:chOff x="593598" y="556260"/>
            <a:chExt cx="7443810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03 计算与训练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744381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Monte Carlo 估计与 Gibbs 采样实现</a:t>
              </a:r>
            </a:p>
          </p:txBody>
        </p:sp>
      </p:grpSp>
      <p:grpSp>
        <p:nvGrpSpPr>
          <p:cNvPr id="17" name="p15-concept"/>
          <p:cNvGrpSpPr/>
          <p:nvPr/>
        </p:nvGrpSpPr>
        <p:grpSpPr>
          <a:xfrm>
            <a:off x="609600" y="1638300"/>
            <a:ext cx="4762500" cy="3905250"/>
            <a:chOff x="609600" y="1638300"/>
            <a:chExt cx="4762500" cy="3905250"/>
          </a:xfrm>
        </p:grpSpPr>
        <p:sp>
          <p:nvSpPr>
            <p:cNvPr id="5" name="Rectangle 5"/>
            <p:cNvSpPr/>
            <p:nvPr/>
          </p:nvSpPr>
          <p:spPr>
            <a:xfrm>
              <a:off x="609600" y="1638300"/>
              <a:ext cx="4762500" cy="3905250"/>
            </a:xfrm>
            <a:prstGeom prst="roundRect">
              <a:avLst>
                <a:gd name="adj" fmla="val 439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8299" y="1868329"/>
              <a:ext cx="19555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Monte Carlo 是什么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23551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一种数值估计方法：用样本平均值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5212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近似难以直接计算的概率期望。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9823" y="3005614"/>
              <a:ext cx="70220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精确求和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6775" y="3283744"/>
              <a:ext cx="2932220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88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Eₚ[f(s)] = Σₛ p(s)f(s)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876300" y="3733800"/>
              <a:ext cx="4229100" cy="9525"/>
            </a:xfrm>
            <a:custGeom>
              <a:avLst/>
              <a:gdLst/>
              <a:ahLst/>
              <a:cxnLst/>
              <a:rect l="l" t="t" r="r" b="b"/>
              <a:pathLst>
                <a:path w="4229100" h="9525">
                  <a:moveTo>
                    <a:pt x="0" y="0"/>
                  </a:moveTo>
                  <a:lnTo>
                    <a:pt x="42291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869823" y="3958114"/>
              <a:ext cx="141188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Monte Carlo 近似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6775" y="4255294"/>
              <a:ext cx="3376016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880" dirty="0">
                  <a:solidFill>
                    <a:schemeClr val="accent2"/>
                  </a:solidFill>
                  <a:latin typeface="Cambria Math"/>
                  <a:ea typeface="Cambria Math"/>
                  <a:cs typeface="Cambria Math"/>
                </a:rPr>
                <a:t>Eₚ[f(s)] ≈ 1/M Σₘ f(s⁽ᵐ⁾)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8200" y="4781550"/>
              <a:ext cx="4305300" cy="552450"/>
            </a:xfrm>
            <a:prstGeom prst="roundRect">
              <a:avLst>
                <a:gd name="adj" fmla="val 17241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519707" y="4882039"/>
              <a:ext cx="294228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前提：s⁽ᵐ⁾ 必须能代表目标分布 p(s)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552778" y="5117306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不是随机猜测，而是受概率分布约束的估计</a:t>
              </a:r>
            </a:p>
          </p:txBody>
        </p:sp>
      </p:grpSp>
      <p:grpSp>
        <p:nvGrpSpPr>
          <p:cNvPr id="36" name="p15-implementation"/>
          <p:cNvGrpSpPr/>
          <p:nvPr/>
        </p:nvGrpSpPr>
        <p:grpSpPr>
          <a:xfrm>
            <a:off x="5592699" y="1773079"/>
            <a:ext cx="5989701" cy="3770471"/>
            <a:chOff x="5592699" y="1773079"/>
            <a:chExt cx="5989701" cy="3770471"/>
          </a:xfrm>
        </p:grpSpPr>
        <p:sp>
          <p:nvSpPr>
            <p:cNvPr id="18" name="TextBox 18"/>
            <p:cNvSpPr txBox="1"/>
            <p:nvPr/>
          </p:nvSpPr>
          <p:spPr>
            <a:xfrm>
              <a:off x="5592699" y="1773079"/>
              <a:ext cx="268076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Gibbs：生成样本的具体算法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5600700" y="2114550"/>
              <a:ext cx="2724150" cy="1962150"/>
            </a:xfrm>
            <a:prstGeom prst="roundRect">
              <a:avLst>
                <a:gd name="adj" fmla="val 7767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822823" y="2319814"/>
              <a:ext cx="175332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初始化一个 0/1 状态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822823" y="2643664"/>
              <a:ext cx="219727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逐节点计算 P(sᵢ=1 | s₋ᵢ)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5822823" y="2967514"/>
              <a:ext cx="153792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按该概率更新节点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22823" y="3291364"/>
              <a:ext cx="22099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④ 丢弃 burn-in；按间隔保留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5822823" y="3615214"/>
              <a:ext cx="21496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⑤ 多链样本汇总为 moments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8515350" y="2114550"/>
              <a:ext cx="3067050" cy="2343150"/>
            </a:xfrm>
            <a:prstGeom prst="roundRect">
              <a:avLst>
                <a:gd name="adj" fmla="val 650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8737092" y="2311718"/>
              <a:ext cx="11374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Package 配置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37854" y="2689860"/>
              <a:ext cx="12669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LearningModel(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28354" y="297561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A58F"/>
                  </a:solidFill>
                  <a:latin typeface="Consolas"/>
                  <a:ea typeface="Consolas"/>
                  <a:cs typeface="Consolas"/>
                </a:rPr>
                <a:t>calculation="monte_carlo",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28354" y="3261360"/>
              <a:ext cx="1433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mc_samples=4000,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928354" y="3547110"/>
              <a:ext cx="14337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mc_burn_in=1000,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928354" y="38328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mc_thinning=2, mc_chains=4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737854" y="41186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5600700" y="4667250"/>
              <a:ext cx="5981700" cy="876300"/>
            </a:xfrm>
            <a:prstGeom prst="roundRect">
              <a:avLst>
                <a:gd name="adj" fmla="val 15217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5822442" y="48644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层次区分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22823" y="5177314"/>
              <a:ext cx="54886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Monte Carlo＝期望估计框架　Gibbs＝样本生成器　Adam＝参数更新器</a:t>
              </a:r>
            </a:p>
          </p:txBody>
        </p:sp>
      </p:grpSp>
      <p:grpSp>
        <p:nvGrpSpPr>
          <p:cNvPr id="40" name="p15-footer"/>
          <p:cNvGrpSpPr/>
          <p:nvPr/>
        </p:nvGrpSpPr>
        <p:grpSpPr>
          <a:xfrm>
            <a:off x="604266" y="6115050"/>
            <a:ext cx="10983468" cy="320611"/>
            <a:chOff x="604266" y="6115050"/>
            <a:chExt cx="10983468" cy="320611"/>
          </a:xfrm>
        </p:grpSpPr>
        <p:sp>
          <p:nvSpPr>
            <p:cNvPr id="37" name="Line 37"/>
            <p:cNvSpPr/>
            <p:nvPr/>
          </p:nvSpPr>
          <p:spPr>
            <a:xfrm>
              <a:off x="609600" y="6115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604266" y="6230302"/>
              <a:ext cx="2075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LEARNENERGY · 计算与训练方法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103540" y="62303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6-header"/>
          <p:cNvGrpSpPr/>
          <p:nvPr/>
        </p:nvGrpSpPr>
        <p:grpSpPr>
          <a:xfrm>
            <a:off x="593598" y="556260"/>
            <a:ext cx="5995309" cy="881825"/>
            <a:chOff x="593598" y="556260"/>
            <a:chExt cx="5995309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03 计算与训练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599530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Monte Carlo 诊断与实现参数</a:t>
              </a:r>
            </a:p>
          </p:txBody>
        </p:sp>
      </p:grpSp>
      <p:grpSp>
        <p:nvGrpSpPr>
          <p:cNvPr id="23" name="p16-metrics"/>
          <p:cNvGrpSpPr/>
          <p:nvPr/>
        </p:nvGrpSpPr>
        <p:grpSpPr>
          <a:xfrm>
            <a:off x="609600" y="1714500"/>
            <a:ext cx="10972800" cy="2209800"/>
            <a:chOff x="609600" y="1714500"/>
            <a:chExt cx="10972800" cy="2209800"/>
          </a:xfrm>
        </p:grpSpPr>
        <p:sp>
          <p:nvSpPr>
            <p:cNvPr id="5" name="Rectangle 5"/>
            <p:cNvSpPr/>
            <p:nvPr/>
          </p:nvSpPr>
          <p:spPr>
            <a:xfrm>
              <a:off x="609600" y="1714500"/>
              <a:ext cx="3371850" cy="2209800"/>
            </a:xfrm>
            <a:prstGeom prst="roundRect">
              <a:avLst>
                <a:gd name="adj" fmla="val 775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4108" y="1893570"/>
              <a:ext cx="86297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R-hat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368868"/>
              <a:ext cx="167661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链间差异 ÷ 链内差异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823" y="2719864"/>
              <a:ext cx="190840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多条链是否到达相同分布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68680" y="3171825"/>
              <a:ext cx="19638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项目阈值：max ≤ 1.1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204" y="3509010"/>
              <a:ext cx="22576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改善：更长 burn-in、检查混合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400550" y="1714500"/>
              <a:ext cx="3371850" cy="2209800"/>
            </a:xfrm>
            <a:prstGeom prst="roundRect">
              <a:avLst>
                <a:gd name="adj" fmla="val 775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655058" y="1893570"/>
              <a:ext cx="67411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ESS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4660392" y="23688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相关样本折算为独立样本数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4660773" y="2719864"/>
              <a:ext cx="264935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4000 个样本不一定有 4000 份信息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4659630" y="3171825"/>
              <a:ext cx="19133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项目阈值：min ≥ 100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661154" y="35090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改善：增加 samples / chains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191500" y="1714500"/>
              <a:ext cx="3390900" cy="2209800"/>
            </a:xfrm>
            <a:prstGeom prst="roundRect">
              <a:avLst>
                <a:gd name="adj" fmla="val 775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446008" y="1893570"/>
              <a:ext cx="1039646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MCSE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451342" y="23688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样本均值作为期望的标准误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51723" y="2719864"/>
              <a:ext cx="215341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衡量 Monte Carlo 数值误差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450580" y="3171825"/>
              <a:ext cx="2074926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项目阈值：max ≤ 0.05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452104" y="3509010"/>
              <a:ext cx="16276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改善：提高有效样本数</a:t>
              </a:r>
            </a:p>
          </p:txBody>
        </p:sp>
      </p:grpSp>
      <p:grpSp>
        <p:nvGrpSpPr>
          <p:cNvPr id="31" name="p16-implementation"/>
          <p:cNvGrpSpPr/>
          <p:nvPr/>
        </p:nvGrpSpPr>
        <p:grpSpPr>
          <a:xfrm>
            <a:off x="609600" y="4267200"/>
            <a:ext cx="10972800" cy="1276350"/>
            <a:chOff x="609600" y="4267200"/>
            <a:chExt cx="10972800" cy="1276350"/>
          </a:xfrm>
        </p:grpSpPr>
        <p:sp>
          <p:nvSpPr>
            <p:cNvPr id="24" name="Rectangle 24"/>
            <p:cNvSpPr/>
            <p:nvPr/>
          </p:nvSpPr>
          <p:spPr>
            <a:xfrm>
              <a:off x="609600" y="4267200"/>
              <a:ext cx="10972800" cy="1276350"/>
            </a:xfrm>
            <a:prstGeom prst="roundRect">
              <a:avLst>
                <a:gd name="adj" fmla="val 1343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9061" y="4475321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实现映射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9823" y="4834414"/>
              <a:ext cx="25718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diag = analysis.diagnostics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70204" y="5147310"/>
              <a:ext cx="632048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A58F"/>
                  </a:solidFill>
                  <a:latin typeface="Consolas"/>
                  <a:ea typeface="Consolas"/>
                  <a:cs typeface="Consolas"/>
                </a:rPr>
                <a:t>diag["max_rhat"] · diag["min_effective_sample_size"] · diag["max_mcse"]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7232523" y="4567714"/>
              <a:ext cx="124499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 → 主要影响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232904" y="4880610"/>
              <a:ext cx="3350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F2E9"/>
                  </a:solidFill>
                  <a:latin typeface="+mn-lt"/>
                  <a:ea typeface="+mn-ea"/>
                  <a:cs typeface="+mn-cs"/>
                </a:rPr>
                <a:t>burn_in → 初始偏差　samples / chains → ESS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7232904" y="5166360"/>
              <a:ext cx="2928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F2E9"/>
                  </a:solidFill>
                  <a:latin typeface="+mn-lt"/>
                  <a:ea typeface="+mn-ea"/>
                  <a:cs typeface="+mn-cs"/>
                </a:rPr>
                <a:t>thinning → 保留间隔；不能替代收敛诊断</a:t>
              </a:r>
            </a:p>
          </p:txBody>
        </p:sp>
      </p:grpSp>
      <p:grpSp>
        <p:nvGrpSpPr>
          <p:cNvPr id="35" name="p16-footer"/>
          <p:cNvGrpSpPr/>
          <p:nvPr/>
        </p:nvGrpSpPr>
        <p:grpSpPr>
          <a:xfrm>
            <a:off x="604266" y="6115050"/>
            <a:ext cx="10983468" cy="320611"/>
            <a:chOff x="604266" y="6115050"/>
            <a:chExt cx="10983468" cy="320611"/>
          </a:xfrm>
        </p:grpSpPr>
        <p:sp>
          <p:nvSpPr>
            <p:cNvPr id="32" name="Line 32"/>
            <p:cNvSpPr/>
            <p:nvPr/>
          </p:nvSpPr>
          <p:spPr>
            <a:xfrm>
              <a:off x="609600" y="6115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04266" y="6230302"/>
              <a:ext cx="2075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LEARNENERGY · 计算与训练方法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103540" y="62303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16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7-header"/>
          <p:cNvGrpSpPr/>
          <p:nvPr/>
        </p:nvGrpSpPr>
        <p:grpSpPr>
          <a:xfrm>
            <a:off x="593598" y="556260"/>
            <a:ext cx="5856732" cy="881825"/>
            <a:chOff x="593598" y="556260"/>
            <a:chExt cx="5856732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03 计算与训练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585673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矩匹配：目标函数与训练实现</a:t>
              </a:r>
            </a:p>
          </p:txBody>
        </p:sp>
      </p:grpSp>
      <p:grpSp>
        <p:nvGrpSpPr>
          <p:cNvPr id="15" name="p17-objective"/>
          <p:cNvGrpSpPr/>
          <p:nvPr/>
        </p:nvGrpSpPr>
        <p:grpSpPr>
          <a:xfrm>
            <a:off x="609600" y="1676400"/>
            <a:ext cx="3429000" cy="3790950"/>
            <a:chOff x="609600" y="1676400"/>
            <a:chExt cx="3429000" cy="37909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3429000" cy="3790950"/>
            </a:xfrm>
            <a:prstGeom prst="roundRect">
              <a:avLst>
                <a:gd name="adj" fmla="val 5000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8299" y="1906429"/>
              <a:ext cx="10795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概念与目标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292668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让模型的一阶、二阶 moments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578418"/>
              <a:ext cx="24762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接近数据中的经验 moments。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009900"/>
              <a:ext cx="2971800" cy="1104900"/>
            </a:xfrm>
            <a:prstGeom prst="roundRect">
              <a:avLst>
                <a:gd name="adj" fmla="val 103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951929" y="3215640"/>
              <a:ext cx="27443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8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gmean = μmodel − μdata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8385" y="3615690"/>
              <a:ext cx="275143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800" dirty="0">
                  <a:solidFill>
                    <a:schemeClr val="accent2"/>
                  </a:solidFill>
                  <a:latin typeface="Cambria Math"/>
                  <a:ea typeface="Cambria Math"/>
                  <a:cs typeface="Cambria Math"/>
                </a:rPr>
                <a:t>gpair = Mmodel − Mdata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9823" y="4377214"/>
              <a:ext cx="22874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模型 moments 可由 exact 或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9823" y="4643914"/>
              <a:ext cx="211570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Monte Carlo/Gibbs 计算。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9442" y="5054918"/>
              <a:ext cx="22218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停止：max |g| &lt; tolerance</a:t>
              </a:r>
            </a:p>
          </p:txBody>
        </p:sp>
      </p:grpSp>
      <p:grpSp>
        <p:nvGrpSpPr>
          <p:cNvPr id="29" name="p17-algorithm"/>
          <p:cNvGrpSpPr/>
          <p:nvPr/>
        </p:nvGrpSpPr>
        <p:grpSpPr>
          <a:xfrm>
            <a:off x="4259199" y="1792129"/>
            <a:ext cx="2865501" cy="3522821"/>
            <a:chOff x="4259199" y="1792129"/>
            <a:chExt cx="2865501" cy="3522821"/>
          </a:xfrm>
        </p:grpSpPr>
        <p:sp>
          <p:nvSpPr>
            <p:cNvPr id="16" name="TextBox 16"/>
            <p:cNvSpPr txBox="1"/>
            <p:nvPr/>
          </p:nvSpPr>
          <p:spPr>
            <a:xfrm>
              <a:off x="4259199" y="17921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训练循环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4267200" y="2190750"/>
              <a:ext cx="2857500" cy="590550"/>
            </a:xfrm>
            <a:prstGeom prst="roundRect">
              <a:avLst>
                <a:gd name="adj" fmla="val 1935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016665" y="2406968"/>
              <a:ext cx="1358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① 数据 moments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5695950" y="27813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267200" y="2990850"/>
              <a:ext cx="2857500" cy="590550"/>
            </a:xfrm>
            <a:prstGeom prst="roundRect">
              <a:avLst>
                <a:gd name="adj" fmla="val 19355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5016665" y="3207068"/>
              <a:ext cx="135857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② 模型 moments</a:t>
              </a:r>
            </a:p>
          </p:txBody>
        </p:sp>
        <p:sp>
          <p:nvSpPr>
            <p:cNvPr id="22" name="Line 22"/>
            <p:cNvSpPr/>
            <p:nvPr/>
          </p:nvSpPr>
          <p:spPr>
            <a:xfrm>
              <a:off x="5695950" y="35814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4267200" y="3790950"/>
              <a:ext cx="2857500" cy="590550"/>
            </a:xfrm>
            <a:prstGeom prst="roundRect">
              <a:avLst>
                <a:gd name="adj" fmla="val 19355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5171142" y="4007168"/>
              <a:ext cx="10496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③ 计算误差 g</a:t>
              </a:r>
            </a:p>
          </p:txBody>
        </p:sp>
        <p:sp>
          <p:nvSpPr>
            <p:cNvPr id="25" name="Line 25"/>
            <p:cNvSpPr/>
            <p:nvPr/>
          </p:nvSpPr>
          <p:spPr>
            <a:xfrm>
              <a:off x="5695950" y="4381500"/>
              <a:ext cx="9525" cy="209550"/>
            </a:xfrm>
            <a:custGeom>
              <a:avLst/>
              <a:gdLst/>
              <a:ahLst/>
              <a:cxnLst/>
              <a:rect l="l" t="t" r="r" b="b"/>
              <a:pathLst>
                <a:path w="9525" h="209550">
                  <a:moveTo>
                    <a:pt x="0" y="0"/>
                  </a:moveTo>
                  <a:lnTo>
                    <a:pt x="0" y="2095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6" name="Rectangle 26"/>
            <p:cNvSpPr/>
            <p:nvPr/>
          </p:nvSpPr>
          <p:spPr>
            <a:xfrm>
              <a:off x="4267200" y="4591050"/>
              <a:ext cx="2857500" cy="723900"/>
            </a:xfrm>
            <a:prstGeom prst="roundRect">
              <a:avLst>
                <a:gd name="adj" fmla="val 15789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5209203" y="4769168"/>
              <a:ext cx="97349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④ 更新 h、J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720590" y="5033010"/>
              <a:ext cx="19507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dirty="0">
                  <a:solidFill>
                    <a:srgbClr val="D9F2E9"/>
                  </a:solidFill>
                  <a:latin typeface="+mn-lt"/>
                  <a:ea typeface="+mn-ea"/>
                  <a:cs typeface="+mn-cs"/>
                </a:rPr>
                <a:t>重复至收敛或 max_epochs</a:t>
              </a:r>
            </a:p>
          </p:txBody>
        </p:sp>
      </p:grpSp>
      <p:grpSp>
        <p:nvGrpSpPr>
          <p:cNvPr id="41" name="p17-implementation"/>
          <p:cNvGrpSpPr/>
          <p:nvPr/>
        </p:nvGrpSpPr>
        <p:grpSpPr>
          <a:xfrm>
            <a:off x="7353300" y="1676400"/>
            <a:ext cx="4229100" cy="3790950"/>
            <a:chOff x="7353300" y="1676400"/>
            <a:chExt cx="4229100" cy="3790950"/>
          </a:xfrm>
        </p:grpSpPr>
        <p:sp>
          <p:nvSpPr>
            <p:cNvPr id="30" name="Rectangle 30"/>
            <p:cNvSpPr/>
            <p:nvPr/>
          </p:nvSpPr>
          <p:spPr>
            <a:xfrm>
              <a:off x="7353300" y="1676400"/>
              <a:ext cx="4229100" cy="3790950"/>
            </a:xfrm>
            <a:prstGeom prst="roundRect">
              <a:avLst>
                <a:gd name="adj" fmla="val 45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611999" y="1906429"/>
              <a:ext cx="133124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Package 调用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581900" y="2305050"/>
              <a:ext cx="3771900" cy="2076450"/>
            </a:xfrm>
            <a:prstGeom prst="roundRect">
              <a:avLst>
                <a:gd name="adj" fmla="val 5505"/>
              </a:avLst>
            </a:prstGeom>
            <a:solidFill>
              <a:srgbClr val="0D2923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785354" y="2537460"/>
              <a:ext cx="19791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75854" y="28422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A58F"/>
                  </a:solidFill>
                  <a:latin typeface="Consolas"/>
                  <a:ea typeface="Consolas"/>
                  <a:cs typeface="Consolas"/>
                </a:rPr>
                <a:t>calculation="exact",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7975854" y="3147060"/>
              <a:ext cx="17003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learning_rate=0.05,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975854" y="3451860"/>
              <a:ext cx="2677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tolerance=1e-3, max_epochs=500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785354" y="37566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785354" y="4061460"/>
              <a:ext cx="36618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A58F"/>
                  </a:solidFill>
                  <a:latin typeface="Consolas"/>
                  <a:ea typeface="Consolas"/>
                  <a:cs typeface="Consolas"/>
                </a:rPr>
                <a:t>model.fit(X, y, method="moment_matching")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613523" y="4682014"/>
              <a:ext cx="246842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读取：fit_result.mean_error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7613904" y="5013960"/>
              <a:ext cx="3129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默认可解释路径；也可使用 monte_carlo。</a:t>
              </a:r>
            </a:p>
          </p:txBody>
        </p:sp>
      </p:grpSp>
      <p:grpSp>
        <p:nvGrpSpPr>
          <p:cNvPr id="45" name="p17-footer"/>
          <p:cNvGrpSpPr/>
          <p:nvPr/>
        </p:nvGrpSpPr>
        <p:grpSpPr>
          <a:xfrm>
            <a:off x="604266" y="6115050"/>
            <a:ext cx="10983468" cy="320611"/>
            <a:chOff x="604266" y="6115050"/>
            <a:chExt cx="10983468" cy="320611"/>
          </a:xfrm>
        </p:grpSpPr>
        <p:sp>
          <p:nvSpPr>
            <p:cNvPr id="42" name="Line 42"/>
            <p:cNvSpPr/>
            <p:nvPr/>
          </p:nvSpPr>
          <p:spPr>
            <a:xfrm>
              <a:off x="609600" y="6115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04266" y="6230302"/>
              <a:ext cx="2075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LEARNENERGY · 计算与训练方法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11103540" y="62303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17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8-header"/>
          <p:cNvGrpSpPr/>
          <p:nvPr/>
        </p:nvGrpSpPr>
        <p:grpSpPr>
          <a:xfrm>
            <a:off x="593598" y="556260"/>
            <a:ext cx="6170371" cy="881825"/>
            <a:chOff x="593598" y="556260"/>
            <a:chExt cx="6170371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03 计算与训练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6170371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KL 散度：目标函数与精确实现</a:t>
              </a:r>
            </a:p>
          </p:txBody>
        </p:sp>
      </p:grpSp>
      <p:grpSp>
        <p:nvGrpSpPr>
          <p:cNvPr id="15" name="p18-concept"/>
          <p:cNvGrpSpPr/>
          <p:nvPr/>
        </p:nvGrpSpPr>
        <p:grpSpPr>
          <a:xfrm>
            <a:off x="609600" y="1676400"/>
            <a:ext cx="4171950" cy="3790950"/>
            <a:chOff x="609600" y="1676400"/>
            <a:chExt cx="4171950" cy="37909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4171950" cy="3790950"/>
            </a:xfrm>
            <a:prstGeom prst="roundRect">
              <a:avLst>
                <a:gd name="adj" fmla="val 452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8299" y="1906429"/>
              <a:ext cx="441401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概念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442" y="2292668"/>
              <a:ext cx="3257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比较数据分布 p_data 与模型分布 p_θ。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442" y="257841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值越小，两个完整分布越接近。</a:t>
              </a:r>
            </a:p>
          </p:txBody>
        </p:sp>
        <p:sp>
          <p:nvSpPr>
            <p:cNvPr id="9" name="Rectangle 9"/>
            <p:cNvSpPr/>
            <p:nvPr/>
          </p:nvSpPr>
          <p:spPr>
            <a:xfrm>
              <a:off x="838200" y="3009900"/>
              <a:ext cx="3714750" cy="990600"/>
            </a:xfrm>
            <a:prstGeom prst="roundRect">
              <a:avLst>
                <a:gd name="adj" fmla="val 115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777392" y="3223736"/>
              <a:ext cx="1836367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72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Dₖₗ(pdata || pθ)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51247" y="3590925"/>
              <a:ext cx="348865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50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= Σₛ pdata(s) log[pdata(s)/pθ(s)]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8299" y="4268629"/>
              <a:ext cx="274919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为什么梯度仍是 moments 差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9823" y="4643914"/>
              <a:ext cx="215736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指数族结构使 ∇θDₖₗ 化为：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7918" y="4965382"/>
              <a:ext cx="324865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2"/>
                  </a:solidFill>
                  <a:latin typeface="Cambria Math"/>
                  <a:ea typeface="Cambria Math"/>
                  <a:cs typeface="Cambria Math"/>
                </a:rPr>
                <a:t>momentsmodel − momentsdata</a:t>
              </a:r>
            </a:p>
          </p:txBody>
        </p:sp>
      </p:grpSp>
      <p:grpSp>
        <p:nvGrpSpPr>
          <p:cNvPr id="27" name="p18-algorithm"/>
          <p:cNvGrpSpPr/>
          <p:nvPr/>
        </p:nvGrpSpPr>
        <p:grpSpPr>
          <a:xfrm>
            <a:off x="5002149" y="1792129"/>
            <a:ext cx="2579751" cy="3522821"/>
            <a:chOff x="5002149" y="1792129"/>
            <a:chExt cx="2579751" cy="3522821"/>
          </a:xfrm>
        </p:grpSpPr>
        <p:sp>
          <p:nvSpPr>
            <p:cNvPr id="16" name="TextBox 16"/>
            <p:cNvSpPr txBox="1"/>
            <p:nvPr/>
          </p:nvSpPr>
          <p:spPr>
            <a:xfrm>
              <a:off x="5002149" y="17921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计算要求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010150" y="2190750"/>
              <a:ext cx="2571750" cy="933450"/>
            </a:xfrm>
            <a:prstGeom prst="roundRect">
              <a:avLst>
                <a:gd name="adj" fmla="val 1428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5648544" y="2426018"/>
              <a:ext cx="12949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需要精确 pθ(s)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695229" y="2719864"/>
              <a:ext cx="120159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因此必须计算 Z</a:t>
              </a:r>
            </a:p>
          </p:txBody>
        </p:sp>
        <p:sp>
          <p:nvSpPr>
            <p:cNvPr id="20" name="Line 20"/>
            <p:cNvSpPr/>
            <p:nvPr/>
          </p:nvSpPr>
          <p:spPr>
            <a:xfrm>
              <a:off x="6296025" y="3124200"/>
              <a:ext cx="9525" cy="304800"/>
            </a:xfrm>
            <a:custGeom>
              <a:avLst/>
              <a:gdLst/>
              <a:ahLst/>
              <a:cxnLst/>
              <a:rect l="l" t="t" r="r" b="b"/>
              <a:pathLst>
                <a:path w="9525" h="304800">
                  <a:moveTo>
                    <a:pt x="0" y="0"/>
                  </a:moveTo>
                  <a:lnTo>
                    <a:pt x="0" y="30480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5010150" y="3429000"/>
              <a:ext cx="2571750" cy="933450"/>
            </a:xfrm>
            <a:prstGeom prst="roundRect">
              <a:avLst>
                <a:gd name="adj" fmla="val 14286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5743956" y="3664268"/>
              <a:ext cx="110413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显式计算梯度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907776" y="3958114"/>
              <a:ext cx="776498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更新 h、J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5010150" y="4648200"/>
              <a:ext cx="2571750" cy="666750"/>
            </a:xfrm>
            <a:prstGeom prst="roundRect">
              <a:avLst>
                <a:gd name="adj" fmla="val 2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229819" y="4796314"/>
              <a:ext cx="213241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适用：≤ max_exact_nodes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687212" y="5060156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dirty="0">
                  <a:solidFill>
                    <a:srgbClr val="D9F2E9"/>
                  </a:solidFill>
                  <a:latin typeface="+mn-lt"/>
                  <a:ea typeface="+mn-ea"/>
                  <a:cs typeface="+mn-cs"/>
                </a:rPr>
                <a:t>理论清晰、可复核</a:t>
              </a:r>
            </a:p>
          </p:txBody>
        </p:sp>
      </p:grpSp>
      <p:grpSp>
        <p:nvGrpSpPr>
          <p:cNvPr id="40" name="p18-implementation"/>
          <p:cNvGrpSpPr/>
          <p:nvPr/>
        </p:nvGrpSpPr>
        <p:grpSpPr>
          <a:xfrm>
            <a:off x="7810500" y="1676400"/>
            <a:ext cx="3771900" cy="3790950"/>
            <a:chOff x="7810500" y="1676400"/>
            <a:chExt cx="3771900" cy="3790950"/>
          </a:xfrm>
        </p:grpSpPr>
        <p:sp>
          <p:nvSpPr>
            <p:cNvPr id="28" name="Rectangle 28"/>
            <p:cNvSpPr/>
            <p:nvPr/>
          </p:nvSpPr>
          <p:spPr>
            <a:xfrm>
              <a:off x="7810500" y="1676400"/>
              <a:ext cx="3771900" cy="3790950"/>
            </a:xfrm>
            <a:prstGeom prst="roundRect">
              <a:avLst>
                <a:gd name="adj" fmla="val 45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8069199" y="1906429"/>
              <a:ext cx="133124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Package 调用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039100" y="2305050"/>
              <a:ext cx="3314700" cy="2076450"/>
            </a:xfrm>
            <a:prstGeom prst="roundRect">
              <a:avLst>
                <a:gd name="adj" fmla="val 5505"/>
              </a:avLst>
            </a:prstGeom>
            <a:solidFill>
              <a:srgbClr val="0D2923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242554" y="2537460"/>
              <a:ext cx="19791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3054" y="28422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A58F"/>
                  </a:solidFill>
                  <a:latin typeface="Consolas"/>
                  <a:ea typeface="Consolas"/>
                  <a:cs typeface="Consolas"/>
                </a:rPr>
                <a:t>calculation="exact",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3054" y="3147060"/>
              <a:ext cx="1611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max_exact_nodes=19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242554" y="34518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242554" y="3756660"/>
              <a:ext cx="17003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A58F"/>
                  </a:solidFill>
                  <a:latin typeface="Consolas"/>
                  <a:ea typeface="Consolas"/>
                  <a:cs typeface="Consolas"/>
                </a:rPr>
                <a:t>result = model.fit(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433054" y="4042410"/>
              <a:ext cx="16205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A58F"/>
                  </a:solidFill>
                  <a:latin typeface="Consolas"/>
                  <a:ea typeface="Consolas"/>
                  <a:cs typeface="Consolas"/>
                </a:rPr>
                <a:t>X, y, method="kl")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70723" y="4682014"/>
              <a:ext cx="200317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检查：result.converged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071104" y="4918710"/>
              <a:ext cx="199918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检查：result.mean_error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8071104" y="5147310"/>
              <a:ext cx="25080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检查：result.correlation_error</a:t>
              </a:r>
            </a:p>
          </p:txBody>
        </p:sp>
      </p:grpSp>
      <p:grpSp>
        <p:nvGrpSpPr>
          <p:cNvPr id="44" name="p18-footer"/>
          <p:cNvGrpSpPr/>
          <p:nvPr/>
        </p:nvGrpSpPr>
        <p:grpSpPr>
          <a:xfrm>
            <a:off x="604266" y="6115050"/>
            <a:ext cx="10983468" cy="320611"/>
            <a:chOff x="604266" y="6115050"/>
            <a:chExt cx="10983468" cy="320611"/>
          </a:xfrm>
        </p:grpSpPr>
        <p:sp>
          <p:nvSpPr>
            <p:cNvPr id="41" name="Line 41"/>
            <p:cNvSpPr/>
            <p:nvPr/>
          </p:nvSpPr>
          <p:spPr>
            <a:xfrm>
              <a:off x="609600" y="6115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604266" y="6230302"/>
              <a:ext cx="2075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LEARNENERGY · 计算与训练方法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11103540" y="62303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18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19-header"/>
          <p:cNvGrpSpPr/>
          <p:nvPr/>
        </p:nvGrpSpPr>
        <p:grpSpPr>
          <a:xfrm>
            <a:off x="593598" y="556260"/>
            <a:ext cx="5645506" cy="881825"/>
            <a:chOff x="593598" y="556260"/>
            <a:chExt cx="5645506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03 计算与训练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564550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Adam：更新公式与采样实现</a:t>
              </a:r>
            </a:p>
          </p:txBody>
        </p:sp>
      </p:grpSp>
      <p:grpSp>
        <p:nvGrpSpPr>
          <p:cNvPr id="16" name="p19-source"/>
          <p:cNvGrpSpPr/>
          <p:nvPr/>
        </p:nvGrpSpPr>
        <p:grpSpPr>
          <a:xfrm>
            <a:off x="609600" y="1676400"/>
            <a:ext cx="3048000" cy="3790950"/>
            <a:chOff x="609600" y="1676400"/>
            <a:chExt cx="3048000" cy="3790950"/>
          </a:xfrm>
        </p:grpSpPr>
        <p:sp>
          <p:nvSpPr>
            <p:cNvPr id="5" name="Rectangle 5"/>
            <p:cNvSpPr/>
            <p:nvPr/>
          </p:nvSpPr>
          <p:spPr>
            <a:xfrm>
              <a:off x="609600" y="1676400"/>
              <a:ext cx="3048000" cy="3790950"/>
            </a:xfrm>
            <a:prstGeom prst="roundRect">
              <a:avLst>
                <a:gd name="adj" fmla="val 5625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8299" y="190642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梯度从哪里来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9823" y="2319814"/>
              <a:ext cx="16510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Monte Carlo / Gibbs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69823" y="2605564"/>
              <a:ext cx="148623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估计模型 moments</a:t>
              </a:r>
            </a:p>
          </p:txBody>
        </p:sp>
        <p:sp>
          <p:nvSpPr>
            <p:cNvPr id="9" name="Line 9"/>
            <p:cNvSpPr/>
            <p:nvPr/>
          </p:nvSpPr>
          <p:spPr>
            <a:xfrm>
              <a:off x="2133600" y="2914650"/>
              <a:ext cx="9525" cy="285750"/>
            </a:xfrm>
            <a:custGeom>
              <a:avLst/>
              <a:gdLst/>
              <a:ahLst/>
              <a:cxnLst/>
              <a:rect l="l" t="t" r="r" b="b"/>
              <a:pathLst>
                <a:path w="9525" h="285750">
                  <a:moveTo>
                    <a:pt x="0" y="0"/>
                  </a:moveTo>
                  <a:lnTo>
                    <a:pt x="0" y="285750"/>
                  </a:lnTo>
                </a:path>
              </a:pathLst>
            </a:custGeom>
            <a:noFill/>
            <a:ln w="28575">
              <a:solidFill>
                <a:schemeClr val="accent3"/>
              </a:solidFill>
            </a:ln>
          </p:spPr>
        </p:sp>
        <p:sp>
          <p:nvSpPr>
            <p:cNvPr id="10" name="Rectangle 10"/>
            <p:cNvSpPr/>
            <p:nvPr/>
          </p:nvSpPr>
          <p:spPr>
            <a:xfrm>
              <a:off x="838200" y="3200400"/>
              <a:ext cx="2590800" cy="895350"/>
            </a:xfrm>
            <a:prstGeom prst="roundRect">
              <a:avLst>
                <a:gd name="adj" fmla="val 12766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334480" y="3424714"/>
              <a:ext cx="1598239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gₜ = momentsmodel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498178" y="3710464"/>
              <a:ext cx="127084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128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− momentsdata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9823" y="4377214"/>
              <a:ext cx="18567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采样导致 gₜ 带有噪声；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9823" y="4662964"/>
              <a:ext cx="238023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Adam 平滑更新，不改变目标。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204" y="5071110"/>
              <a:ext cx="1167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估计器 ≠ 优化器</a:t>
              </a:r>
            </a:p>
          </p:txBody>
        </p:sp>
      </p:grpSp>
      <p:grpSp>
        <p:nvGrpSpPr>
          <p:cNvPr id="26" name="p19-formula"/>
          <p:cNvGrpSpPr/>
          <p:nvPr/>
        </p:nvGrpSpPr>
        <p:grpSpPr>
          <a:xfrm>
            <a:off x="3878199" y="1792129"/>
            <a:ext cx="3494151" cy="3522821"/>
            <a:chOff x="3878199" y="1792129"/>
            <a:chExt cx="3494151" cy="3522821"/>
          </a:xfrm>
        </p:grpSpPr>
        <p:sp>
          <p:nvSpPr>
            <p:cNvPr id="17" name="TextBox 17"/>
            <p:cNvSpPr txBox="1"/>
            <p:nvPr/>
          </p:nvSpPr>
          <p:spPr>
            <a:xfrm>
              <a:off x="3878199" y="1792129"/>
              <a:ext cx="1023817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Adam 更新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3886200" y="2190750"/>
              <a:ext cx="3486150" cy="3124200"/>
            </a:xfrm>
            <a:prstGeom prst="roundRect">
              <a:avLst>
                <a:gd name="adj" fmla="val 548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4144137" y="2461736"/>
              <a:ext cx="2680310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72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mₜ = β₁mₜ₋₁ + (1−β₁)gₜ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146804" y="29756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一阶动量：梯度方向的平滑平均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144137" y="3452336"/>
              <a:ext cx="2715042" cy="33737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720" dirty="0">
                  <a:solidFill>
                    <a:schemeClr val="accent1"/>
                  </a:solidFill>
                  <a:latin typeface="Cambria Math"/>
                  <a:ea typeface="Cambria Math"/>
                  <a:cs typeface="Cambria Math"/>
                </a:rPr>
                <a:t>vₜ = β₂vₜ₋₁ + (1−β₂)gₜ²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146804" y="396621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二阶动量：梯度尺度的平滑平均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4152900" y="4362450"/>
              <a:ext cx="2952750" cy="9525"/>
            </a:xfrm>
            <a:custGeom>
              <a:avLst/>
              <a:gdLst/>
              <a:ahLst/>
              <a:cxnLst/>
              <a:rect l="l" t="t" r="r" b="b"/>
              <a:pathLst>
                <a:path w="2952750" h="9525">
                  <a:moveTo>
                    <a:pt x="0" y="0"/>
                  </a:moveTo>
                  <a:lnTo>
                    <a:pt x="295275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4144518" y="4641532"/>
              <a:ext cx="271555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650" dirty="0">
                  <a:solidFill>
                    <a:schemeClr val="accent2"/>
                  </a:solidFill>
                  <a:latin typeface="Cambria Math"/>
                  <a:ea typeface="Cambria Math"/>
                  <a:cs typeface="Cambria Math"/>
                </a:rPr>
                <a:t>θₜ₊₁ = θₜ − α m̂ₜ/(√v̂ₜ+ε)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146804" y="5013960"/>
              <a:ext cx="1789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每个参数获得自适应步长</a:t>
              </a:r>
            </a:p>
          </p:txBody>
        </p:sp>
      </p:grpSp>
      <p:grpSp>
        <p:nvGrpSpPr>
          <p:cNvPr id="38" name="p19-implementation"/>
          <p:cNvGrpSpPr/>
          <p:nvPr/>
        </p:nvGrpSpPr>
        <p:grpSpPr>
          <a:xfrm>
            <a:off x="7600950" y="1676400"/>
            <a:ext cx="3981450" cy="3790950"/>
            <a:chOff x="7600950" y="1676400"/>
            <a:chExt cx="3981450" cy="3790950"/>
          </a:xfrm>
        </p:grpSpPr>
        <p:sp>
          <p:nvSpPr>
            <p:cNvPr id="27" name="Rectangle 27"/>
            <p:cNvSpPr/>
            <p:nvPr/>
          </p:nvSpPr>
          <p:spPr>
            <a:xfrm>
              <a:off x="7600950" y="1676400"/>
              <a:ext cx="3981450" cy="3790950"/>
            </a:xfrm>
            <a:prstGeom prst="roundRect">
              <a:avLst>
                <a:gd name="adj" fmla="val 452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7859649" y="1906429"/>
              <a:ext cx="1331242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Package 调用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829550" y="2305050"/>
              <a:ext cx="3524250" cy="2076450"/>
            </a:xfrm>
            <a:prstGeom prst="roundRect">
              <a:avLst>
                <a:gd name="adj" fmla="val 5505"/>
              </a:avLst>
            </a:prstGeom>
            <a:solidFill>
              <a:srgbClr val="0D2923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033004" y="2518410"/>
              <a:ext cx="19791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223504" y="282321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A58F"/>
                  </a:solidFill>
                  <a:latin typeface="Consolas"/>
                  <a:ea typeface="Consolas"/>
                  <a:cs typeface="Consolas"/>
                </a:rPr>
                <a:t>calculation="monte_carlo",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223504" y="3128010"/>
              <a:ext cx="2588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mc_samples=4000, mc_chains=4,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223504" y="3432810"/>
              <a:ext cx="1611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learning_rate=0.01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033004" y="37376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D9F2E9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033004" y="4042410"/>
              <a:ext cx="26852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4A58F"/>
                  </a:solidFill>
                  <a:latin typeface="Consolas"/>
                  <a:ea typeface="Consolas"/>
                  <a:cs typeface="Consolas"/>
                </a:rPr>
                <a:t>model.fit(X, y, method="adam")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7861173" y="4662964"/>
              <a:ext cx="2646166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检查训练收敛 + Monte Carlo 诊断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861935" y="5003006"/>
              <a:ext cx="3177692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兼容公开代码的更新结构；编码与采样器不同。</a:t>
              </a:r>
            </a:p>
          </p:txBody>
        </p:sp>
      </p:grpSp>
      <p:grpSp>
        <p:nvGrpSpPr>
          <p:cNvPr id="42" name="p19-footer"/>
          <p:cNvGrpSpPr/>
          <p:nvPr/>
        </p:nvGrpSpPr>
        <p:grpSpPr>
          <a:xfrm>
            <a:off x="604266" y="6115050"/>
            <a:ext cx="10983468" cy="320611"/>
            <a:chOff x="604266" y="6115050"/>
            <a:chExt cx="10983468" cy="320611"/>
          </a:xfrm>
        </p:grpSpPr>
        <p:sp>
          <p:nvSpPr>
            <p:cNvPr id="39" name="Line 39"/>
            <p:cNvSpPr/>
            <p:nvPr/>
          </p:nvSpPr>
          <p:spPr>
            <a:xfrm>
              <a:off x="609600" y="6115050"/>
              <a:ext cx="10972800" cy="9525"/>
            </a:xfrm>
            <a:custGeom>
              <a:avLst/>
              <a:gdLst/>
              <a:ahLst/>
              <a:cxnLst/>
              <a:rect l="l" t="t" r="r" b="b"/>
              <a:pathLst>
                <a:path w="10972800" h="9525">
                  <a:moveTo>
                    <a:pt x="0" y="0"/>
                  </a:moveTo>
                  <a:lnTo>
                    <a:pt x="10972800" y="0"/>
                  </a:lnTo>
                </a:path>
              </a:pathLst>
            </a:custGeom>
            <a:noFill/>
            <a:ln w="9525">
              <a:solidFill>
                <a:schemeClr val="accent6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604266" y="6230302"/>
              <a:ext cx="207545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LEARNENERGY · 计算与训练方法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1103540" y="6230302"/>
              <a:ext cx="48419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19 / 30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0-header"/>
          <p:cNvGrpSpPr/>
          <p:nvPr/>
        </p:nvGrpSpPr>
        <p:grpSpPr>
          <a:xfrm>
            <a:off x="593598" y="556260"/>
            <a:ext cx="4960620" cy="881825"/>
            <a:chOff x="593598" y="556260"/>
            <a:chExt cx="4960620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03 计算与训练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49606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计算路径与训练算法配置</a:t>
              </a:r>
            </a:p>
          </p:txBody>
        </p:sp>
      </p:grpSp>
      <p:grpSp>
        <p:nvGrpSpPr>
          <p:cNvPr id="36" name="p20-decision"/>
          <p:cNvGrpSpPr/>
          <p:nvPr/>
        </p:nvGrpSpPr>
        <p:grpSpPr>
          <a:xfrm>
            <a:off x="609600" y="1657350"/>
            <a:ext cx="10972800" cy="4038600"/>
            <a:chOff x="609600" y="1657350"/>
            <a:chExt cx="10972800" cy="4038600"/>
          </a:xfrm>
        </p:grpSpPr>
        <p:sp>
          <p:nvSpPr>
            <p:cNvPr id="5" name="Rectangle 5"/>
            <p:cNvSpPr/>
            <p:nvPr/>
          </p:nvSpPr>
          <p:spPr>
            <a:xfrm>
              <a:off x="609600" y="1714500"/>
              <a:ext cx="2381250" cy="8382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1347597" y="20507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配置依据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2990850" y="2133600"/>
              <a:ext cx="1009650" cy="9525"/>
            </a:xfrm>
            <a:custGeom>
              <a:avLst/>
              <a:gdLst/>
              <a:ahLst/>
              <a:cxnLst/>
              <a:rect l="l" t="t" r="r" b="b"/>
              <a:pathLst>
                <a:path w="1009650" h="9525">
                  <a:moveTo>
                    <a:pt x="0" y="0"/>
                  </a:moveTo>
                  <a:lnTo>
                    <a:pt x="1009650" y="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4000500" y="1657350"/>
              <a:ext cx="3028950" cy="952500"/>
            </a:xfrm>
            <a:prstGeom prst="roundRect">
              <a:avLst>
                <a:gd name="adj" fmla="val 1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4259580" y="1876425"/>
              <a:ext cx="166097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小规模 / 数值基准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4260342" y="22164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节点数 ≤ max_exact_nodes</a:t>
              </a:r>
            </a:p>
          </p:txBody>
        </p:sp>
        <p:sp>
          <p:nvSpPr>
            <p:cNvPr id="11" name="Line 11"/>
            <p:cNvSpPr/>
            <p:nvPr/>
          </p:nvSpPr>
          <p:spPr>
            <a:xfrm>
              <a:off x="7029450" y="21336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7715250" y="1657350"/>
              <a:ext cx="386715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28575">
              <a:solidFill>
                <a:schemeClr val="accent2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7974330" y="1876425"/>
              <a:ext cx="29432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exact + kl / moment_matching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75092" y="22164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确定、透明、适合验证</a:t>
              </a:r>
            </a:p>
          </p:txBody>
        </p:sp>
        <p:sp>
          <p:nvSpPr>
            <p:cNvPr id="15" name="Line 15"/>
            <p:cNvSpPr/>
            <p:nvPr/>
          </p:nvSpPr>
          <p:spPr>
            <a:xfrm>
              <a:off x="1800225" y="2552700"/>
              <a:ext cx="9525" cy="857250"/>
            </a:xfrm>
            <a:custGeom>
              <a:avLst/>
              <a:gdLst/>
              <a:ahLst/>
              <a:cxnLst/>
              <a:rect l="l" t="t" r="r" b="b"/>
              <a:pathLst>
                <a:path w="9525" h="857250">
                  <a:moveTo>
                    <a:pt x="0" y="0"/>
                  </a:moveTo>
                  <a:lnTo>
                    <a:pt x="0" y="85725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16" name="Rectangle 16"/>
            <p:cNvSpPr/>
            <p:nvPr/>
          </p:nvSpPr>
          <p:spPr>
            <a:xfrm>
              <a:off x="609600" y="3409950"/>
              <a:ext cx="3028950" cy="952500"/>
            </a:xfrm>
            <a:prstGeom prst="roundRect">
              <a:avLst>
                <a:gd name="adj" fmla="val 140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868680" y="362902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规模更大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9442" y="3969068"/>
              <a:ext cx="14130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无法遍历 2ⁿ 状态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3638550" y="3886200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38100">
              <a:solidFill>
                <a:schemeClr val="accent3"/>
              </a:solidFill>
            </a:ln>
          </p:spPr>
        </p:sp>
        <p:sp>
          <p:nvSpPr>
            <p:cNvPr id="20" name="Rectangle 20"/>
            <p:cNvSpPr/>
            <p:nvPr/>
          </p:nvSpPr>
          <p:spPr>
            <a:xfrm>
              <a:off x="4324350" y="3409950"/>
              <a:ext cx="3867150" cy="952500"/>
            </a:xfrm>
            <a:prstGeom prst="roundRect">
              <a:avLst>
                <a:gd name="adj" fmla="val 14000"/>
              </a:avLst>
            </a:prstGeom>
            <a:solidFill>
              <a:srgbClr val="FFFFFF"/>
            </a:solidFill>
            <a:ln w="28575">
              <a:solidFill>
                <a:schemeClr val="accent3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583430" y="3629025"/>
              <a:ext cx="3195638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monte_carlo + moment_matching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584192" y="3969068"/>
              <a:ext cx="25193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必须记录 R-hat / ESS / MCSE</a:t>
              </a:r>
            </a:p>
          </p:txBody>
        </p:sp>
        <p:sp>
          <p:nvSpPr>
            <p:cNvPr id="23" name="Line 23"/>
            <p:cNvSpPr/>
            <p:nvPr/>
          </p:nvSpPr>
          <p:spPr>
            <a:xfrm>
              <a:off x="1800225" y="4362450"/>
              <a:ext cx="9525" cy="742950"/>
            </a:xfrm>
            <a:custGeom>
              <a:avLst/>
              <a:gdLst/>
              <a:ahLst/>
              <a:cxnLst/>
              <a:rect l="l" t="t" r="r" b="b"/>
              <a:pathLst>
                <a:path w="9525" h="742950">
                  <a:moveTo>
                    <a:pt x="0" y="0"/>
                  </a:moveTo>
                  <a:lnTo>
                    <a:pt x="0" y="742950"/>
                  </a:lnTo>
                </a:path>
              </a:pathLst>
            </a:custGeom>
            <a:noFill/>
            <a:ln w="38100">
              <a:solidFill>
                <a:schemeClr val="accent6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09600" y="4914900"/>
              <a:ext cx="3028950" cy="781050"/>
            </a:xfrm>
            <a:prstGeom prst="roundRect">
              <a:avLst>
                <a:gd name="adj" fmla="val 1707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68680" y="5095875"/>
              <a:ext cx="20345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对齐原始公开代码结构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69823" y="5405914"/>
              <a:ext cx="1417310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采样 + 自适应更新</a:t>
              </a:r>
            </a:p>
          </p:txBody>
        </p:sp>
        <p:sp>
          <p:nvSpPr>
            <p:cNvPr id="27" name="Line 27"/>
            <p:cNvSpPr/>
            <p:nvPr/>
          </p:nvSpPr>
          <p:spPr>
            <a:xfrm>
              <a:off x="3638550" y="5305425"/>
              <a:ext cx="685800" cy="9525"/>
            </a:xfrm>
            <a:custGeom>
              <a:avLst/>
              <a:gdLst/>
              <a:ahLst/>
              <a:cxnLst/>
              <a:rect l="l" t="t" r="r" b="b"/>
              <a:pathLst>
                <a:path w="685800" h="9525">
                  <a:moveTo>
                    <a:pt x="0" y="0"/>
                  </a:moveTo>
                  <a:lnTo>
                    <a:pt x="68580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4324350" y="4914900"/>
              <a:ext cx="3867150" cy="781050"/>
            </a:xfrm>
            <a:prstGeom prst="roundRect">
              <a:avLst>
                <a:gd name="adj" fmla="val 17073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583430" y="5229225"/>
              <a:ext cx="1943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monte_carlo + adam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8572500" y="3219450"/>
              <a:ext cx="3009900" cy="2476500"/>
            </a:xfrm>
            <a:prstGeom prst="roundRect">
              <a:avLst>
                <a:gd name="adj" fmla="val 6154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8830818" y="3460432"/>
              <a:ext cx="905256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参数职责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831580" y="3933825"/>
              <a:ext cx="12873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calculation：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832342" y="4254818"/>
              <a:ext cx="216729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模型 moments 的计算路径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8831580" y="4733925"/>
              <a:ext cx="92392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method：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8832342" y="505491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模型参数的更新规则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604266" y="6516052"/>
            <a:ext cx="372819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本阶段输出：训练配置 + 拟合参数 → 下一阶段：解释与诊断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1-header"/>
          <p:cNvGrpSpPr/>
          <p:nvPr/>
        </p:nvGrpSpPr>
        <p:grpSpPr>
          <a:xfrm>
            <a:off x="593598" y="556260"/>
            <a:ext cx="4960620" cy="881825"/>
            <a:chOff x="593598" y="556260"/>
            <a:chExt cx="4960620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04 解释与诊断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496062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模型参数与有效交互诊断</a:t>
              </a:r>
            </a:p>
          </p:txBody>
        </p:sp>
      </p:grpSp>
      <p:grpSp>
        <p:nvGrpSpPr>
          <p:cNvPr id="30" name="p21-interpret"/>
          <p:cNvGrpSpPr/>
          <p:nvPr/>
        </p:nvGrpSpPr>
        <p:grpSpPr>
          <a:xfrm>
            <a:off x="609600" y="1752600"/>
            <a:ext cx="10972800" cy="4000500"/>
            <a:chOff x="609600" y="1752600"/>
            <a:chExt cx="10972800" cy="4000500"/>
          </a:xfrm>
        </p:grpSpPr>
        <p:sp>
          <p:nvSpPr>
            <p:cNvPr id="5" name="Rectangle 5"/>
            <p:cNvSpPr/>
            <p:nvPr/>
          </p:nvSpPr>
          <p:spPr>
            <a:xfrm>
              <a:off x="609600" y="1752600"/>
              <a:ext cx="3333750" cy="3333750"/>
            </a:xfrm>
            <a:prstGeom prst="roundRect">
              <a:avLst>
                <a:gd name="adj" fmla="val 51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74532"/>
              <a:ext cx="683133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参数层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1162050" y="2914650"/>
              <a:ext cx="723900" cy="7239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2647950" y="2362200"/>
              <a:ext cx="723900" cy="7239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2590800" y="3733800"/>
              <a:ext cx="723900" cy="7239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1809750" y="2857500"/>
              <a:ext cx="838200" cy="285750"/>
            </a:xfrm>
            <a:custGeom>
              <a:avLst/>
              <a:gdLst/>
              <a:ahLst/>
              <a:cxnLst/>
              <a:rect l="l" t="t" r="r" b="b"/>
              <a:pathLst>
                <a:path w="838200" h="285750">
                  <a:moveTo>
                    <a:pt x="0" y="285750"/>
                  </a:moveTo>
                  <a:lnTo>
                    <a:pt x="838200" y="0"/>
                  </a:lnTo>
                </a:path>
              </a:pathLst>
            </a:custGeom>
            <a:noFill/>
            <a:ln w="47625">
              <a:solidFill>
                <a:srgbClr val="5C6B6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1809750" y="3429000"/>
              <a:ext cx="800100" cy="514350"/>
            </a:xfrm>
            <a:custGeom>
              <a:avLst/>
              <a:gdLst/>
              <a:ahLst/>
              <a:cxnLst/>
              <a:rect l="l" t="t" r="r" b="b"/>
              <a:pathLst>
                <a:path w="800100" h="514350">
                  <a:moveTo>
                    <a:pt x="0" y="0"/>
                  </a:moveTo>
                  <a:lnTo>
                    <a:pt x="800100" y="514350"/>
                  </a:lnTo>
                </a:path>
              </a:pathLst>
            </a:custGeom>
            <a:noFill/>
            <a:ln w="47625">
              <a:solidFill>
                <a:srgbClr val="5C6B66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2971800" y="3086100"/>
              <a:ext cx="38100" cy="647700"/>
            </a:xfrm>
            <a:custGeom>
              <a:avLst/>
              <a:gdLst/>
              <a:ahLst/>
              <a:cxnLst/>
              <a:rect l="l" t="t" r="r" b="b"/>
              <a:pathLst>
                <a:path w="38100" h="647700">
                  <a:moveTo>
                    <a:pt x="38100" y="0"/>
                  </a:moveTo>
                  <a:lnTo>
                    <a:pt x="0" y="647700"/>
                  </a:lnTo>
                </a:path>
              </a:pathLst>
            </a:custGeom>
            <a:noFill/>
            <a:ln w="47625">
              <a:solidFill>
                <a:srgbClr val="5C6B66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442" y="4616768"/>
              <a:ext cx="265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h：节点倾向　J：pairwise 参数</a:t>
              </a:r>
            </a:p>
          </p:txBody>
        </p:sp>
        <p:sp>
          <p:nvSpPr>
            <p:cNvPr id="14" name="Line 14"/>
            <p:cNvSpPr/>
            <p:nvPr/>
          </p:nvSpPr>
          <p:spPr>
            <a:xfrm>
              <a:off x="3943350" y="3429000"/>
              <a:ext cx="819150" cy="9525"/>
            </a:xfrm>
            <a:custGeom>
              <a:avLst/>
              <a:gdLst/>
              <a:ahLst/>
              <a:cxnLst/>
              <a:rect l="l" t="t" r="r" b="b"/>
              <a:pathLst>
                <a:path w="819150" h="9525">
                  <a:moveTo>
                    <a:pt x="0" y="0"/>
                  </a:moveTo>
                  <a:lnTo>
                    <a:pt x="819150" y="0"/>
                  </a:lnTo>
                </a:path>
              </a:pathLst>
            </a:custGeom>
            <a:noFill/>
            <a:ln w="38100">
              <a:solidFill>
                <a:schemeClr val="accent2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4762500" y="1752600"/>
              <a:ext cx="6819900" cy="3333750"/>
            </a:xfrm>
            <a:prstGeom prst="roundRect">
              <a:avLst>
                <a:gd name="adj" fmla="val 514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5020818" y="1974532"/>
              <a:ext cx="328932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诊断层 · Effective interaction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5029200" y="2514600"/>
              <a:ext cx="2628900" cy="1409700"/>
            </a:xfrm>
            <a:prstGeom prst="roundRect">
              <a:avLst>
                <a:gd name="adj" fmla="val 810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033135" y="2752725"/>
              <a:ext cx="62103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原模型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709799" y="3207068"/>
              <a:ext cx="12677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节点 i 自由变化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5382673" y="3530918"/>
              <a:ext cx="19219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outcome 有效场 / 概率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995260" y="3023235"/>
              <a:ext cx="240079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700" dirty="0">
                  <a:solidFill>
                    <a:schemeClr val="accent2"/>
                  </a:solidFill>
                  <a:latin typeface="+mj-lt"/>
                  <a:ea typeface="+mj-ea"/>
                  <a:cs typeface="+mj-cs"/>
                </a:rPr>
                <a:t>−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572500" y="2514600"/>
              <a:ext cx="2628900" cy="1409700"/>
            </a:xfrm>
            <a:prstGeom prst="roundRect">
              <a:avLst>
                <a:gd name="adj" fmla="val 8108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9374505" y="2752725"/>
              <a:ext cx="102489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冻结节点后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980494" y="3207068"/>
              <a:ext cx="18129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节点 i 固定为参考状态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9094079" y="3530918"/>
              <a:ext cx="15857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新的 outcome 响应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021580" y="4333875"/>
              <a:ext cx="347834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差值 ε 描述模型分布内部的条件变化。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5022342" y="4692968"/>
              <a:ext cx="38483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“冻结”不是现实干预，不能写成因果政策建议。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609600" y="5334000"/>
              <a:ext cx="10972800" cy="419100"/>
            </a:xfrm>
            <a:prstGeom prst="roundRect">
              <a:avLst>
                <a:gd name="adj" fmla="val 22727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722911" y="5464492"/>
              <a:ext cx="87461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论文路径：effective_interaction_report(calculation='monte_carlo')；小模型可用 exact 作数值基准</a:t>
              </a:r>
            </a:p>
          </p:txBody>
        </p:sp>
      </p:grpSp>
      <p:sp>
        <p:nvSpPr>
          <p:cNvPr id="31" name="TextBox 31"/>
          <p:cNvSpPr txBox="1"/>
          <p:nvPr/>
        </p:nvSpPr>
        <p:spPr>
          <a:xfrm>
            <a:off x="604266" y="6516052"/>
            <a:ext cx="347376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21 / 30 · 参数、条件概率与冻结诊断对应不同解释层级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2-header"/>
          <p:cNvGrpSpPr/>
          <p:nvPr/>
        </p:nvGrpSpPr>
        <p:grpSpPr>
          <a:xfrm>
            <a:off x="593598" y="556260"/>
            <a:ext cx="4064508" cy="881825"/>
            <a:chOff x="593598" y="556260"/>
            <a:chExt cx="4064508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8780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04 解释与诊断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40645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温度缩放与响应函数</a:t>
              </a:r>
            </a:p>
          </p:txBody>
        </p:sp>
      </p:grpSp>
      <p:grpSp>
        <p:nvGrpSpPr>
          <p:cNvPr id="28" name="p22-temperature"/>
          <p:cNvGrpSpPr/>
          <p:nvPr/>
        </p:nvGrpSpPr>
        <p:grpSpPr>
          <a:xfrm>
            <a:off x="609600" y="1752600"/>
            <a:ext cx="10972800" cy="3962400"/>
            <a:chOff x="609600" y="1752600"/>
            <a:chExt cx="10972800" cy="3962400"/>
          </a:xfrm>
        </p:grpSpPr>
        <p:sp>
          <p:nvSpPr>
            <p:cNvPr id="5" name="Rectangle 5"/>
            <p:cNvSpPr/>
            <p:nvPr/>
          </p:nvSpPr>
          <p:spPr>
            <a:xfrm>
              <a:off x="609600" y="1752600"/>
              <a:ext cx="10972800" cy="1066800"/>
            </a:xfrm>
            <a:prstGeom prst="roundRect">
              <a:avLst>
                <a:gd name="adj" fmla="val 14286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3697723" y="1988820"/>
              <a:ext cx="4796554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p_T(s) = exp[−E(s)/T] / Z(T)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4060203" y="2445068"/>
              <a:ext cx="40715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 只是在重新缩放能量：低 T 更集中，高 T 更平坦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3143250"/>
              <a:ext cx="31432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73982" y="3354229"/>
              <a:ext cx="10144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低温 T &lt; 1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1066800" y="4267200"/>
              <a:ext cx="361950" cy="3238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581150" y="4000500"/>
              <a:ext cx="361950" cy="590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095500" y="3638550"/>
              <a:ext cx="361950" cy="952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3" name="Rectangle 13"/>
            <p:cNvSpPr/>
            <p:nvPr/>
          </p:nvSpPr>
          <p:spPr>
            <a:xfrm>
              <a:off x="2609850" y="4286250"/>
              <a:ext cx="361950" cy="304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4048125" y="3143250"/>
              <a:ext cx="3143250" cy="1714500"/>
            </a:xfrm>
            <a:prstGeom prst="roundRect">
              <a:avLst>
                <a:gd name="adj" fmla="val 777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006157" y="3354229"/>
              <a:ext cx="12271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原模型 T = 1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4505325" y="4171950"/>
              <a:ext cx="361950" cy="4191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5019675" y="3886200"/>
              <a:ext cx="361950" cy="7048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8" name="Rectangle 18"/>
            <p:cNvSpPr/>
            <p:nvPr/>
          </p:nvSpPr>
          <p:spPr>
            <a:xfrm>
              <a:off x="5534025" y="3733800"/>
              <a:ext cx="361950" cy="857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6048375" y="4095750"/>
              <a:ext cx="361950" cy="495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486650" y="3143250"/>
              <a:ext cx="4095750" cy="1714500"/>
            </a:xfrm>
            <a:prstGeom prst="roundRect">
              <a:avLst>
                <a:gd name="adj" fmla="val 777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9027282" y="3354229"/>
              <a:ext cx="1014486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高温 T &gt; 1</a:t>
              </a: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8096250" y="4000500"/>
              <a:ext cx="457200" cy="59055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8705850" y="3905250"/>
              <a:ext cx="457200" cy="6858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9315450" y="3829050"/>
              <a:ext cx="457200" cy="762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5" name="Rectangle 25"/>
            <p:cNvSpPr/>
            <p:nvPr/>
          </p:nvSpPr>
          <p:spPr>
            <a:xfrm>
              <a:off x="9925050" y="3943350"/>
              <a:ext cx="457200" cy="6477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609600" y="5162550"/>
              <a:ext cx="10972800" cy="552450"/>
            </a:xfrm>
            <a:prstGeom prst="roundRect">
              <a:avLst>
                <a:gd name="adj" fmla="val 17241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68680" y="5353050"/>
              <a:ext cx="766567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d〈E〉/dT 或 dm/dT 的峰值 = 模型最敏感区域；不自动等于真实系统发生物理相变。</a:t>
              </a:r>
            </a:p>
          </p:txBody>
        </p:sp>
      </p:grpSp>
      <p:sp>
        <p:nvSpPr>
          <p:cNvPr id="29" name="TextBox 29"/>
          <p:cNvSpPr txBox="1"/>
          <p:nvPr/>
        </p:nvSpPr>
        <p:spPr>
          <a:xfrm>
            <a:off x="604266" y="6516052"/>
            <a:ext cx="4152252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本阶段输出：模型内解释 + 敏感性边界 → 下一阶段：连续变量模型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3-header"/>
          <p:cNvGrpSpPr/>
          <p:nvPr/>
        </p:nvGrpSpPr>
        <p:grpSpPr>
          <a:xfrm>
            <a:off x="593598" y="651510"/>
            <a:ext cx="6304788" cy="938975"/>
            <a:chOff x="593598" y="651510"/>
            <a:chExt cx="6304788" cy="93897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65151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05 连续模型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974408"/>
              <a:ext cx="63047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二值与连续联合模型的适用范围</a:t>
              </a:r>
            </a:p>
          </p:txBody>
        </p:sp>
      </p:grpSp>
      <p:grpSp>
        <p:nvGrpSpPr>
          <p:cNvPr id="25" name="p23-compare"/>
          <p:cNvGrpSpPr/>
          <p:nvPr/>
        </p:nvGrpSpPr>
        <p:grpSpPr>
          <a:xfrm>
            <a:off x="609600" y="2038350"/>
            <a:ext cx="10972800" cy="3848100"/>
            <a:chOff x="609600" y="2038350"/>
            <a:chExt cx="10972800" cy="3848100"/>
          </a:xfrm>
        </p:grpSpPr>
        <p:sp>
          <p:nvSpPr>
            <p:cNvPr id="5" name="Rectangle 5"/>
            <p:cNvSpPr/>
            <p:nvPr/>
          </p:nvSpPr>
          <p:spPr>
            <a:xfrm>
              <a:off x="609600" y="2038350"/>
              <a:ext cx="4953000" cy="3143250"/>
            </a:xfrm>
            <a:prstGeom prst="roundRect">
              <a:avLst>
                <a:gd name="adj" fmla="val 545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156" y="2263140"/>
              <a:ext cx="9875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二值路径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3086100" y="2876550"/>
              <a:ext cx="9525" cy="1885950"/>
            </a:xfrm>
            <a:custGeom>
              <a:avLst/>
              <a:gdLst/>
              <a:ahLst/>
              <a:cxnLst/>
              <a:rect l="l" t="t" r="r" b="b"/>
              <a:pathLst>
                <a:path w="9525" h="1885950">
                  <a:moveTo>
                    <a:pt x="0" y="0"/>
                  </a:moveTo>
                  <a:lnTo>
                    <a:pt x="0" y="188595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1066800" y="3829050"/>
              <a:ext cx="4038600" cy="9525"/>
            </a:xfrm>
            <a:custGeom>
              <a:avLst/>
              <a:gdLst/>
              <a:ahLst/>
              <a:cxnLst/>
              <a:rect l="l" t="t" r="r" b="b"/>
              <a:pathLst>
                <a:path w="4038600" h="9525">
                  <a:moveTo>
                    <a:pt x="0" y="0"/>
                  </a:moveTo>
                  <a:lnTo>
                    <a:pt x="4038600" y="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</p:sp>
        <p:sp>
          <p:nvSpPr>
            <p:cNvPr id="9" name="Ellipse 9"/>
            <p:cNvSpPr/>
            <p:nvPr/>
          </p:nvSpPr>
          <p:spPr>
            <a:xfrm>
              <a:off x="1457325" y="425767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952625" y="3286125"/>
              <a:ext cx="133350" cy="1333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1" name="Ellipse 11"/>
            <p:cNvSpPr/>
            <p:nvPr/>
          </p:nvSpPr>
          <p:spPr>
            <a:xfrm>
              <a:off x="3686175" y="3114675"/>
              <a:ext cx="133350" cy="13335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12" name="Ellipse 12"/>
            <p:cNvSpPr/>
            <p:nvPr/>
          </p:nvSpPr>
          <p:spPr>
            <a:xfrm>
              <a:off x="4238625" y="4238625"/>
              <a:ext cx="133350" cy="1333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69442" y="4864418"/>
              <a:ext cx="31395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保留“高/低、是/否”，失去连续距离。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19800" y="2038350"/>
              <a:ext cx="5562600" cy="3143250"/>
            </a:xfrm>
            <a:prstGeom prst="roundRect">
              <a:avLst>
                <a:gd name="adj" fmla="val 545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6277356" y="2263140"/>
              <a:ext cx="214669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连续 Gaussian 路径</a:t>
              </a:r>
            </a:p>
          </p:txBody>
        </p:sp>
        <p:sp>
          <p:nvSpPr>
            <p:cNvPr id="16" name="Ellipse 16"/>
            <p:cNvSpPr/>
            <p:nvPr/>
          </p:nvSpPr>
          <p:spPr>
            <a:xfrm rot="-1200000">
              <a:off x="6838950" y="2914650"/>
              <a:ext cx="3886200" cy="1638300"/>
            </a:xfrm>
            <a:prstGeom prst="ellipse">
              <a:avLst/>
            </a:prstGeom>
            <a:noFill/>
            <a:ln w="47625">
              <a:solidFill>
                <a:schemeClr val="accent3"/>
              </a:solidFill>
            </a:ln>
          </p:spPr>
        </p:sp>
        <p:sp>
          <p:nvSpPr>
            <p:cNvPr id="17" name="Ellipse 17"/>
            <p:cNvSpPr/>
            <p:nvPr/>
          </p:nvSpPr>
          <p:spPr>
            <a:xfrm rot="-1200000">
              <a:off x="7524750" y="3219450"/>
              <a:ext cx="2514600" cy="102870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7753350" y="403860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8324850" y="346710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0" name="Ellipse 20"/>
            <p:cNvSpPr/>
            <p:nvPr/>
          </p:nvSpPr>
          <p:spPr>
            <a:xfrm>
              <a:off x="8972550" y="379095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1" name="Ellipse 21"/>
            <p:cNvSpPr/>
            <p:nvPr/>
          </p:nvSpPr>
          <p:spPr>
            <a:xfrm>
              <a:off x="9639300" y="3276600"/>
              <a:ext cx="114300" cy="1143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6279642" y="4864418"/>
              <a:ext cx="40994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保留数值距离；假设联合分布近似单峰 Gaussian。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09600" y="5410200"/>
              <a:ext cx="10972800" cy="476250"/>
            </a:xfrm>
            <a:prstGeom prst="roundRect">
              <a:avLst>
                <a:gd name="adj" fmla="val 2000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2388679" y="5553075"/>
              <a:ext cx="741464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ContinuousEnergyModel 属于扩展模型族，与原论文二值模型采用不同分布假设。</a:t>
              </a:r>
            </a:p>
          </p:txBody>
        </p:sp>
      </p:grpSp>
      <p:sp>
        <p:nvSpPr>
          <p:cNvPr id="26" name="TextBox 26"/>
          <p:cNvSpPr txBox="1"/>
          <p:nvPr/>
        </p:nvSpPr>
        <p:spPr>
          <a:xfrm>
            <a:off x="604266" y="6516052"/>
            <a:ext cx="319106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23 / 30 · 模型选择依据为变量状态空间与分布假设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4-header"/>
          <p:cNvGrpSpPr/>
          <p:nvPr/>
        </p:nvGrpSpPr>
        <p:grpSpPr>
          <a:xfrm>
            <a:off x="593598" y="556260"/>
            <a:ext cx="4767596" cy="881825"/>
            <a:chOff x="593598" y="556260"/>
            <a:chExt cx="4767596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05 连续模型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476759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Gaussian 二次能量模型</a:t>
              </a:r>
            </a:p>
          </p:txBody>
        </p:sp>
      </p:grpSp>
      <p:grpSp>
        <p:nvGrpSpPr>
          <p:cNvPr id="24" name="p24-content"/>
          <p:cNvGrpSpPr/>
          <p:nvPr/>
        </p:nvGrpSpPr>
        <p:grpSpPr>
          <a:xfrm>
            <a:off x="609600" y="1752600"/>
            <a:ext cx="10972800" cy="3752850"/>
            <a:chOff x="609600" y="1752600"/>
            <a:chExt cx="10972800" cy="3752850"/>
          </a:xfrm>
        </p:grpSpPr>
        <p:sp>
          <p:nvSpPr>
            <p:cNvPr id="5" name="Rectangle 5"/>
            <p:cNvSpPr/>
            <p:nvPr/>
          </p:nvSpPr>
          <p:spPr>
            <a:xfrm>
              <a:off x="609600" y="1752600"/>
              <a:ext cx="4476750" cy="3752850"/>
            </a:xfrm>
            <a:prstGeom prst="roundRect">
              <a:avLst>
                <a:gd name="adj" fmla="val 45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Ellipse 6"/>
            <p:cNvSpPr/>
            <p:nvPr/>
          </p:nvSpPr>
          <p:spPr>
            <a:xfrm rot="-1440000">
              <a:off x="1304925" y="2667000"/>
              <a:ext cx="3086100" cy="1371600"/>
            </a:xfrm>
            <a:prstGeom prst="ellipse">
              <a:avLst/>
            </a:prstGeom>
            <a:solidFill>
              <a:schemeClr val="accent3">
                <a:alpha val="16000"/>
              </a:schemeClr>
            </a:solidFill>
            <a:ln w="38100">
              <a:solidFill>
                <a:schemeClr val="accent3">
                  <a:alpha val="16000"/>
                </a:schemeClr>
              </a:solidFill>
            </a:ln>
          </p:spPr>
        </p:sp>
        <p:sp>
          <p:nvSpPr>
            <p:cNvPr id="7" name="Ellipse 7"/>
            <p:cNvSpPr/>
            <p:nvPr/>
          </p:nvSpPr>
          <p:spPr>
            <a:xfrm rot="-1440000">
              <a:off x="1914525" y="2952750"/>
              <a:ext cx="1866900" cy="800100"/>
            </a:xfrm>
            <a:prstGeom prst="ellipse">
              <a:avLst/>
            </a:prstGeom>
            <a:noFill/>
            <a:ln w="28575">
              <a:solidFill>
                <a:schemeClr val="accent2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2762250" y="3267075"/>
              <a:ext cx="171450" cy="171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3096006" y="3063240"/>
              <a:ext cx="15156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l-GR" sz="1800" dirty="0">
                  <a:solidFill>
                    <a:schemeClr val="accent2"/>
                  </a:solidFill>
                  <a:latin typeface="Cambria Math"/>
                  <a:ea typeface="Cambria Math"/>
                  <a:cs typeface="Cambria Math"/>
                </a:rPr>
                <a:t>μ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061" y="4761071"/>
              <a:ext cx="290695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μ：椭圆中心　Σ：共同变化与尺度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5467350" y="1752600"/>
              <a:ext cx="6115050" cy="1657350"/>
            </a:xfrm>
            <a:prstGeom prst="roundRect">
              <a:avLst>
                <a:gd name="adj" fmla="val 10345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425413" y="2084070"/>
              <a:ext cx="4198925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400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E(x) = ½xᵀKx − bᵀx + const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327925" y="2668905"/>
              <a:ext cx="2393899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2100" dirty="0">
                  <a:solidFill>
                    <a:schemeClr val="accent6"/>
                  </a:solidFill>
                  <a:latin typeface="Cambria Math"/>
                  <a:ea typeface="Microsoft YaHei"/>
                  <a:cs typeface="Cambria Math"/>
                </a:rPr>
                <a:t>K = Σ⁻¹　　b = Kμ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5467350" y="3695700"/>
              <a:ext cx="2857500" cy="1809750"/>
            </a:xfrm>
            <a:prstGeom prst="roundRect">
              <a:avLst>
                <a:gd name="adj" fmla="val 736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725668" y="3917632"/>
              <a:ext cx="882625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协方差 Σ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726811" y="432292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变量如何共同变化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726811" y="4684871"/>
              <a:ext cx="1734922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决定椭圆方向和宽度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727192" y="5073968"/>
              <a:ext cx="18583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不是 interaction 矩阵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8724900" y="3695700"/>
              <a:ext cx="2857500" cy="1809750"/>
            </a:xfrm>
            <a:prstGeom prst="roundRect">
              <a:avLst>
                <a:gd name="adj" fmla="val 736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983218" y="3917632"/>
              <a:ext cx="110474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精度矩阵 K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984361" y="4322921"/>
              <a:ext cx="95080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Σ 的逆矩阵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984361" y="4684871"/>
              <a:ext cx="154376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描述条件耦合结构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984742" y="5073968"/>
              <a:ext cx="23195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interactions = −K 非对角项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04266" y="6516052"/>
            <a:ext cx="484700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24 / 30 · ridge 给 Σ 增加对角正则；fit 是闭式估计，不是迭代神经网络训练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5-header"/>
          <p:cNvGrpSpPr/>
          <p:nvPr/>
        </p:nvGrpSpPr>
        <p:grpSpPr>
          <a:xfrm>
            <a:off x="593598" y="556260"/>
            <a:ext cx="4064508" cy="881825"/>
            <a:chOff x="593598" y="556260"/>
            <a:chExt cx="4064508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05 连续模型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406450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条件均值与目标索引</a:t>
              </a:r>
            </a:p>
          </p:txBody>
        </p:sp>
      </p:grpSp>
      <p:grpSp>
        <p:nvGrpSpPr>
          <p:cNvPr id="26" name="p25-query"/>
          <p:cNvGrpSpPr/>
          <p:nvPr/>
        </p:nvGrpSpPr>
        <p:grpSpPr>
          <a:xfrm>
            <a:off x="609600" y="1752600"/>
            <a:ext cx="10972800" cy="3829050"/>
            <a:chOff x="609600" y="1752600"/>
            <a:chExt cx="10972800" cy="3829050"/>
          </a:xfrm>
        </p:grpSpPr>
        <p:sp>
          <p:nvSpPr>
            <p:cNvPr id="5" name="Rectangle 5"/>
            <p:cNvSpPr/>
            <p:nvPr/>
          </p:nvSpPr>
          <p:spPr>
            <a:xfrm>
              <a:off x="609600" y="1752600"/>
              <a:ext cx="4572000" cy="2286000"/>
            </a:xfrm>
            <a:prstGeom prst="roundRect">
              <a:avLst>
                <a:gd name="adj" fmla="val 750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7918" y="1993582"/>
              <a:ext cx="3259760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一个联合模型，轮换不同 target</a:t>
              </a:r>
            </a:p>
          </p:txBody>
        </p:sp>
        <p:sp>
          <p:nvSpPr>
            <p:cNvPr id="7" name="Ellipse 7"/>
            <p:cNvSpPr/>
            <p:nvPr/>
          </p:nvSpPr>
          <p:spPr>
            <a:xfrm>
              <a:off x="1333500" y="2647950"/>
              <a:ext cx="876300" cy="8763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3352800" y="2133600"/>
              <a:ext cx="876300" cy="876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3238500" y="3124200"/>
              <a:ext cx="876300" cy="876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0" name="Line 10"/>
            <p:cNvSpPr/>
            <p:nvPr/>
          </p:nvSpPr>
          <p:spPr>
            <a:xfrm>
              <a:off x="2152650" y="2686050"/>
              <a:ext cx="1219200" cy="285750"/>
            </a:xfrm>
            <a:custGeom>
              <a:avLst/>
              <a:gdLst/>
              <a:ahLst/>
              <a:cxnLst/>
              <a:rect l="l" t="t" r="r" b="b"/>
              <a:pathLst>
                <a:path w="1219200" h="285750">
                  <a:moveTo>
                    <a:pt x="0" y="285750"/>
                  </a:moveTo>
                  <a:lnTo>
                    <a:pt x="1219200" y="0"/>
                  </a:ln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2152650" y="3219450"/>
              <a:ext cx="1104900" cy="304800"/>
            </a:xfrm>
            <a:custGeom>
              <a:avLst/>
              <a:gdLst/>
              <a:ahLst/>
              <a:cxnLst/>
              <a:rect l="l" t="t" r="r" b="b"/>
              <a:pathLst>
                <a:path w="1104900" h="304800">
                  <a:moveTo>
                    <a:pt x="0" y="0"/>
                  </a:moveTo>
                  <a:lnTo>
                    <a:pt x="1104900" y="304800"/>
                  </a:lnTo>
                </a:path>
              </a:pathLst>
            </a:custGeom>
            <a:noFill/>
            <a:ln w="47625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62100" y="300037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资源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581400" y="24860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支持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3467100" y="3476625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成绩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5562600" y="1752600"/>
              <a:ext cx="6019800" cy="2286000"/>
            </a:xfrm>
            <a:prstGeom prst="roundRect">
              <a:avLst>
                <a:gd name="adj" fmla="val 750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7827996" y="2067401"/>
              <a:ext cx="1489009" cy="3960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2020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E[xₜ | x₋ₜ]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809498" y="2578894"/>
              <a:ext cx="3526005" cy="3667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l-GR" sz="1880" dirty="0">
                  <a:solidFill>
                    <a:srgbClr val="FFFFFF"/>
                  </a:solidFill>
                  <a:latin typeface="Cambria Math"/>
                  <a:ea typeface="Cambria Math"/>
                  <a:cs typeface="Cambria Math"/>
                </a:rPr>
                <a:t>= μₜ − Kₜₜ⁻¹Kₜ,₋ₜ(x₋ₜ−μ₋ₜ)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898261" y="3160871"/>
              <a:ext cx="393326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target_index 选择 t；其他变量是已知条件。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5898261" y="3522821"/>
              <a:ext cx="30634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values 中目标位置可以写 np.nan。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4362450"/>
              <a:ext cx="5257800" cy="1219200"/>
            </a:xfrm>
            <a:prstGeom prst="roundRect">
              <a:avLst>
                <a:gd name="adj" fmla="val 1093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67918" y="4584382"/>
              <a:ext cx="2093614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conditional_mean()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69061" y="4989671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计算给定其余变量时目标变量的条件期望。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6324600" y="4362450"/>
              <a:ext cx="5257800" cy="1219200"/>
            </a:xfrm>
            <a:prstGeom prst="roundRect">
              <a:avLst>
                <a:gd name="adj" fmla="val 10938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6582918" y="4584382"/>
              <a:ext cx="1105167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6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sample(n)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584061" y="4989671"/>
              <a:ext cx="360516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从整个联合 Gaussian 分布生成模拟样本。</a:t>
              </a:r>
            </a:p>
          </p:txBody>
        </p:sp>
      </p:grpSp>
      <p:sp>
        <p:nvSpPr>
          <p:cNvPr id="27" name="TextBox 27"/>
          <p:cNvSpPr txBox="1"/>
          <p:nvPr/>
        </p:nvSpPr>
        <p:spPr>
          <a:xfrm>
            <a:off x="604266" y="6516052"/>
            <a:ext cx="4178198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本阶段输出：连续联合模型 + 条件查询 → 下一阶段：Package 实现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6-header"/>
          <p:cNvGrpSpPr/>
          <p:nvPr/>
        </p:nvGrpSpPr>
        <p:grpSpPr>
          <a:xfrm>
            <a:off x="593598" y="556260"/>
            <a:ext cx="8171658" cy="881825"/>
            <a:chOff x="593598" y="556260"/>
            <a:chExt cx="8171658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2125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06 PACKAGE 实现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817165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LearnEnergy 软件架构与模型 Artifact</a:t>
              </a:r>
            </a:p>
          </p:txBody>
        </p:sp>
      </p:grpSp>
      <p:grpSp>
        <p:nvGrpSpPr>
          <p:cNvPr id="22" name="p26-stack"/>
          <p:cNvGrpSpPr/>
          <p:nvPr/>
        </p:nvGrpSpPr>
        <p:grpSpPr>
          <a:xfrm>
            <a:off x="609600" y="1695450"/>
            <a:ext cx="10972800" cy="4114800"/>
            <a:chOff x="609600" y="1695450"/>
            <a:chExt cx="10972800" cy="4114800"/>
          </a:xfrm>
        </p:grpSpPr>
        <p:sp>
          <p:nvSpPr>
            <p:cNvPr id="5" name="Rectangle 5"/>
            <p:cNvSpPr/>
            <p:nvPr/>
          </p:nvSpPr>
          <p:spPr>
            <a:xfrm>
              <a:off x="609600" y="1695450"/>
              <a:ext cx="10972800" cy="781050"/>
            </a:xfrm>
            <a:prstGeom prst="roundRect">
              <a:avLst>
                <a:gd name="adj" fmla="val 1707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69442" y="1892618"/>
              <a:ext cx="9258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PUBLIC API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67918" y="2145982"/>
              <a:ext cx="9057308" cy="32270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LearningModel　·　ContinuousEnergyModel　·　fit / analyze / predict / save / load</a:t>
              </a:r>
            </a:p>
          </p:txBody>
        </p:sp>
        <p:sp>
          <p:nvSpPr>
            <p:cNvPr id="8" name="Rectangle 8"/>
            <p:cNvSpPr/>
            <p:nvPr/>
          </p:nvSpPr>
          <p:spPr>
            <a:xfrm>
              <a:off x="609600" y="2647950"/>
              <a:ext cx="5257800" cy="1104900"/>
            </a:xfrm>
            <a:prstGeom prst="roundRect">
              <a:avLst>
                <a:gd name="adj" fmla="val 120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868299" y="28589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数据契约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9061" y="3218021"/>
              <a:ext cx="464752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DataConfig · BinaryPreprocessor · feature order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6324600" y="2647950"/>
              <a:ext cx="52578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6583299" y="28589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计算组件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584061" y="3218021"/>
              <a:ext cx="4188514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exact enumerator · Gibbs sampler · trainers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609600" y="3924300"/>
              <a:ext cx="5257800" cy="1104900"/>
            </a:xfrm>
            <a:prstGeom prst="roundRect">
              <a:avLst>
                <a:gd name="adj" fmla="val 12069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68299" y="4135279"/>
              <a:ext cx="12922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结果与可视化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9061" y="4494371"/>
              <a:ext cx="4627663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FitResult · AnalysisResult · diagnostics · figures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6324600" y="3924300"/>
              <a:ext cx="5257800" cy="1104900"/>
            </a:xfrm>
            <a:prstGeom prst="roundRect">
              <a:avLst>
                <a:gd name="adj" fmla="val 12069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6583299" y="4135279"/>
              <a:ext cx="1387914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 artifact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584061" y="4494371"/>
              <a:ext cx="3378901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参数 + 预处理 + 元数据 + package 版本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609600" y="5257800"/>
              <a:ext cx="10972800" cy="552450"/>
            </a:xfrm>
            <a:prstGeom prst="roundRect">
              <a:avLst>
                <a:gd name="adj" fmla="val 20690"/>
              </a:avLst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2708883" y="5448300"/>
              <a:ext cx="67742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.pt 是 PyTorch 序列化模型文件；保存模型状态，不保存原始训练数据行。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604266" y="6516052"/>
            <a:ext cx="4180523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26 / 30 · 封装重点：可重复的预处理、显式计算路径和可审计诊断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7-header"/>
          <p:cNvGrpSpPr/>
          <p:nvPr/>
        </p:nvGrpSpPr>
        <p:grpSpPr>
          <a:xfrm>
            <a:off x="593598" y="556260"/>
            <a:ext cx="4704588" cy="881825"/>
            <a:chOff x="593598" y="556260"/>
            <a:chExt cx="4704588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2125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06 PACKAGE 实现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47045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二值模型 API 调用流程</a:t>
              </a:r>
            </a:p>
          </p:txBody>
        </p:sp>
      </p:grpSp>
      <p:grpSp>
        <p:nvGrpSpPr>
          <p:cNvPr id="19" name="p27-code"/>
          <p:cNvGrpSpPr/>
          <p:nvPr/>
        </p:nvGrpSpPr>
        <p:grpSpPr>
          <a:xfrm>
            <a:off x="609600" y="1657350"/>
            <a:ext cx="7429500" cy="4305300"/>
            <a:chOff x="609600" y="1657350"/>
            <a:chExt cx="7429500" cy="4305300"/>
          </a:xfrm>
        </p:grpSpPr>
        <p:sp>
          <p:nvSpPr>
            <p:cNvPr id="5" name="Rectangle 5"/>
            <p:cNvSpPr/>
            <p:nvPr/>
          </p:nvSpPr>
          <p:spPr>
            <a:xfrm>
              <a:off x="609600" y="1657350"/>
              <a:ext cx="7429500" cy="4305300"/>
            </a:xfrm>
            <a:prstGeom prst="roundRect">
              <a:avLst>
                <a:gd name="adj" fmla="val 354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70204" y="1870710"/>
              <a:ext cx="43882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from learnenergy import DataConfig, LearningModel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70204" y="2213610"/>
              <a:ext cx="15357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cfg = DataConfig(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8804" y="2480310"/>
              <a:ext cx="4137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feature_names=features, target_name="PV1SCIE",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8804" y="2747010"/>
              <a:ext cx="47212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normalization="zscore", threshold_method="paper_std",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70204" y="30137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204" y="3356610"/>
              <a:ext cx="19791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LearningModel(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8804" y="3623310"/>
              <a:ext cx="32996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data_config=cfg, calculation="exact",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8804" y="3890010"/>
              <a:ext cx="24111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max_exact_nodes=19, seed=7,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70204" y="415671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204" y="4499610"/>
              <a:ext cx="304120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fit = model.fit(X, y, method="kl")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0204" y="484251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analysis = model.analyze()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0204" y="5109210"/>
              <a:ext cx="40992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effects = model.effective_interaction_report()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70204" y="5452110"/>
              <a:ext cx="25888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model.save("pisa-science.pt")</a:t>
              </a:r>
            </a:p>
          </p:txBody>
        </p:sp>
      </p:grpSp>
      <p:grpSp>
        <p:nvGrpSpPr>
          <p:cNvPr id="32" name="p27-steps"/>
          <p:cNvGrpSpPr/>
          <p:nvPr/>
        </p:nvGrpSpPr>
        <p:grpSpPr>
          <a:xfrm>
            <a:off x="8354949" y="1715929"/>
            <a:ext cx="3227451" cy="4246721"/>
            <a:chOff x="8354949" y="1715929"/>
            <a:chExt cx="3227451" cy="4246721"/>
          </a:xfrm>
        </p:grpSpPr>
        <p:sp>
          <p:nvSpPr>
            <p:cNvPr id="20" name="TextBox 20"/>
            <p:cNvSpPr txBox="1"/>
            <p:nvPr/>
          </p:nvSpPr>
          <p:spPr>
            <a:xfrm>
              <a:off x="8354949" y="17159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实现要求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55711" y="2170271"/>
              <a:ext cx="2145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　固定列顺序与 target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55711" y="2570321"/>
              <a:ext cx="20312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　显式记录二值化策略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55711" y="2970371"/>
              <a:ext cx="2145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3　显式记录 calculation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355711" y="3370421"/>
              <a:ext cx="214591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4　记录 method 与 seed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55711" y="3770471"/>
              <a:ext cx="16488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　诊断通过后解释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8362950" y="4362450"/>
              <a:ext cx="3219450" cy="933450"/>
            </a:xfrm>
            <a:prstGeom prst="roundRect">
              <a:avLst>
                <a:gd name="adj" fmla="val 12245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8584692" y="455961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公开代码兼容路径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585454" y="4899660"/>
              <a:ext cx="1611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monte_carlo + adam</a:t>
              </a:r>
            </a:p>
          </p:txBody>
        </p:sp>
        <p:grpSp>
          <p:nvGrpSpPr>
            <p:cNvPr id="31" name="Group 31"/>
            <p:cNvGrpSpPr/>
            <p:nvPr/>
          </p:nvGrpSpPr>
          <p:grpSpPr>
            <a:xfrm>
              <a:off x="8362950" y="5524500"/>
              <a:ext cx="3219450" cy="438150"/>
              <a:chOff x="8362950" y="5524500"/>
              <a:chExt cx="3219450" cy="438150"/>
            </a:xfrm>
          </p:grpSpPr>
          <p:sp>
            <p:nvSpPr>
              <p:cNvPr id="29" name="Rectangle 29">
                <a:hlinkClick r:id="rId2"/>
              </p:cNvPr>
              <p:cNvSpPr/>
              <p:nvPr/>
            </p:nvSpPr>
            <p:spPr>
              <a:xfrm>
                <a:off x="8362950" y="5524500"/>
                <a:ext cx="3219450" cy="438150"/>
              </a:xfrm>
              <a:prstGeom prst="roundRect">
                <a:avLst>
                  <a:gd name="adj" fmla="val 21739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0" name="TextBox 30">
                <a:hlinkClick r:id="rId2"/>
              </p:cNvPr>
              <p:cNvSpPr txBox="1"/>
              <p:nvPr/>
            </p:nvSpPr>
            <p:spPr>
              <a:xfrm>
                <a:off x="9101034" y="5664518"/>
                <a:ext cx="174328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GitHub repository ↗</a:t>
                </a:r>
              </a:p>
            </p:txBody>
          </p:sp>
        </p:grpSp>
      </p:grpSp>
      <p:sp>
        <p:nvSpPr>
          <p:cNvPr id="33" name="TextBox 33"/>
          <p:cNvSpPr txBox="1"/>
          <p:nvPr/>
        </p:nvSpPr>
        <p:spPr>
          <a:xfrm>
            <a:off x="604266" y="6516052"/>
            <a:ext cx="4604576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27 / 30 · 科研调用应显式记录计算路径、训练方法、随机种子和阈值策略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8-header"/>
          <p:cNvGrpSpPr/>
          <p:nvPr/>
        </p:nvGrpSpPr>
        <p:grpSpPr>
          <a:xfrm>
            <a:off x="593598" y="556260"/>
            <a:ext cx="4704588" cy="881825"/>
            <a:chOff x="593598" y="556260"/>
            <a:chExt cx="4704588" cy="88182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56260"/>
              <a:ext cx="212506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06 PACKAGE 实现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3598" y="822008"/>
              <a:ext cx="470458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连续模型 API 调用流程</a:t>
              </a:r>
            </a:p>
          </p:txBody>
        </p:sp>
      </p:grpSp>
      <p:grpSp>
        <p:nvGrpSpPr>
          <p:cNvPr id="18" name="p28-code"/>
          <p:cNvGrpSpPr/>
          <p:nvPr/>
        </p:nvGrpSpPr>
        <p:grpSpPr>
          <a:xfrm>
            <a:off x="609600" y="1657350"/>
            <a:ext cx="7143750" cy="4305300"/>
            <a:chOff x="609600" y="1657350"/>
            <a:chExt cx="7143750" cy="4305300"/>
          </a:xfrm>
        </p:grpSpPr>
        <p:sp>
          <p:nvSpPr>
            <p:cNvPr id="5" name="Rectangle 5"/>
            <p:cNvSpPr/>
            <p:nvPr/>
          </p:nvSpPr>
          <p:spPr>
            <a:xfrm>
              <a:off x="609600" y="1657350"/>
              <a:ext cx="7143750" cy="4305300"/>
            </a:xfrm>
            <a:prstGeom prst="roundRect">
              <a:avLst>
                <a:gd name="adj" fmla="val 3540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870204" y="1870710"/>
              <a:ext cx="161147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import numpy as np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870204" y="2156460"/>
              <a:ext cx="40265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6"/>
                  </a:solidFill>
                  <a:latin typeface="Consolas"/>
                  <a:ea typeface="Consolas"/>
                  <a:cs typeface="Consolas"/>
                </a:rPr>
                <a:t>from learnenergy import ContinuousEnergyModel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870204" y="2594610"/>
              <a:ext cx="26950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model = ContinuousEnergyModel(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8804" y="2880360"/>
              <a:ext cx="42769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feature_names=("resources", "support", "score"),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98804" y="3166110"/>
              <a:ext cx="17003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ridge=1e-6, seed=7,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70204" y="34518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70204" y="3870960"/>
              <a:ext cx="20618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model.fit(X_continuous)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70204" y="4290060"/>
              <a:ext cx="31219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score_hat = model.conditional_mean(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98804" y="4575810"/>
              <a:ext cx="30330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[0.8, 0.4, np.nan], target_index=2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70204" y="4861560"/>
              <a:ext cx="1010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)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70204" y="5280660"/>
              <a:ext cx="26776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rgbClr val="FFFFFF"/>
                  </a:solidFill>
                  <a:latin typeface="Consolas"/>
                  <a:ea typeface="Consolas"/>
                  <a:cs typeface="Consolas"/>
                </a:rPr>
                <a:t>simulated = model.sample(1000)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70204" y="5566410"/>
              <a:ext cx="2944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3"/>
                  </a:solidFill>
                  <a:latin typeface="Consolas"/>
                  <a:ea typeface="Consolas"/>
                  <a:cs typeface="Consolas"/>
                </a:rPr>
                <a:t>model.save("continuous-model.pt")</a:t>
              </a:r>
            </a:p>
          </p:txBody>
        </p:sp>
      </p:grpSp>
      <p:grpSp>
        <p:nvGrpSpPr>
          <p:cNvPr id="30" name="p28-notes"/>
          <p:cNvGrpSpPr/>
          <p:nvPr/>
        </p:nvGrpSpPr>
        <p:grpSpPr>
          <a:xfrm>
            <a:off x="8096250" y="1657350"/>
            <a:ext cx="3486150" cy="4305300"/>
            <a:chOff x="8096250" y="1657350"/>
            <a:chExt cx="3486150" cy="4305300"/>
          </a:xfrm>
        </p:grpSpPr>
        <p:sp>
          <p:nvSpPr>
            <p:cNvPr id="19" name="Rectangle 19"/>
            <p:cNvSpPr/>
            <p:nvPr/>
          </p:nvSpPr>
          <p:spPr>
            <a:xfrm>
              <a:off x="8096250" y="1657350"/>
              <a:ext cx="3486150" cy="1524000"/>
            </a:xfrm>
            <a:prstGeom prst="roundRect">
              <a:avLst>
                <a:gd name="adj" fmla="val 8750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354949" y="188737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接口语义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56092" y="2311718"/>
              <a:ext cx="19310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没有固定 target_name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56092" y="2635568"/>
              <a:ext cx="21309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target_index 是查询参数</a:t>
              </a: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8096250" y="3429000"/>
              <a:ext cx="3486150" cy="1428750"/>
            </a:xfrm>
            <a:prstGeom prst="roundRect">
              <a:avLst>
                <a:gd name="adj" fmla="val 9333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354949" y="3659029"/>
              <a:ext cx="866800" cy="3080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8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适用边界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356092" y="4083368"/>
              <a:ext cx="24638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联合 Gaussian、连续、近线性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356092" y="4407218"/>
              <a:ext cx="23308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不覆盖非线性与 mixed-node</a:t>
              </a:r>
            </a:p>
          </p:txBody>
        </p:sp>
        <p:grpSp>
          <p:nvGrpSpPr>
            <p:cNvPr id="29" name="Group 29"/>
            <p:cNvGrpSpPr/>
            <p:nvPr/>
          </p:nvGrpSpPr>
          <p:grpSpPr>
            <a:xfrm>
              <a:off x="8096250" y="5200650"/>
              <a:ext cx="3486150" cy="762000"/>
              <a:chOff x="8096250" y="5200650"/>
              <a:chExt cx="3486150" cy="762000"/>
            </a:xfrm>
          </p:grpSpPr>
          <p:sp>
            <p:nvSpPr>
              <p:cNvPr id="27" name="Rectangle 27">
                <a:hlinkClick r:id="rId2"/>
              </p:cNvPr>
              <p:cNvSpPr/>
              <p:nvPr/>
            </p:nvSpPr>
            <p:spPr>
              <a:xfrm>
                <a:off x="8096250" y="5200650"/>
                <a:ext cx="3486150" cy="762000"/>
              </a:xfrm>
              <a:prstGeom prst="roundRect">
                <a:avLst>
                  <a:gd name="adj" fmla="val 15000"/>
                </a:avLst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28" name="TextBox 28">
                <a:hlinkClick r:id="rId2"/>
              </p:cNvPr>
              <p:cNvSpPr txBox="1"/>
              <p:nvPr/>
            </p:nvSpPr>
            <p:spPr>
              <a:xfrm>
                <a:off x="8672292" y="5504021"/>
                <a:ext cx="2334065" cy="27870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420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Package documentation ↗</a:t>
                </a:r>
              </a:p>
            </p:txBody>
          </p:sp>
        </p:grpSp>
      </p:grpSp>
      <p:sp>
        <p:nvSpPr>
          <p:cNvPr id="31" name="TextBox 31"/>
          <p:cNvSpPr txBox="1"/>
          <p:nvPr/>
        </p:nvSpPr>
        <p:spPr>
          <a:xfrm>
            <a:off x="604266" y="6516052"/>
            <a:ext cx="407450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本阶段输出：可复用调用 + 模型 artifact → 下一阶段：复现验证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29-header"/>
          <p:cNvGrpSpPr/>
          <p:nvPr/>
        </p:nvGrpSpPr>
        <p:grpSpPr>
          <a:xfrm>
            <a:off x="594741" y="518160"/>
            <a:ext cx="7409434" cy="843058"/>
            <a:chOff x="594741" y="518160"/>
            <a:chExt cx="7409434" cy="843058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181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07 复现验证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4741" y="789146"/>
              <a:ext cx="7409434" cy="57207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920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PISA 2018 复现：矩一致性与高阶误差</a:t>
              </a:r>
            </a:p>
          </p:txBody>
        </p:sp>
      </p:grpSp>
      <p:grpSp>
        <p:nvGrpSpPr>
          <p:cNvPr id="9" name="p29-evidence"/>
          <p:cNvGrpSpPr/>
          <p:nvPr/>
        </p:nvGrpSpPr>
        <p:grpSpPr>
          <a:xfrm>
            <a:off x="609600" y="1371600"/>
            <a:ext cx="7429500" cy="4610100"/>
            <a:chOff x="609600" y="1371600"/>
            <a:chExt cx="7429500" cy="4610100"/>
          </a:xfrm>
        </p:grpSpPr>
        <p:sp>
          <p:nvSpPr>
            <p:cNvPr id="5" name="Rectangle 5"/>
            <p:cNvSpPr/>
            <p:nvPr/>
          </p:nvSpPr>
          <p:spPr>
            <a:xfrm>
              <a:off x="609600" y="1371600"/>
              <a:ext cx="7429500" cy="219075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24075" y="1466850"/>
              <a:ext cx="4400550" cy="200025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609600" y="3790950"/>
              <a:ext cx="7429500" cy="219075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 w="19050">
              <a:solidFill>
                <a:schemeClr val="accent6"/>
              </a:solidFill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24075" y="3886200"/>
              <a:ext cx="4400550" cy="2000250"/>
            </a:xfrm>
            <a:prstGeom prst="rect">
              <a:avLst/>
            </a:prstGeom>
          </p:spPr>
        </p:pic>
      </p:grpSp>
      <p:grpSp>
        <p:nvGrpSpPr>
          <p:cNvPr id="24" name="p29-metrics"/>
          <p:cNvGrpSpPr/>
          <p:nvPr/>
        </p:nvGrpSpPr>
        <p:grpSpPr>
          <a:xfrm>
            <a:off x="8355330" y="1514475"/>
            <a:ext cx="3227070" cy="4591431"/>
            <a:chOff x="8355330" y="1514475"/>
            <a:chExt cx="3227070" cy="4591431"/>
          </a:xfrm>
        </p:grpSpPr>
        <p:sp>
          <p:nvSpPr>
            <p:cNvPr id="10" name="TextBox 10"/>
            <p:cNvSpPr txBox="1"/>
            <p:nvPr/>
          </p:nvSpPr>
          <p:spPr>
            <a:xfrm>
              <a:off x="8355330" y="15144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实验协议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356473" y="1862614"/>
              <a:ext cx="214102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5 economies × 3 outcomes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356473" y="2129314"/>
              <a:ext cx="193425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× 16 repeats = 240 fits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356473" y="2396014"/>
              <a:ext cx="189117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每次 1,200 行 · 19 节点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8362950" y="2800350"/>
              <a:ext cx="3219450" cy="876300"/>
            </a:xfrm>
            <a:prstGeom prst="roundRect">
              <a:avLst>
                <a:gd name="adj" fmla="val 13043"/>
              </a:avLst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8585073" y="3005614"/>
              <a:ext cx="1132992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收敛标准 1e−3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580120" y="3243262"/>
              <a:ext cx="137074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234 / 240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8362950" y="3848100"/>
              <a:ext cx="3219450" cy="876300"/>
            </a:xfrm>
            <a:prstGeom prst="roundRect">
              <a:avLst>
                <a:gd name="adj" fmla="val 13043"/>
              </a:avLst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8585073" y="4034314"/>
              <a:ext cx="1255725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8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MC diagnostics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8580120" y="4271962"/>
              <a:ext cx="1370743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285 / 285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356092" y="495966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三阶：r = 0.97978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8356092" y="5245418"/>
              <a:ext cx="156756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四阶：r = 0.93379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356854" y="5642610"/>
              <a:ext cx="20880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高阶 moments 未参与训练，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356854" y="5871210"/>
              <a:ext cx="21122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因此构成更严格的结构检验。</a:t>
              </a:r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604266" y="6516052"/>
            <a:ext cx="4420819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29 / 30 · 一二阶 moments 是训练目标；三四阶 moments 是外部验证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p30-header"/>
          <p:cNvGrpSpPr/>
          <p:nvPr/>
        </p:nvGrpSpPr>
        <p:grpSpPr>
          <a:xfrm>
            <a:off x="595122" y="518160"/>
            <a:ext cx="4893564" cy="836485"/>
            <a:chOff x="595122" y="518160"/>
            <a:chExt cx="4893564" cy="836485"/>
          </a:xfrm>
        </p:grpSpPr>
        <p:sp>
          <p:nvSpPr>
            <p:cNvPr id="2" name="TextBox 2"/>
            <p:cNvSpPr txBox="1"/>
            <p:nvPr/>
          </p:nvSpPr>
          <p:spPr>
            <a:xfrm>
              <a:off x="603504" y="518160"/>
              <a:ext cx="17164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技术主线 · 07 复现验证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5122" y="797242"/>
              <a:ext cx="4893564" cy="55740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850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模型训练、验证与复用流程</a:t>
              </a:r>
            </a:p>
          </p:txBody>
        </p:sp>
      </p:grpSp>
      <p:grpSp>
        <p:nvGrpSpPr>
          <p:cNvPr id="9" name="p30-evidence"/>
          <p:cNvGrpSpPr/>
          <p:nvPr/>
        </p:nvGrpSpPr>
        <p:grpSpPr>
          <a:xfrm>
            <a:off x="609600" y="1409700"/>
            <a:ext cx="6858000" cy="4305300"/>
            <a:chOff x="609600" y="1409700"/>
            <a:chExt cx="6858000" cy="4305300"/>
          </a:xfrm>
        </p:grpSpPr>
        <p:sp>
          <p:nvSpPr>
            <p:cNvPr id="5" name="Rectangle 5"/>
            <p:cNvSpPr/>
            <p:nvPr/>
          </p:nvSpPr>
          <p:spPr>
            <a:xfrm>
              <a:off x="609600" y="1409700"/>
              <a:ext cx="6858000" cy="1962150"/>
            </a:xfrm>
            <a:prstGeom prst="roundRect">
              <a:avLst>
                <a:gd name="adj" fmla="val 4854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6" name="Image 6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507671" y="1504950"/>
              <a:ext cx="5061857" cy="1771650"/>
            </a:xfrm>
            <a:prstGeom prst="rect">
              <a:avLst/>
            </a:prstGeom>
          </p:spPr>
        </p:pic>
        <p:sp>
          <p:nvSpPr>
            <p:cNvPr id="7" name="Rectangle 7"/>
            <p:cNvSpPr/>
            <p:nvPr/>
          </p:nvSpPr>
          <p:spPr>
            <a:xfrm>
              <a:off x="609600" y="3619500"/>
              <a:ext cx="6858000" cy="2095500"/>
            </a:xfrm>
            <a:prstGeom prst="roundRect">
              <a:avLst>
                <a:gd name="adj" fmla="val 4545"/>
              </a:avLst>
            </a:prstGeom>
            <a:solidFill>
              <a:srgbClr val="FFFFFF"/>
            </a:solidFill>
            <a:ln>
              <a:noFill/>
            </a:ln>
          </p:spPr>
        </p:sp>
        <p:pic>
          <p:nvPicPr>
            <p:cNvPr id="8" name="Image 8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98600" y="3714750"/>
              <a:ext cx="5080000" cy="1905000"/>
            </a:xfrm>
            <a:prstGeom prst="rect">
              <a:avLst/>
            </a:prstGeom>
          </p:spPr>
        </p:pic>
      </p:grpSp>
      <p:grpSp>
        <p:nvGrpSpPr>
          <p:cNvPr id="23" name="p30-summary"/>
          <p:cNvGrpSpPr/>
          <p:nvPr/>
        </p:nvGrpSpPr>
        <p:grpSpPr>
          <a:xfrm>
            <a:off x="7840980" y="1590675"/>
            <a:ext cx="3741420" cy="4090226"/>
            <a:chOff x="7840980" y="1590675"/>
            <a:chExt cx="3741420" cy="4090226"/>
          </a:xfrm>
        </p:grpSpPr>
        <p:sp>
          <p:nvSpPr>
            <p:cNvPr id="10" name="TextBox 10"/>
            <p:cNvSpPr txBox="1"/>
            <p:nvPr/>
          </p:nvSpPr>
          <p:spPr>
            <a:xfrm>
              <a:off x="7840980" y="1590675"/>
              <a:ext cx="82296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建模流程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842123" y="1900714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01　概率表示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7842123" y="2243614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02　模型定义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842123" y="2586514"/>
              <a:ext cx="1236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03　计算与训练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842123" y="2929414"/>
              <a:ext cx="1236381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04　解释与诊断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7842123" y="3272314"/>
              <a:ext cx="1408694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05　连续模型扩展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7842123" y="3615214"/>
              <a:ext cx="2379433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06　Package 实现与 artifact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7842123" y="3958114"/>
              <a:ext cx="1064067" cy="2493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07　复现验证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7848600" y="4171950"/>
              <a:ext cx="3733800" cy="9525"/>
            </a:xfrm>
            <a:custGeom>
              <a:avLst/>
              <a:gdLst/>
              <a:ahLst/>
              <a:cxnLst/>
              <a:rect l="l" t="t" r="r" b="b"/>
              <a:pathLst>
                <a:path w="3733800" h="9525">
                  <a:moveTo>
                    <a:pt x="0" y="0"/>
                  </a:moveTo>
                  <a:lnTo>
                    <a:pt x="3733800" y="0"/>
                  </a:lnTo>
                </a:path>
              </a:pathLst>
            </a:custGeom>
            <a:noFill/>
            <a:ln w="19050">
              <a:solidFill>
                <a:srgbClr val="5C6B66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841742" y="44453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二值模型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841742" y="4731068"/>
              <a:ext cx="26852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状态组合的概率与 pairwise 结构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41742" y="5131118"/>
              <a:ext cx="74066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连续模型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41742" y="54168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连续变量的共同变化与条件均值</a:t>
              </a:r>
            </a:p>
          </p:txBody>
        </p:sp>
      </p:grpSp>
      <p:sp>
        <p:nvSpPr>
          <p:cNvPr id="24" name="TextBox 24"/>
          <p:cNvSpPr txBox="1"/>
          <p:nvPr/>
        </p:nvSpPr>
        <p:spPr>
          <a:xfrm>
            <a:off x="604266" y="6516052"/>
            <a:ext cx="3756470" cy="205359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050" dirty="0">
                <a:solidFill>
                  <a:schemeClr val="accent6"/>
                </a:solidFill>
                <a:latin typeface="+mn-lt"/>
                <a:ea typeface="+mn-ea"/>
                <a:cs typeface="+mn-cs"/>
              </a:rPr>
              <a:t>30 / 30 · 结论解释以收敛、采样诊断和复现验证通过为前提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learnenergy-foundations-deck">
  <a:themeElements>
    <a:clrScheme name="learnenergy-foundations-deck">
      <a:dk1>
        <a:srgbClr val="18211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5C6B66"/>
      </a:accent5>
      <a:accent6>
        <a:srgbClr val="B8C9C3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learnenergy-foundations-deck">
  <a:themeElements>
    <a:clrScheme name="learnenergy-foundations-deck">
      <a:dk1>
        <a:srgbClr val="18211E"/>
      </a:dk1>
      <a:lt1>
        <a:srgbClr val="F7F7F2"/>
      </a:lt1>
      <a:dk2>
        <a:srgbClr val="1F497D"/>
      </a:dk2>
      <a:lt2>
        <a:srgbClr val="E5F0EC"/>
      </a:lt2>
      <a:accent1>
        <a:srgbClr val="12372E"/>
      </a:accent1>
      <a:accent2>
        <a:srgbClr val="E85D3F"/>
      </a:accent2>
      <a:accent3>
        <a:srgbClr val="2A9D8F"/>
      </a:accent3>
      <a:accent4>
        <a:srgbClr val="12372E"/>
      </a:accent4>
      <a:accent5>
        <a:srgbClr val="5C6B66"/>
      </a:accent5>
      <a:accent6>
        <a:srgbClr val="B8C9C3"/>
      </a:accent6>
      <a:hlink>
        <a:srgbClr val="E85D3F"/>
      </a:hlink>
      <a:folHlink>
        <a:srgbClr val="2A9D8F"/>
      </a:folHlink>
    </a:clrScheme>
    <a:fontScheme name="learnenergy-foundations-deck">
      <a:majorFont>
        <a:latin typeface="Cambria"/>
        <a:ea typeface="SimSun"/>
        <a:cs typeface="Cambria"/>
        <a:font script="Jpan" typeface="SimSun"/>
        <a:font script="Hang" typeface="SimSun"/>
        <a:font script="Hans" typeface="SimSun"/>
        <a:font script="Hant" typeface="SimSun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earnenergy-foundations-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30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2026-09-22T11:07:40Z</dcterms:created>
  <dcterms:modified xsi:type="dcterms:W3CDTF">2026-09-22T11:07:40Z</dcterms:modified>
  <cp:category/>
  <cp:contentStatus/>
</cp:coreProperties>
</file>